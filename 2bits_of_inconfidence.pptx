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notesSlides/notesSlide25.xml" ContentType="application/vnd.openxmlformats-officedocument.presentationml.notesSlide+xml"/>
  <Override PartName="/ppt/charts/chart2.xml" ContentType="application/vnd.openxmlformats-officedocument.drawingml.chart+xml"/>
  <Override PartName="/ppt/notesSlides/notesSlide26.xml" ContentType="application/vnd.openxmlformats-officedocument.presentationml.notesSlide+xml"/>
  <Override PartName="/ppt/charts/chart3.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4.xml" ContentType="application/vnd.openxmlformats-officedocument.drawingml.chart+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 id="2147483652" r:id="rId3"/>
    <p:sldMasterId id="2147483654" r:id="rId4"/>
  </p:sldMasterIdLst>
  <p:notesMasterIdLst>
    <p:notesMasterId r:id="rId72"/>
  </p:notesMasterIdLst>
  <p:sldIdLst>
    <p:sldId id="326" r:id="rId5"/>
    <p:sldId id="356" r:id="rId6"/>
    <p:sldId id="395" r:id="rId7"/>
    <p:sldId id="402" r:id="rId8"/>
    <p:sldId id="397" r:id="rId9"/>
    <p:sldId id="408" r:id="rId10"/>
    <p:sldId id="398" r:id="rId11"/>
    <p:sldId id="416" r:id="rId12"/>
    <p:sldId id="399" r:id="rId13"/>
    <p:sldId id="400" r:id="rId14"/>
    <p:sldId id="401" r:id="rId15"/>
    <p:sldId id="459" r:id="rId16"/>
    <p:sldId id="460" r:id="rId17"/>
    <p:sldId id="461" r:id="rId18"/>
    <p:sldId id="421" r:id="rId19"/>
    <p:sldId id="422" r:id="rId20"/>
    <p:sldId id="423" r:id="rId21"/>
    <p:sldId id="424" r:id="rId22"/>
    <p:sldId id="425" r:id="rId23"/>
    <p:sldId id="426" r:id="rId24"/>
    <p:sldId id="427" r:id="rId25"/>
    <p:sldId id="428" r:id="rId26"/>
    <p:sldId id="429" r:id="rId27"/>
    <p:sldId id="430" r:id="rId28"/>
    <p:sldId id="431" r:id="rId29"/>
    <p:sldId id="432" r:id="rId30"/>
    <p:sldId id="433" r:id="rId31"/>
    <p:sldId id="434" r:id="rId32"/>
    <p:sldId id="463" r:id="rId33"/>
    <p:sldId id="436" r:id="rId34"/>
    <p:sldId id="437" r:id="rId35"/>
    <p:sldId id="438" r:id="rId36"/>
    <p:sldId id="435" r:id="rId37"/>
    <p:sldId id="442" r:id="rId38"/>
    <p:sldId id="439" r:id="rId39"/>
    <p:sldId id="440" r:id="rId40"/>
    <p:sldId id="441" r:id="rId41"/>
    <p:sldId id="443" r:id="rId42"/>
    <p:sldId id="444" r:id="rId43"/>
    <p:sldId id="445" r:id="rId44"/>
    <p:sldId id="446" r:id="rId45"/>
    <p:sldId id="447" r:id="rId46"/>
    <p:sldId id="448" r:id="rId47"/>
    <p:sldId id="449" r:id="rId48"/>
    <p:sldId id="451" r:id="rId49"/>
    <p:sldId id="450" r:id="rId50"/>
    <p:sldId id="346" r:id="rId51"/>
    <p:sldId id="373" r:id="rId52"/>
    <p:sldId id="348" r:id="rId53"/>
    <p:sldId id="349" r:id="rId54"/>
    <p:sldId id="350" r:id="rId55"/>
    <p:sldId id="313" r:id="rId56"/>
    <p:sldId id="351" r:id="rId57"/>
    <p:sldId id="452" r:id="rId58"/>
    <p:sldId id="453" r:id="rId59"/>
    <p:sldId id="456" r:id="rId60"/>
    <p:sldId id="454" r:id="rId61"/>
    <p:sldId id="457" r:id="rId62"/>
    <p:sldId id="411" r:id="rId63"/>
    <p:sldId id="455" r:id="rId64"/>
    <p:sldId id="319" r:id="rId65"/>
    <p:sldId id="318" r:id="rId66"/>
    <p:sldId id="462" r:id="rId67"/>
    <p:sldId id="403" r:id="rId68"/>
    <p:sldId id="404" r:id="rId69"/>
    <p:sldId id="405" r:id="rId70"/>
    <p:sldId id="458" r:id="rId7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FDB2"/>
    <a:srgbClr val="222731"/>
    <a:srgbClr val="6FA08A"/>
    <a:srgbClr val="0D141F"/>
    <a:srgbClr val="1A1F2A"/>
    <a:srgbClr val="BE5E56"/>
    <a:srgbClr val="E1A457"/>
    <a:srgbClr val="7FB69E"/>
    <a:srgbClr val="FFB1A7"/>
    <a:srgbClr val="A7B5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841"/>
    <p:restoredTop sz="81477"/>
  </p:normalViewPr>
  <p:slideViewPr>
    <p:cSldViewPr snapToGrid="0" snapToObjects="1">
      <p:cViewPr>
        <p:scale>
          <a:sx n="134" d="100"/>
          <a:sy n="134" d="100"/>
        </p:scale>
        <p:origin x="616"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Entropy (bits)</c:v>
                </c:pt>
              </c:strCache>
            </c:strRef>
          </c:tx>
          <c:spPr>
            <a:solidFill>
              <a:srgbClr val="7FB69E"/>
            </a:solidFill>
            <a:effectLst/>
          </c:spPr>
          <c:invertIfNegative val="0"/>
          <c:dPt>
            <c:idx val="1"/>
            <c:invertIfNegative val="0"/>
            <c:bubble3D val="0"/>
            <c:spPr>
              <a:solidFill>
                <a:srgbClr val="6FA08A"/>
              </a:solidFill>
              <a:effectLst/>
            </c:spPr>
            <c:extLst>
              <c:ext xmlns:c16="http://schemas.microsoft.com/office/drawing/2014/chart" uri="{C3380CC4-5D6E-409C-BE32-E72D297353CC}">
                <c16:uniqueId val="{00000001-18AE-6449-8478-F0B3F466CA0B}"/>
              </c:ext>
            </c:extLst>
          </c:dPt>
          <c:dPt>
            <c:idx val="2"/>
            <c:invertIfNegative val="0"/>
            <c:bubble3D val="0"/>
            <c:spPr>
              <a:solidFill>
                <a:srgbClr val="6FA08A"/>
              </a:solidFill>
              <a:effectLst/>
            </c:spPr>
            <c:extLst>
              <c:ext xmlns:c16="http://schemas.microsoft.com/office/drawing/2014/chart" uri="{C3380CC4-5D6E-409C-BE32-E72D297353CC}">
                <c16:uniqueId val="{00000000-18AE-6449-8478-F0B3F466CA0B}"/>
              </c:ext>
            </c:extLst>
          </c:dPt>
          <c:dLbls>
            <c:dLbl>
              <c:idx val="0"/>
              <c:tx>
                <c:rich>
                  <a:bodyPr/>
                  <a:lstStyle/>
                  <a:p>
                    <a:r>
                      <a:rPr lang="en-US"/>
                      <a:t>&gt;</a:t>
                    </a:r>
                    <a:r>
                      <a:rPr lang="en-US" baseline="0"/>
                      <a:t> </a:t>
                    </a:r>
                    <a:fld id="{676DB966-84ED-5F44-B2FD-120813B677F4}" type="VALUE">
                      <a:rPr lang="en-US" smtClean="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layout>
                    <c:manualLayout>
                      <c:w val="9.1043182812375736E-2"/>
                      <c:h val="7.2492283950617284E-2"/>
                    </c:manualLayout>
                  </c15:layout>
                  <c15:dlblFieldTable/>
                  <c15:showDataLabelsRange val="0"/>
                </c:ext>
                <c:ext xmlns:c16="http://schemas.microsoft.com/office/drawing/2014/chart" uri="{C3380CC4-5D6E-409C-BE32-E72D297353CC}">
                  <c16:uniqueId val="{00000003-18AE-6449-8478-F0B3F466CA0B}"/>
                </c:ext>
              </c:extLst>
            </c:dLbl>
            <c:dLbl>
              <c:idx val="1"/>
              <c:tx>
                <c:rich>
                  <a:bodyPr/>
                  <a:lstStyle/>
                  <a:p>
                    <a:r>
                      <a:rPr lang="en-US"/>
                      <a:t>~</a:t>
                    </a:r>
                    <a:fld id="{7D4C2BAE-39DF-0442-A0AE-BD593DEA7335}"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8AE-6449-8478-F0B3F466CA0B}"/>
                </c:ext>
              </c:extLst>
            </c:dLbl>
            <c:dLbl>
              <c:idx val="3"/>
              <c:tx>
                <c:rich>
                  <a:bodyPr/>
                  <a:lstStyle/>
                  <a:p>
                    <a:r>
                      <a:rPr lang="en-US"/>
                      <a:t>~2.6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8AE-6449-8478-F0B3F466CA0B}"/>
                </c:ext>
              </c:extLst>
            </c:dLbl>
            <c:numFmt formatCode="#,##0" sourceLinked="0"/>
            <c:spPr>
              <a:noFill/>
              <a:ln>
                <a:noFill/>
              </a:ln>
              <a:effectLst/>
            </c:spPr>
            <c:txPr>
              <a:bodyPr/>
              <a:lstStyle/>
              <a:p>
                <a:pPr>
                  <a:defRPr sz="1200" b="0" i="0" u="none" strike="noStrike">
                    <a:solidFill>
                      <a:srgbClr val="F1F0E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Biased coin
(99/1)</c:v>
                </c:pt>
                <c:pt idx="1">
                  <c:v>English letter</c:v>
                </c:pt>
                <c:pt idx="2">
                  <c:v>Fair coin</c:v>
                </c:pt>
                <c:pt idx="3">
                  <c:v>Fair dice</c:v>
                </c:pt>
                <c:pt idx="4">
                  <c:v>Random byte</c:v>
                </c:pt>
              </c:strCache>
            </c:strRef>
          </c:cat>
          <c:val>
            <c:numRef>
              <c:f>Sheet1!$B$2:$B$6</c:f>
              <c:numCache>
                <c:formatCode>General</c:formatCode>
                <c:ptCount val="5"/>
                <c:pt idx="0">
                  <c:v>0.08</c:v>
                </c:pt>
                <c:pt idx="1">
                  <c:v>1.1000000000000001</c:v>
                </c:pt>
                <c:pt idx="2">
                  <c:v>1</c:v>
                </c:pt>
                <c:pt idx="3">
                  <c:v>2.58</c:v>
                </c:pt>
                <c:pt idx="4">
                  <c:v>8</c:v>
                </c:pt>
              </c:numCache>
            </c:numRef>
          </c:val>
          <c:extLst>
            <c:ext xmlns:c16="http://schemas.microsoft.com/office/drawing/2014/chart" uri="{C3380CC4-5D6E-409C-BE32-E72D297353CC}">
              <c16:uniqueId val="{00000000-8BAB-F145-A0C6-E0DEB7DDC4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D8D6CE"/>
                </a:solidFill>
                <a:latin typeface="Arial"/>
              </a:defRPr>
            </a:pPr>
            <a:endParaRPr lang="en-US"/>
          </a:p>
        </c:txPr>
        <c:crossAx val="2094734552"/>
        <c:crosses val="autoZero"/>
        <c:auto val="1"/>
        <c:lblAlgn val="ctr"/>
        <c:lblOffset val="100"/>
        <c:noMultiLvlLbl val="1"/>
      </c:catAx>
      <c:valAx>
        <c:axId val="2094734552"/>
        <c:scaling>
          <c:orientation val="minMax"/>
          <c:max val="9"/>
          <c:min val="0"/>
        </c:scaling>
        <c:delete val="0"/>
        <c:axPos val="l"/>
        <c:majorGridlines>
          <c:spPr>
            <a:ln w="6350" cap="flat">
              <a:solidFill>
                <a:srgbClr val="2A323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A0A8"/>
                </a:solidFill>
                <a:latin typeface="Arial"/>
              </a:defRPr>
            </a:pPr>
            <a:endParaRPr lang="en-US"/>
          </a:p>
        </c:txPr>
        <c:crossAx val="2094734554"/>
        <c:crosses val="autoZero"/>
        <c:crossBetween val="between"/>
      </c:valAx>
      <c:spPr>
        <a:solidFill>
          <a:srgbClr val="1A1F2A"/>
        </a:solidFill>
        <a:ln>
          <a:noFill/>
        </a:ln>
        <a:effectLst/>
      </c:spPr>
    </c:plotArea>
    <c:plotVisOnly val="1"/>
    <c:dispBlanksAs val="span"/>
    <c:showDLblsOverMax val="1"/>
  </c:chart>
  <c:spPr>
    <a:solidFill>
      <a:srgbClr val="1A1F2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Entropy (bits)</c:v>
                </c:pt>
              </c:strCache>
            </c:strRef>
          </c:tx>
          <c:spPr>
            <a:solidFill>
              <a:srgbClr val="7FB69E"/>
            </a:solidFill>
            <a:effectLst/>
          </c:spPr>
          <c:invertIfNegative val="0"/>
          <c:dPt>
            <c:idx val="1"/>
            <c:invertIfNegative val="0"/>
            <c:bubble3D val="0"/>
            <c:spPr>
              <a:solidFill>
                <a:srgbClr val="3BFDB2"/>
              </a:solidFill>
              <a:effectLst/>
            </c:spPr>
            <c:extLst>
              <c:ext xmlns:c16="http://schemas.microsoft.com/office/drawing/2014/chart" uri="{C3380CC4-5D6E-409C-BE32-E72D297353CC}">
                <c16:uniqueId val="{00000001-18AE-6449-8478-F0B3F466CA0B}"/>
              </c:ext>
            </c:extLst>
          </c:dPt>
          <c:dPt>
            <c:idx val="2"/>
            <c:invertIfNegative val="0"/>
            <c:bubble3D val="0"/>
            <c:spPr>
              <a:solidFill>
                <a:srgbClr val="3BFDB2"/>
              </a:solidFill>
              <a:effectLst/>
            </c:spPr>
            <c:extLst>
              <c:ext xmlns:c16="http://schemas.microsoft.com/office/drawing/2014/chart" uri="{C3380CC4-5D6E-409C-BE32-E72D297353CC}">
                <c16:uniqueId val="{00000000-18AE-6449-8478-F0B3F466CA0B}"/>
              </c:ext>
            </c:extLst>
          </c:dPt>
          <c:dLbls>
            <c:dLbl>
              <c:idx val="0"/>
              <c:tx>
                <c:rich>
                  <a:bodyPr/>
                  <a:lstStyle/>
                  <a:p>
                    <a:r>
                      <a:rPr lang="en-US"/>
                      <a:t>&gt;</a:t>
                    </a:r>
                    <a:r>
                      <a:rPr lang="en-US" baseline="0"/>
                      <a:t> </a:t>
                    </a:r>
                    <a:fld id="{676DB966-84ED-5F44-B2FD-120813B677F4}" type="VALUE">
                      <a:rPr lang="en-US" smtClean="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layout>
                    <c:manualLayout>
                      <c:w val="9.1043182812375736E-2"/>
                      <c:h val="7.2492283950617284E-2"/>
                    </c:manualLayout>
                  </c15:layout>
                  <c15:dlblFieldTable/>
                  <c15:showDataLabelsRange val="0"/>
                </c:ext>
                <c:ext xmlns:c16="http://schemas.microsoft.com/office/drawing/2014/chart" uri="{C3380CC4-5D6E-409C-BE32-E72D297353CC}">
                  <c16:uniqueId val="{00000003-18AE-6449-8478-F0B3F466CA0B}"/>
                </c:ext>
              </c:extLst>
            </c:dLbl>
            <c:dLbl>
              <c:idx val="1"/>
              <c:tx>
                <c:rich>
                  <a:bodyPr/>
                  <a:lstStyle/>
                  <a:p>
                    <a:r>
                      <a:rPr lang="en-US"/>
                      <a:t>~</a:t>
                    </a:r>
                    <a:fld id="{7D4C2BAE-39DF-0442-A0AE-BD593DEA7335}"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8AE-6449-8478-F0B3F466CA0B}"/>
                </c:ext>
              </c:extLst>
            </c:dLbl>
            <c:dLbl>
              <c:idx val="3"/>
              <c:tx>
                <c:rich>
                  <a:bodyPr/>
                  <a:lstStyle/>
                  <a:p>
                    <a:r>
                      <a:rPr lang="en-US"/>
                      <a:t>~2.6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8AE-6449-8478-F0B3F466CA0B}"/>
                </c:ext>
              </c:extLst>
            </c:dLbl>
            <c:numFmt formatCode="#,##0" sourceLinked="0"/>
            <c:spPr>
              <a:noFill/>
              <a:ln>
                <a:noFill/>
              </a:ln>
              <a:effectLst/>
            </c:spPr>
            <c:txPr>
              <a:bodyPr/>
              <a:lstStyle/>
              <a:p>
                <a:pPr>
                  <a:defRPr sz="1200" b="0" i="0" u="none" strike="noStrike">
                    <a:solidFill>
                      <a:srgbClr val="F1F0E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Biased coin
(99/1)</c:v>
                </c:pt>
                <c:pt idx="1">
                  <c:v>English letter</c:v>
                </c:pt>
                <c:pt idx="2">
                  <c:v>Fair coin</c:v>
                </c:pt>
                <c:pt idx="3">
                  <c:v>Fair dice</c:v>
                </c:pt>
                <c:pt idx="4">
                  <c:v>Random byte</c:v>
                </c:pt>
              </c:strCache>
            </c:strRef>
          </c:cat>
          <c:val>
            <c:numRef>
              <c:f>Sheet1!$B$2:$B$6</c:f>
              <c:numCache>
                <c:formatCode>General</c:formatCode>
                <c:ptCount val="5"/>
                <c:pt idx="0">
                  <c:v>0.08</c:v>
                </c:pt>
                <c:pt idx="1">
                  <c:v>1.1000000000000001</c:v>
                </c:pt>
                <c:pt idx="2">
                  <c:v>1</c:v>
                </c:pt>
                <c:pt idx="3">
                  <c:v>2.58</c:v>
                </c:pt>
                <c:pt idx="4">
                  <c:v>8</c:v>
                </c:pt>
              </c:numCache>
            </c:numRef>
          </c:val>
          <c:extLst>
            <c:ext xmlns:c16="http://schemas.microsoft.com/office/drawing/2014/chart" uri="{C3380CC4-5D6E-409C-BE32-E72D297353CC}">
              <c16:uniqueId val="{00000000-8BAB-F145-A0C6-E0DEB7DDC4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D8D6CE"/>
                </a:solidFill>
                <a:latin typeface="Arial"/>
              </a:defRPr>
            </a:pPr>
            <a:endParaRPr lang="en-US"/>
          </a:p>
        </c:txPr>
        <c:crossAx val="2094734552"/>
        <c:crosses val="autoZero"/>
        <c:auto val="1"/>
        <c:lblAlgn val="ctr"/>
        <c:lblOffset val="100"/>
        <c:noMultiLvlLbl val="1"/>
      </c:catAx>
      <c:valAx>
        <c:axId val="2094734552"/>
        <c:scaling>
          <c:orientation val="minMax"/>
          <c:max val="9"/>
          <c:min val="0"/>
        </c:scaling>
        <c:delete val="0"/>
        <c:axPos val="l"/>
        <c:majorGridlines>
          <c:spPr>
            <a:ln w="6350" cap="flat">
              <a:solidFill>
                <a:srgbClr val="2A323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A0A8"/>
                </a:solidFill>
                <a:latin typeface="Arial"/>
              </a:defRPr>
            </a:pPr>
            <a:endParaRPr lang="en-US"/>
          </a:p>
        </c:txPr>
        <c:crossAx val="2094734554"/>
        <c:crosses val="autoZero"/>
        <c:crossBetween val="between"/>
      </c:valAx>
      <c:spPr>
        <a:solidFill>
          <a:srgbClr val="1A1F2A"/>
        </a:solidFill>
        <a:ln>
          <a:noFill/>
        </a:ln>
        <a:effectLst/>
      </c:spPr>
    </c:plotArea>
    <c:plotVisOnly val="1"/>
    <c:dispBlanksAs val="span"/>
    <c:showDLblsOverMax val="1"/>
  </c:chart>
  <c:spPr>
    <a:solidFill>
      <a:srgbClr val="1A1F2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Entropy (bits)</c:v>
                </c:pt>
              </c:strCache>
            </c:strRef>
          </c:tx>
          <c:spPr>
            <a:solidFill>
              <a:srgbClr val="7FB69E"/>
            </a:solidFill>
            <a:effectLst/>
          </c:spPr>
          <c:invertIfNegative val="0"/>
          <c:dPt>
            <c:idx val="1"/>
            <c:invertIfNegative val="0"/>
            <c:bubble3D val="0"/>
            <c:spPr>
              <a:solidFill>
                <a:srgbClr val="6FA08A"/>
              </a:solidFill>
              <a:effectLst/>
            </c:spPr>
            <c:extLst>
              <c:ext xmlns:c16="http://schemas.microsoft.com/office/drawing/2014/chart" uri="{C3380CC4-5D6E-409C-BE32-E72D297353CC}">
                <c16:uniqueId val="{00000001-18AE-6449-8478-F0B3F466CA0B}"/>
              </c:ext>
            </c:extLst>
          </c:dPt>
          <c:dPt>
            <c:idx val="2"/>
            <c:invertIfNegative val="0"/>
            <c:bubble3D val="0"/>
            <c:spPr>
              <a:solidFill>
                <a:srgbClr val="6FA08A"/>
              </a:solidFill>
              <a:effectLst/>
            </c:spPr>
            <c:extLst>
              <c:ext xmlns:c16="http://schemas.microsoft.com/office/drawing/2014/chart" uri="{C3380CC4-5D6E-409C-BE32-E72D297353CC}">
                <c16:uniqueId val="{00000000-18AE-6449-8478-F0B3F466CA0B}"/>
              </c:ext>
            </c:extLst>
          </c:dPt>
          <c:dPt>
            <c:idx val="4"/>
            <c:invertIfNegative val="0"/>
            <c:bubble3D val="0"/>
            <c:spPr>
              <a:solidFill>
                <a:srgbClr val="3BFDB2"/>
              </a:solidFill>
              <a:effectLst/>
            </c:spPr>
            <c:extLst>
              <c:ext xmlns:c16="http://schemas.microsoft.com/office/drawing/2014/chart" uri="{C3380CC4-5D6E-409C-BE32-E72D297353CC}">
                <c16:uniqueId val="{00000004-4D98-564F-A505-45769CA8353F}"/>
              </c:ext>
            </c:extLst>
          </c:dPt>
          <c:dLbls>
            <c:dLbl>
              <c:idx val="0"/>
              <c:tx>
                <c:rich>
                  <a:bodyPr/>
                  <a:lstStyle/>
                  <a:p>
                    <a:r>
                      <a:rPr lang="en-US"/>
                      <a:t>&gt;</a:t>
                    </a:r>
                    <a:r>
                      <a:rPr lang="en-US" baseline="0"/>
                      <a:t> </a:t>
                    </a:r>
                    <a:fld id="{676DB966-84ED-5F44-B2FD-120813B677F4}" type="VALUE">
                      <a:rPr lang="en-US" smtClean="0"/>
                      <a:pPr/>
                      <a:t>[VALUE]</a:t>
                    </a:fld>
                    <a:endParaRPr lang="en-US" baseline="0"/>
                  </a:p>
                </c:rich>
              </c:tx>
              <c:showLegendKey val="0"/>
              <c:showVal val="1"/>
              <c:showCatName val="0"/>
              <c:showSerName val="0"/>
              <c:showPercent val="0"/>
              <c:showBubbleSize val="0"/>
              <c:extLst>
                <c:ext xmlns:c15="http://schemas.microsoft.com/office/drawing/2012/chart" uri="{CE6537A1-D6FC-4f65-9D91-7224C49458BB}">
                  <c15:layout>
                    <c:manualLayout>
                      <c:w val="9.1043182812375736E-2"/>
                      <c:h val="7.2492283950617284E-2"/>
                    </c:manualLayout>
                  </c15:layout>
                  <c15:dlblFieldTable/>
                  <c15:showDataLabelsRange val="0"/>
                </c:ext>
                <c:ext xmlns:c16="http://schemas.microsoft.com/office/drawing/2014/chart" uri="{C3380CC4-5D6E-409C-BE32-E72D297353CC}">
                  <c16:uniqueId val="{00000003-18AE-6449-8478-F0B3F466CA0B}"/>
                </c:ext>
              </c:extLst>
            </c:dLbl>
            <c:dLbl>
              <c:idx val="1"/>
              <c:tx>
                <c:rich>
                  <a:bodyPr/>
                  <a:lstStyle/>
                  <a:p>
                    <a:r>
                      <a:rPr lang="en-US"/>
                      <a:t>~</a:t>
                    </a:r>
                    <a:fld id="{7D4C2BAE-39DF-0442-A0AE-BD593DEA7335}" type="VALUE">
                      <a:rPr lang="en-US" smtClean="0"/>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8AE-6449-8478-F0B3F466CA0B}"/>
                </c:ext>
              </c:extLst>
            </c:dLbl>
            <c:dLbl>
              <c:idx val="3"/>
              <c:tx>
                <c:rich>
                  <a:bodyPr/>
                  <a:lstStyle/>
                  <a:p>
                    <a:r>
                      <a:rPr lang="en-US"/>
                      <a:t>~2.6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8AE-6449-8478-F0B3F466CA0B}"/>
                </c:ext>
              </c:extLst>
            </c:dLbl>
            <c:numFmt formatCode="#,##0" sourceLinked="0"/>
            <c:spPr>
              <a:noFill/>
              <a:ln>
                <a:noFill/>
              </a:ln>
              <a:effectLst/>
            </c:spPr>
            <c:txPr>
              <a:bodyPr/>
              <a:lstStyle/>
              <a:p>
                <a:pPr>
                  <a:defRPr sz="1200" b="0" i="0" u="none" strike="noStrike">
                    <a:solidFill>
                      <a:srgbClr val="F1F0E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Biased coin
(99/1)</c:v>
                </c:pt>
                <c:pt idx="1">
                  <c:v>English letter</c:v>
                </c:pt>
                <c:pt idx="2">
                  <c:v>Fair coin</c:v>
                </c:pt>
                <c:pt idx="3">
                  <c:v>Fair dice</c:v>
                </c:pt>
                <c:pt idx="4">
                  <c:v>Random byte</c:v>
                </c:pt>
              </c:strCache>
            </c:strRef>
          </c:cat>
          <c:val>
            <c:numRef>
              <c:f>Sheet1!$B$2:$B$6</c:f>
              <c:numCache>
                <c:formatCode>General</c:formatCode>
                <c:ptCount val="5"/>
                <c:pt idx="0">
                  <c:v>0.08</c:v>
                </c:pt>
                <c:pt idx="1">
                  <c:v>1.1000000000000001</c:v>
                </c:pt>
                <c:pt idx="2">
                  <c:v>1</c:v>
                </c:pt>
                <c:pt idx="3">
                  <c:v>2.58</c:v>
                </c:pt>
                <c:pt idx="4">
                  <c:v>8</c:v>
                </c:pt>
              </c:numCache>
            </c:numRef>
          </c:val>
          <c:extLst>
            <c:ext xmlns:c16="http://schemas.microsoft.com/office/drawing/2014/chart" uri="{C3380CC4-5D6E-409C-BE32-E72D297353CC}">
              <c16:uniqueId val="{00000000-8BAB-F145-A0C6-E0DEB7DDC48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D8D6CE"/>
                </a:solidFill>
                <a:latin typeface="Arial"/>
              </a:defRPr>
            </a:pPr>
            <a:endParaRPr lang="en-US"/>
          </a:p>
        </c:txPr>
        <c:crossAx val="2094734552"/>
        <c:crosses val="autoZero"/>
        <c:auto val="1"/>
        <c:lblAlgn val="ctr"/>
        <c:lblOffset val="100"/>
        <c:noMultiLvlLbl val="1"/>
      </c:catAx>
      <c:valAx>
        <c:axId val="2094734552"/>
        <c:scaling>
          <c:orientation val="minMax"/>
          <c:max val="9"/>
          <c:min val="0"/>
        </c:scaling>
        <c:delete val="0"/>
        <c:axPos val="l"/>
        <c:majorGridlines>
          <c:spPr>
            <a:ln w="6350" cap="flat">
              <a:solidFill>
                <a:srgbClr val="2A323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A0A8"/>
                </a:solidFill>
                <a:latin typeface="Arial"/>
              </a:defRPr>
            </a:pPr>
            <a:endParaRPr lang="en-US"/>
          </a:p>
        </c:txPr>
        <c:crossAx val="2094734554"/>
        <c:crosses val="autoZero"/>
        <c:crossBetween val="between"/>
      </c:valAx>
      <c:spPr>
        <a:solidFill>
          <a:srgbClr val="1A1F2A"/>
        </a:solidFill>
        <a:ln>
          <a:noFill/>
        </a:ln>
        <a:effectLst/>
      </c:spPr>
    </c:plotArea>
    <c:plotVisOnly val="1"/>
    <c:dispBlanksAs val="span"/>
    <c:showDLblsOverMax val="1"/>
  </c:chart>
  <c:spPr>
    <a:solidFill>
      <a:srgbClr val="1A1F2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LLMs</c:v>
          </c:tx>
          <c:spPr>
            <a:ln w="28575">
              <a:noFill/>
            </a:ln>
          </c:spPr>
          <c:marker>
            <c:symbol val="circle"/>
            <c:size val="8"/>
            <c:spPr>
              <a:solidFill>
                <a:srgbClr val="5FBFA8"/>
              </a:solidFill>
              <a:ln w="9525">
                <a:solidFill>
                  <a:srgbClr val="5FBFA8"/>
                </a:solidFill>
              </a:ln>
            </c:spPr>
          </c:marker>
          <c:dLbls>
            <c:dLbl>
              <c:idx val="0"/>
              <c:tx>
                <c:rich>
                  <a:bodyPr/>
                  <a:lstStyle/>
                  <a:p>
                    <a:r>
                      <a:rPr lang="en-US" sz="800">
                        <a:solidFill>
                          <a:srgbClr val="DDDDDD"/>
                        </a:solidFill>
                      </a:rPr>
                      <a:t>Mixtral-8x7b</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E4F-914B-BD2C-2BA853681C52}"/>
                </c:ext>
              </c:extLst>
            </c:dLbl>
            <c:dLbl>
              <c:idx val="1"/>
              <c:tx>
                <c:rich>
                  <a:bodyPr/>
                  <a:lstStyle/>
                  <a:p>
                    <a:r>
                      <a:rPr lang="en-US" sz="800">
                        <a:solidFill>
                          <a:srgbClr val="DDDDDD"/>
                        </a:solidFill>
                      </a:rPr>
                      <a:t>Qwen-72b</a:t>
                    </a:r>
                  </a:p>
                </c:rich>
              </c:tx>
              <c:dLblPos val="b"/>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E4F-914B-BD2C-2BA853681C52}"/>
                </c:ext>
              </c:extLst>
            </c:dLbl>
            <c:dLbl>
              <c:idx val="2"/>
              <c:tx>
                <c:rich>
                  <a:bodyPr/>
                  <a:lstStyle/>
                  <a:p>
                    <a:r>
                      <a:rPr lang="en-US" sz="800">
                        <a:solidFill>
                          <a:srgbClr val="DDDDDD"/>
                        </a:solidFill>
                      </a:rPr>
                      <a:t>Jamba-52b</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E4F-914B-BD2C-2BA853681C52}"/>
                </c:ext>
              </c:extLst>
            </c:dLbl>
            <c:dLbl>
              <c:idx val="3"/>
              <c:tx>
                <c:rich>
                  <a:bodyPr/>
                  <a:lstStyle/>
                  <a:p>
                    <a:r>
                      <a:rPr lang="en-US" sz="800">
                        <a:solidFill>
                          <a:srgbClr val="DDDDDD"/>
                        </a:solidFill>
                      </a:rPr>
                      <a:t>Llama-2-70b</a:t>
                    </a:r>
                  </a:p>
                </c:rich>
              </c:tx>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E4F-914B-BD2C-2BA853681C52}"/>
                </c:ext>
              </c:extLst>
            </c:dLbl>
            <c:dLbl>
              <c:idx val="4"/>
              <c:tx>
                <c:rich>
                  <a:bodyPr/>
                  <a:lstStyle/>
                  <a:p>
                    <a:r>
                      <a:rPr lang="en-US" sz="800">
                        <a:solidFill>
                          <a:srgbClr val="DDDDDD"/>
                        </a:solidFill>
                      </a:rPr>
                      <a:t>Yi-34b</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E4F-914B-BD2C-2BA853681C52}"/>
                </c:ext>
              </c:extLst>
            </c:dLbl>
            <c:dLbl>
              <c:idx val="5"/>
              <c:tx>
                <c:rich>
                  <a:bodyPr/>
                  <a:lstStyle/>
                  <a:p>
                    <a:r>
                      <a:rPr lang="en-US" sz="800">
                        <a:solidFill>
                          <a:srgbClr val="DDDDDD"/>
                        </a:solidFill>
                      </a:rPr>
                      <a:t>Deepseek-llm-67b</a:t>
                    </a:r>
                  </a:p>
                </c:rich>
              </c:tx>
              <c:dLblPos val="b"/>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E4F-914B-BD2C-2BA853681C52}"/>
                </c:ext>
              </c:extLst>
            </c:dLbl>
            <c:dLbl>
              <c:idx val="6"/>
              <c:tx>
                <c:rich>
                  <a:bodyPr/>
                  <a:lstStyle/>
                  <a:p>
                    <a:r>
                      <a:rPr lang="en-US" sz="800">
                        <a:solidFill>
                          <a:srgbClr val="DDDDDD"/>
                        </a:solidFill>
                      </a:rPr>
                      <a:t>Qwen-14b</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2E4F-914B-BD2C-2BA853681C52}"/>
                </c:ext>
              </c:extLst>
            </c:dLbl>
            <c:dLbl>
              <c:idx val="7"/>
              <c:tx>
                <c:rich>
                  <a:bodyPr/>
                  <a:lstStyle/>
                  <a:p>
                    <a:r>
                      <a:rPr lang="en-US" sz="800">
                        <a:solidFill>
                          <a:srgbClr val="DDDDDD"/>
                        </a:solidFill>
                      </a:rPr>
                      <a:t>Llama-1-65b</a:t>
                    </a:r>
                  </a:p>
                </c:rich>
              </c:tx>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2E4F-914B-BD2C-2BA853681C52}"/>
                </c:ext>
              </c:extLst>
            </c:dLbl>
            <c:dLbl>
              <c:idx val="8"/>
              <c:tx>
                <c:rich>
                  <a:bodyPr/>
                  <a:lstStyle/>
                  <a:p>
                    <a:r>
                      <a:rPr lang="en-US" sz="800">
                        <a:solidFill>
                          <a:srgbClr val="DDDDDD"/>
                        </a:solidFill>
                      </a:rPr>
                      <a:t>Mistral-7b</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2E4F-914B-BD2C-2BA853681C52}"/>
                </c:ext>
              </c:extLst>
            </c:dLbl>
            <c:dLbl>
              <c:idx val="9"/>
              <c:tx>
                <c:rich>
                  <a:bodyPr/>
                  <a:lstStyle/>
                  <a:p>
                    <a:r>
                      <a:rPr lang="en-US" sz="800">
                        <a:solidFill>
                          <a:srgbClr val="DDDDDD"/>
                        </a:solidFill>
                      </a:rPr>
                      <a:t>Llama-1-30b</a:t>
                    </a:r>
                  </a:p>
                </c:rich>
              </c:tx>
              <c:dLblPos val="b"/>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2E4F-914B-BD2C-2BA853681C52}"/>
                </c:ext>
              </c:extLst>
            </c:dLbl>
            <c:dLbl>
              <c:idx val="10"/>
              <c:tx>
                <c:rich>
                  <a:bodyPr/>
                  <a:lstStyle/>
                  <a:p>
                    <a:r>
                      <a:rPr lang="en-US" sz="800">
                        <a:solidFill>
                          <a:srgbClr val="DDDDDD"/>
                        </a:solidFill>
                      </a:rPr>
                      <a:t>Falcon-40b</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2E4F-914B-BD2C-2BA853681C52}"/>
                </c:ext>
              </c:extLst>
            </c:dLbl>
            <c:dLbl>
              <c:idx val="11"/>
              <c:tx>
                <c:rich>
                  <a:bodyPr/>
                  <a:lstStyle/>
                  <a:p>
                    <a:r>
                      <a:rPr lang="en-US" sz="800">
                        <a:solidFill>
                          <a:srgbClr val="DDDDDD"/>
                        </a:solidFill>
                      </a:rPr>
                      <a:t>Llama-2-13b</a:t>
                    </a:r>
                  </a:p>
                </c:rich>
              </c:tx>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2E4F-914B-BD2C-2BA853681C52}"/>
                </c:ext>
              </c:extLst>
            </c:dLbl>
            <c:dLbl>
              <c:idx val="12"/>
              <c:tx>
                <c:rich>
                  <a:bodyPr/>
                  <a:lstStyle/>
                  <a:p>
                    <a:r>
                      <a:rPr lang="en-US" sz="800">
                        <a:solidFill>
                          <a:srgbClr val="DDDDDD"/>
                        </a:solidFill>
                      </a:rPr>
                      <a:t>Llama-1-13b</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2E4F-914B-BD2C-2BA853681C52}"/>
                </c:ext>
              </c:extLst>
            </c:dLbl>
            <c:dLbl>
              <c:idx val="13"/>
              <c:tx>
                <c:rich>
                  <a:bodyPr/>
                  <a:lstStyle/>
                  <a:p>
                    <a:r>
                      <a:rPr lang="en-US" sz="800">
                        <a:solidFill>
                          <a:srgbClr val="DDDDDD"/>
                        </a:solidFill>
                      </a:rPr>
                      <a:t>Qwen-7b</a:t>
                    </a:r>
                  </a:p>
                </c:rich>
              </c:tx>
              <c:dLblPos val="b"/>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2E4F-914B-BD2C-2BA853681C52}"/>
                </c:ext>
              </c:extLst>
            </c:dLbl>
            <c:dLbl>
              <c:idx val="14"/>
              <c:tx>
                <c:rich>
                  <a:bodyPr/>
                  <a:lstStyle/>
                  <a:p>
                    <a:r>
                      <a:rPr lang="en-US" sz="800">
                        <a:solidFill>
                          <a:srgbClr val="DDDDDD"/>
                        </a:solidFill>
                      </a:rPr>
                      <a:t>Yi-6b</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2E4F-914B-BD2C-2BA853681C52}"/>
                </c:ext>
              </c:extLst>
            </c:dLbl>
            <c:dLbl>
              <c:idx val="15"/>
              <c:tx>
                <c:rich>
                  <a:bodyPr/>
                  <a:lstStyle/>
                  <a:p>
                    <a:r>
                      <a:rPr lang="en-US" sz="800">
                        <a:solidFill>
                          <a:srgbClr val="DDDDDD"/>
                        </a:solidFill>
                      </a:rPr>
                      <a:t>Llama-2-7b</a:t>
                    </a:r>
                  </a:p>
                </c:rich>
              </c:tx>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2E4F-914B-BD2C-2BA853681C52}"/>
                </c:ext>
              </c:extLst>
            </c:dLbl>
            <c:dLbl>
              <c:idx val="16"/>
              <c:tx>
                <c:rich>
                  <a:bodyPr/>
                  <a:lstStyle/>
                  <a:p>
                    <a:r>
                      <a:rPr lang="en-US" sz="800">
                        <a:solidFill>
                          <a:srgbClr val="DDDDDD"/>
                        </a:solidFill>
                      </a:rPr>
                      <a:t>Deepseek-llm-7b</a:t>
                    </a:r>
                  </a:p>
                </c:rich>
              </c:tx>
              <c:dLblPos val="t"/>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2E4F-914B-BD2C-2BA853681C52}"/>
                </c:ext>
              </c:extLst>
            </c:dLbl>
            <c:dLbl>
              <c:idx val="17"/>
              <c:tx>
                <c:rich>
                  <a:bodyPr/>
                  <a:lstStyle/>
                  <a:p>
                    <a:r>
                      <a:rPr lang="en-US" sz="800">
                        <a:solidFill>
                          <a:srgbClr val="DDDDDD"/>
                        </a:solidFill>
                      </a:rPr>
                      <a:t>Llama-1-7b</a:t>
                    </a:r>
                  </a:p>
                </c:rich>
              </c:tx>
              <c:dLblPos val="b"/>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2E4F-914B-BD2C-2BA853681C52}"/>
                </c:ext>
              </c:extLst>
            </c:dLbl>
            <c:dLbl>
              <c:idx val="18"/>
              <c:tx>
                <c:rich>
                  <a:bodyPr/>
                  <a:lstStyle/>
                  <a:p>
                    <a:r>
                      <a:rPr lang="en-US" sz="800">
                        <a:solidFill>
                          <a:srgbClr val="DDDDDD"/>
                        </a:solidFill>
                      </a:rPr>
                      <a:t>Falcon-7b</a:t>
                    </a:r>
                  </a:p>
                </c:rich>
              </c:tx>
              <c:dLblPos val="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2E4F-914B-BD2C-2BA853681C52}"/>
                </c:ext>
              </c:extLst>
            </c:dLbl>
            <c:spPr>
              <a:noFill/>
              <a:ln>
                <a:noFill/>
              </a:ln>
              <a:effectLst/>
            </c:spPr>
            <c:txPr>
              <a:bodyPr/>
              <a:lstStyle/>
              <a:p>
                <a:pPr>
                  <a:defRPr sz="800">
                    <a:solidFill>
                      <a:srgbClr val="DDDDDD"/>
                    </a:solidFill>
                  </a:defRPr>
                </a:pPr>
                <a:endParaRPr lang="en-US"/>
              </a:p>
            </c:txPr>
            <c:dLblPos val="t"/>
            <c:showLegendKey val="0"/>
            <c:showVal val="0"/>
            <c:showCatName val="0"/>
            <c:showSerName val="0"/>
            <c:showPercent val="0"/>
            <c:showBubbleSize val="0"/>
            <c:extLst>
              <c:ext xmlns:c15="http://schemas.microsoft.com/office/drawing/2012/chart" uri="{CE6537A1-D6FC-4f65-9D91-7224C49458BB}">
                <c15:showLeaderLines val="0"/>
              </c:ext>
            </c:extLst>
          </c:dLbls>
          <c:xVal>
            <c:numRef>
              <c:f>Sheet1!$B$2:$B$20</c:f>
              <c:numCache>
                <c:formatCode>0.000</c:formatCode>
                <c:ptCount val="19"/>
                <c:pt idx="0">
                  <c:v>0.40799999999999997</c:v>
                </c:pt>
                <c:pt idx="1">
                  <c:v>0.41</c:v>
                </c:pt>
                <c:pt idx="2">
                  <c:v>0.40200000000000002</c:v>
                </c:pt>
                <c:pt idx="3">
                  <c:v>0.40500000000000003</c:v>
                </c:pt>
                <c:pt idx="4">
                  <c:v>0.42799999999999999</c:v>
                </c:pt>
                <c:pt idx="5">
                  <c:v>0.42499999999999999</c:v>
                </c:pt>
                <c:pt idx="6">
                  <c:v>0.45200000000000001</c:v>
                </c:pt>
                <c:pt idx="7">
                  <c:v>0.435</c:v>
                </c:pt>
                <c:pt idx="8">
                  <c:v>0.45200000000000001</c:v>
                </c:pt>
                <c:pt idx="9">
                  <c:v>0.45</c:v>
                </c:pt>
                <c:pt idx="10">
                  <c:v>0.46200000000000002</c:v>
                </c:pt>
                <c:pt idx="11">
                  <c:v>0.46500000000000002</c:v>
                </c:pt>
                <c:pt idx="12">
                  <c:v>0.47799999999999998</c:v>
                </c:pt>
                <c:pt idx="13">
                  <c:v>0.47799999999999998</c:v>
                </c:pt>
                <c:pt idx="14">
                  <c:v>0.48799999999999999</c:v>
                </c:pt>
                <c:pt idx="15">
                  <c:v>0.48499999999999999</c:v>
                </c:pt>
                <c:pt idx="16">
                  <c:v>0.5</c:v>
                </c:pt>
                <c:pt idx="17">
                  <c:v>0.505</c:v>
                </c:pt>
                <c:pt idx="18">
                  <c:v>0.52800000000000002</c:v>
                </c:pt>
              </c:numCache>
            </c:numRef>
          </c:xVal>
          <c:yVal>
            <c:numRef>
              <c:f>Sheet1!$C$2:$C$20</c:f>
              <c:numCache>
                <c:formatCode>0.000</c:formatCode>
                <c:ptCount val="19"/>
                <c:pt idx="0">
                  <c:v>0.503</c:v>
                </c:pt>
                <c:pt idx="1">
                  <c:v>0.54800000000000004</c:v>
                </c:pt>
                <c:pt idx="2">
                  <c:v>0.46800000000000003</c:v>
                </c:pt>
                <c:pt idx="3">
                  <c:v>0.45</c:v>
                </c:pt>
                <c:pt idx="4">
                  <c:v>0.45700000000000002</c:v>
                </c:pt>
                <c:pt idx="5">
                  <c:v>0.48699999999999999</c:v>
                </c:pt>
                <c:pt idx="6">
                  <c:v>0.45700000000000002</c:v>
                </c:pt>
                <c:pt idx="7">
                  <c:v>0.41</c:v>
                </c:pt>
                <c:pt idx="8">
                  <c:v>0.40799999999999997</c:v>
                </c:pt>
                <c:pt idx="9">
                  <c:v>0.36799999999999999</c:v>
                </c:pt>
                <c:pt idx="10">
                  <c:v>0.34799999999999998</c:v>
                </c:pt>
                <c:pt idx="11">
                  <c:v>0.33500000000000002</c:v>
                </c:pt>
                <c:pt idx="12">
                  <c:v>0.30499999999999999</c:v>
                </c:pt>
                <c:pt idx="13">
                  <c:v>0.375</c:v>
                </c:pt>
                <c:pt idx="14">
                  <c:v>0.33500000000000002</c:v>
                </c:pt>
                <c:pt idx="15">
                  <c:v>0.28999999999999998</c:v>
                </c:pt>
                <c:pt idx="16">
                  <c:v>0.318</c:v>
                </c:pt>
                <c:pt idx="17">
                  <c:v>0.27500000000000002</c:v>
                </c:pt>
                <c:pt idx="18">
                  <c:v>0.245</c:v>
                </c:pt>
              </c:numCache>
            </c:numRef>
          </c:yVal>
          <c:smooth val="0"/>
          <c:extLst>
            <c:ext xmlns:c16="http://schemas.microsoft.com/office/drawing/2014/chart" uri="{C3380CC4-5D6E-409C-BE32-E72D297353CC}">
              <c16:uniqueId val="{00000013-2E4F-914B-BD2C-2BA853681C52}"/>
            </c:ext>
          </c:extLst>
        </c:ser>
        <c:ser>
          <c:idx val="1"/>
          <c:order val="1"/>
          <c:tx>
            <c:v>Linear fit</c:v>
          </c:tx>
          <c:spPr>
            <a:ln w="22225" cap="rnd">
              <a:solidFill>
                <a:srgbClr val="5FBFA8"/>
              </a:solidFill>
              <a:round/>
            </a:ln>
          </c:spPr>
          <c:marker>
            <c:symbol val="none"/>
          </c:marker>
          <c:xVal>
            <c:numRef>
              <c:f>Sheet1!$E$2:$E$3</c:f>
              <c:numCache>
                <c:formatCode>0.000</c:formatCode>
                <c:ptCount val="2"/>
                <c:pt idx="0">
                  <c:v>0.38</c:v>
                </c:pt>
                <c:pt idx="1">
                  <c:v>0.55000000000000004</c:v>
                </c:pt>
              </c:numCache>
            </c:numRef>
          </c:xVal>
          <c:yVal>
            <c:numRef>
              <c:f>Sheet1!$F$2:$F$3</c:f>
              <c:numCache>
                <c:formatCode>0.000</c:formatCode>
                <c:ptCount val="2"/>
                <c:pt idx="0">
                  <c:v>0.54890000000000005</c:v>
                </c:pt>
                <c:pt idx="1">
                  <c:v>0.18809999999999999</c:v>
                </c:pt>
              </c:numCache>
            </c:numRef>
          </c:yVal>
          <c:smooth val="0"/>
          <c:extLst>
            <c:ext xmlns:c16="http://schemas.microsoft.com/office/drawing/2014/chart" uri="{C3380CC4-5D6E-409C-BE32-E72D297353CC}">
              <c16:uniqueId val="{00000014-2E4F-914B-BD2C-2BA853681C52}"/>
            </c:ext>
          </c:extLst>
        </c:ser>
        <c:dLbls>
          <c:showLegendKey val="0"/>
          <c:showVal val="0"/>
          <c:showCatName val="0"/>
          <c:showSerName val="0"/>
          <c:showPercent val="0"/>
          <c:showBubbleSize val="0"/>
        </c:dLbls>
        <c:axId val="1"/>
        <c:axId val="2"/>
      </c:scatterChart>
      <c:valAx>
        <c:axId val="1"/>
        <c:scaling>
          <c:orientation val="minMax"/>
          <c:max val="0.55000000000000004"/>
          <c:min val="0.38"/>
        </c:scaling>
        <c:delete val="0"/>
        <c:axPos val="b"/>
        <c:title>
          <c:tx>
            <c:rich>
              <a:bodyPr rot="0" spcFirstLastPara="1" vertOverflow="ellipsis" wrap="square" anchor="ctr" anchorCtr="1"/>
              <a:lstStyle/>
              <a:p>
                <a:pPr>
                  <a:defRPr sz="1400" b="0">
                    <a:solidFill>
                      <a:srgbClr val="FFFFFF"/>
                    </a:solidFill>
                  </a:defRPr>
                </a:pPr>
                <a:r>
                  <a:rPr lang="en-US" sz="1400" b="0">
                    <a:solidFill>
                      <a:srgbClr val="FFFFFF"/>
                    </a:solidFill>
                  </a:rPr>
                  <a:t>Bits per character (BPC)</a:t>
                </a:r>
              </a:p>
            </c:rich>
          </c:tx>
          <c:overlay val="0"/>
        </c:title>
        <c:numFmt formatCode="0.00" sourceLinked="0"/>
        <c:majorTickMark val="out"/>
        <c:minorTickMark val="none"/>
        <c:tickLblPos val="nextTo"/>
        <c:txPr>
          <a:bodyPr/>
          <a:lstStyle/>
          <a:p>
            <a:pPr>
              <a:defRPr sz="1000">
                <a:solidFill>
                  <a:srgbClr val="CCCCCC"/>
                </a:solidFill>
              </a:defRPr>
            </a:pPr>
            <a:endParaRPr lang="en-US"/>
          </a:p>
        </c:txPr>
        <c:crossAx val="2"/>
        <c:crosses val="autoZero"/>
        <c:crossBetween val="midCat"/>
        <c:majorUnit val="0.02"/>
      </c:valAx>
      <c:valAx>
        <c:axId val="2"/>
        <c:scaling>
          <c:orientation val="minMax"/>
          <c:max val="0.6"/>
          <c:min val="0.2"/>
        </c:scaling>
        <c:delete val="0"/>
        <c:axPos val="l"/>
        <c:title>
          <c:tx>
            <c:rich>
              <a:bodyPr rot="-5400000" spcFirstLastPara="1" vertOverflow="ellipsis" wrap="square" anchor="ctr" anchorCtr="1"/>
              <a:lstStyle/>
              <a:p>
                <a:pPr>
                  <a:defRPr sz="1400" b="0">
                    <a:solidFill>
                      <a:srgbClr val="FFFFFF"/>
                    </a:solidFill>
                  </a:defRPr>
                </a:pPr>
                <a:r>
                  <a:rPr lang="en-US" sz="1400" b="0" dirty="0">
                    <a:solidFill>
                      <a:srgbClr val="FFFFFF"/>
                    </a:solidFill>
                  </a:rPr>
                  <a:t>Avg benchmark score</a:t>
                </a:r>
              </a:p>
            </c:rich>
          </c:tx>
          <c:overlay val="0"/>
        </c:title>
        <c:numFmt formatCode="0.0" sourceLinked="0"/>
        <c:majorTickMark val="out"/>
        <c:minorTickMark val="none"/>
        <c:tickLblPos val="nextTo"/>
        <c:txPr>
          <a:bodyPr/>
          <a:lstStyle/>
          <a:p>
            <a:pPr>
              <a:defRPr sz="1000">
                <a:solidFill>
                  <a:srgbClr val="CCCCCC"/>
                </a:solidFill>
              </a:defRPr>
            </a:pPr>
            <a:endParaRPr lang="en-US"/>
          </a:p>
        </c:txPr>
        <c:crossAx val="1"/>
        <c:crosses val="autoZero"/>
        <c:crossBetween val="midCat"/>
        <c:majorUnit val="0.1"/>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742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take a journey through information theory — starting from the absolute basics of what a 'bit' means, through how modern AI models compress and store information, and ending with an open question: can we define intelligence mathematically, and can we measure how efficiently a system uses its internal information to be intelligent? No deep math background required — we'll build everything from first principles.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A86B5-3D50-A7B3-1084-FA72AE3933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4956C-F440-0049-7C3E-2BBB46F97C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1A780F-739C-D604-5776-0F02957A31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ECC6B8-BD4E-363C-0C51-B3F4A1C2152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672867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3BE1-91C3-F6B0-3EFB-B2DBD4DC5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3266D-4178-169B-BD6B-08619C5739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1FF17-4C6C-4891-4839-979A3E143F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1C4ACF-6F6B-DBDB-9396-69B2BCAC19C5}"/>
              </a:ext>
            </a:extLst>
          </p:cNvPr>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7979410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2FCFD-9BDB-42E2-6B19-B250095E55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14B7D-8C38-A239-E5DC-BC0FC9A0D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CDA54B-C516-80FC-28E9-0E9314F24FD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26AC3F-53D1-54F4-26B9-8D04B3532CDC}"/>
              </a:ext>
            </a:extLst>
          </p:cNvPr>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943668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2D12F-A8FE-FFC3-4E19-BF7ADBB69E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1A4B1-D42D-079F-D1FC-53C2184BF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5F45EA-81F2-3F32-343C-24E1901F04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8123FD-F41E-FAD6-6502-1B903317F847}"/>
              </a:ext>
            </a:extLst>
          </p:cNvPr>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5283710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8850-E6E8-4FD1-3931-E4D03CF203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587DA-B4AB-5BA4-8D72-BCED36049C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960F49-C0D0-C037-267D-A118277195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B160A1-9C1A-E886-3970-265808D783CA}"/>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0102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674E9-30A9-55FA-B7D8-A816E873A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F939B-DD1F-FAD5-9D82-7F093E346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A917B-4773-F2D3-0072-5DE31F002715}"/>
              </a:ext>
            </a:extLst>
          </p:cNvPr>
          <p:cNvSpPr>
            <a:spLocks noGrp="1"/>
          </p:cNvSpPr>
          <p:nvPr>
            <p:ph type="body" idx="1"/>
          </p:nvPr>
        </p:nvSpPr>
        <p:spPr/>
        <p:txBody>
          <a:bodyPr/>
          <a:lstStyle/>
          <a:p>
            <a:r>
              <a:rPr lang="en-US" dirty="0"/>
              <a:t>Welcome everyone. Today we're going to take a journey through information theory — starting from the absolute basics of what a 'bit' means, through how modern AI models compress and store information, and ending with an open question: can we define intelligence mathematically, and can we measure how efficiently a system uses its internal information to be intelligent? No deep math background required — we'll build everything from first principles.</a:t>
            </a:r>
          </a:p>
        </p:txBody>
      </p:sp>
      <p:sp>
        <p:nvSpPr>
          <p:cNvPr id="4" name="Slide Number Placeholder 3">
            <a:extLst>
              <a:ext uri="{FF2B5EF4-FFF2-40B4-BE49-F238E27FC236}">
                <a16:creationId xmlns:a16="http://schemas.microsoft.com/office/drawing/2014/main" id="{175D8F2B-A1C2-0B95-CDAD-22CB8C05882E}"/>
              </a:ext>
            </a:extLst>
          </p:cNvPr>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3023660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698AA-06DF-7B54-8E26-798320874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34F49-B8E2-B320-C43F-BA1370862F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D9ABE-662E-4B8B-1D92-E42B9EB62F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E9E0CC-827A-5962-15F6-5A288709AB93}"/>
              </a:ext>
            </a:extLst>
          </p:cNvPr>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2565549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70A9E-8A58-49F5-999E-89146AA1A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C5F0C-AD52-7995-A221-B334265D67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940FC-FD41-1721-3035-DDD0E72CE6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112B30-D151-7B0B-724F-B16C926E1FF9}"/>
              </a:ext>
            </a:extLst>
          </p:cNvPr>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2951890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1FE5-7A02-E164-8C24-E1F492309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05F1D-8CA2-25BE-20B3-507A922DE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61634B-D332-4227-1AB4-7952E413C3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6E6A70-2AD9-7B50-B1C0-AB0083539526}"/>
              </a:ext>
            </a:extLst>
          </p:cNvPr>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120023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C02C6-3789-BA6A-17BD-003AFA821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A5ACB-0111-D68F-BBC2-797F9A19F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933FD-4881-E626-E383-E6A4A2005B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269BC2-BEEA-096D-ECCD-07635F1860D3}"/>
              </a:ext>
            </a:extLst>
          </p:cNvPr>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580000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30DCD-AC3E-CC2E-9122-0CBEE3FBF2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9933F-6796-6A6C-049A-89E3FFD98A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3BD590-1C9A-933E-AADE-1683166758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A4DCAE-89F8-60B9-BE04-8CA08D0427FF}"/>
              </a:ext>
            </a:extLst>
          </p:cNvPr>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38244391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8475C-3C81-6815-B534-CE6298CD8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E829D-A5A0-3786-6249-6900125BC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511D3-4F5F-E0C9-F93E-12A9FEC66D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10952D-89AB-B119-1CE4-947C6F843F8E}"/>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52644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C31D-7CFB-4071-1660-82280859F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B83A2-F4AD-C22B-D5E7-D597CDF42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28ADCD-B09E-66F9-988D-4BD195FAF7CD}"/>
              </a:ext>
            </a:extLst>
          </p:cNvPr>
          <p:cNvSpPr>
            <a:spLocks noGrp="1"/>
          </p:cNvSpPr>
          <p:nvPr>
            <p:ph type="body" idx="1"/>
          </p:nvPr>
        </p:nvSpPr>
        <p:spPr/>
        <p:txBody>
          <a:bodyPr/>
          <a:lstStyle/>
          <a:p>
            <a:pPr marL="0" indent="0">
              <a:lnSpc>
                <a:spcPct val="115000"/>
              </a:lnSpc>
              <a:buNone/>
            </a:pPr>
            <a:r>
              <a:rPr lang="en-US" sz="1200" b="1" dirty="0">
                <a:solidFill>
                  <a:srgbClr val="F1F0EA"/>
                </a:solidFill>
                <a:latin typeface="Georgia" pitchFamily="34" charset="0"/>
                <a:ea typeface="Georgia" pitchFamily="34" charset="-122"/>
                <a:cs typeface="Georgia" pitchFamily="34" charset="-120"/>
              </a:rPr>
              <a:t>I promise I removed </a:t>
            </a:r>
            <a:r>
              <a:rPr lang="en-US" sz="1200" b="1" dirty="0">
                <a:solidFill>
                  <a:srgbClr val="F1F0EA"/>
                </a:solidFill>
                <a:latin typeface="Georgia" pitchFamily="34" charset="0"/>
              </a:rPr>
              <a:t>(most of) them</a:t>
            </a:r>
            <a:endParaRPr lang="en-US" sz="1200" dirty="0"/>
          </a:p>
        </p:txBody>
      </p:sp>
      <p:sp>
        <p:nvSpPr>
          <p:cNvPr id="4" name="Slide Number Placeholder 3">
            <a:extLst>
              <a:ext uri="{FF2B5EF4-FFF2-40B4-BE49-F238E27FC236}">
                <a16:creationId xmlns:a16="http://schemas.microsoft.com/office/drawing/2014/main" id="{1A505088-0F22-4DA9-0437-5E8705A8F2D0}"/>
              </a:ext>
            </a:extLst>
          </p:cNvPr>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4243099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7CE6-7C55-0343-03C0-0D94862B6B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77014-66F5-50A0-6AA8-E58501845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443B3D-8AD7-FAB4-DFD3-DA63D3155709}"/>
              </a:ext>
            </a:extLst>
          </p:cNvPr>
          <p:cNvSpPr>
            <a:spLocks noGrp="1"/>
          </p:cNvSpPr>
          <p:nvPr>
            <p:ph type="body" idx="1"/>
          </p:nvPr>
        </p:nvSpPr>
        <p:spPr/>
        <p:txBody>
          <a:bodyPr/>
          <a:lstStyle/>
          <a:p>
            <a:r>
              <a:rPr lang="en-US"/>
              <a:t>Welcome everyone. Today we're going to take a journey through information theory — starting from the absolute basics of what a 'bit' means, through how modern AI models compress and store information, and ending with an open question: can we define intelligence mathematically, and can we measure how efficiently a system uses its internal information to be intelligent? No deep math background required — we'll build everything from first principles.</a:t>
            </a:r>
          </a:p>
        </p:txBody>
      </p:sp>
      <p:sp>
        <p:nvSpPr>
          <p:cNvPr id="4" name="Slide Number Placeholder 3">
            <a:extLst>
              <a:ext uri="{FF2B5EF4-FFF2-40B4-BE49-F238E27FC236}">
                <a16:creationId xmlns:a16="http://schemas.microsoft.com/office/drawing/2014/main" id="{FA838DB5-23D3-775D-E9C8-95DD70D0B73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808809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start from scratch. What is information, mathematically? Claude Shannon answered this in 1948. His key insight was beautifully simple: information is surprise.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is about surprise: how uncertain you are before you learn the outcome.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7CA80-7601-F134-4CC1-809C1F57B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4ABCF-6DAE-CDCC-75B7-9DFB59B43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80648D-B4D3-A6AF-27EF-9F78D20687F7}"/>
              </a:ext>
            </a:extLst>
          </p:cNvPr>
          <p:cNvSpPr>
            <a:spLocks noGrp="1"/>
          </p:cNvSpPr>
          <p:nvPr>
            <p:ph type="body" idx="1"/>
          </p:nvPr>
        </p:nvSpPr>
        <p:spPr/>
        <p:txBody>
          <a:bodyPr/>
          <a:lstStyle/>
          <a:p>
            <a:r>
              <a:rPr lang="en-US"/>
              <a:t>The key insight: information is NOT about meaning, it's about how much uncertainty is resolved. Shannon formalized this in 1948.</a:t>
            </a:r>
            <a:br>
              <a:rPr lang="en-US"/>
            </a:br>
            <a:endParaRPr lang="en-US"/>
          </a:p>
          <a:p>
            <a:r>
              <a:rPr lang="en-US"/>
              <a:t>A fair coin flip has two equally likely outcomes. A die has 6 outcomes, so learning the result gives you more information than the coin flip.</a:t>
            </a:r>
          </a:p>
        </p:txBody>
      </p:sp>
      <p:sp>
        <p:nvSpPr>
          <p:cNvPr id="4" name="Slide Number Placeholder 3">
            <a:extLst>
              <a:ext uri="{FF2B5EF4-FFF2-40B4-BE49-F238E27FC236}">
                <a16:creationId xmlns:a16="http://schemas.microsoft.com/office/drawing/2014/main" id="{F0ABCF2C-3643-CF0D-6427-8831369A6D3B}"/>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24573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7567-1B62-0539-0091-09123DE1F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ECDD9-E98E-7315-73CE-18F555E2E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A04DC-45FD-96C6-7CC7-8B0F6A060C55}"/>
              </a:ext>
            </a:extLst>
          </p:cNvPr>
          <p:cNvSpPr>
            <a:spLocks noGrp="1"/>
          </p:cNvSpPr>
          <p:nvPr>
            <p:ph type="body" idx="1"/>
          </p:nvPr>
        </p:nvSpPr>
        <p:spPr/>
        <p:txBody>
          <a:bodyPr/>
          <a:lstStyle/>
          <a:p>
            <a:r>
              <a:rPr lang="en-US"/>
              <a:t> We can take the result of the coin flip as our base unit: 1 bit of information. A die has 6 outcomes, so learning the result gives you log2(6) ≈ 2.58 bits.</a:t>
            </a:r>
          </a:p>
        </p:txBody>
      </p:sp>
      <p:sp>
        <p:nvSpPr>
          <p:cNvPr id="4" name="Slide Number Placeholder 3">
            <a:extLst>
              <a:ext uri="{FF2B5EF4-FFF2-40B4-BE49-F238E27FC236}">
                <a16:creationId xmlns:a16="http://schemas.microsoft.com/office/drawing/2014/main" id="{4EB8707E-A6ED-74BA-3CBA-86976F2D76B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41845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the simplest possible example. I flip a fair coin. Before the flip, you have maximum uncertainty: it's 50/50. When I tell you the result — heads or tails — I've given you exactly one bit of information. One bit is the information content of a single binary choice with equal probability. Now: what if I flip a coin that lands heads 99% of the time? If I tell you 'heads,' that's barely surprising — almost no information. If I tell you 'tails,' that's very surprising — a lot of information. Shannon's genius was quantifying this: the information content of an event with probability p is negative log base 2 of p. The rarer the event, the more informative it is.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178FE-665D-5C0C-37F6-3725AF973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73AF5-A00A-38C3-DF4E-D505BE754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41F64-53F8-D53A-4ACD-45C296577FA9}"/>
              </a:ext>
            </a:extLst>
          </p:cNvPr>
          <p:cNvSpPr>
            <a:spLocks noGrp="1"/>
          </p:cNvSpPr>
          <p:nvPr>
            <p:ph type="body" idx="1"/>
          </p:nvPr>
        </p:nvSpPr>
        <p:spPr/>
        <p:txBody>
          <a:bodyPr/>
          <a:lstStyle/>
          <a:p>
            <a:r>
              <a:rPr lang="en-US"/>
              <a:t>Information is about surprise — how uncertain you are before you learn the outcome. A fair coin flip has two equally likely outcomes, so learning the result gives you exactly 1 bit of information. A die has 6 outcomes, so learning the result gives you log2(6) ≈ 2.58 bits. The key insight: information is NOT about meaning — it's about how much uncertainty is resolved. Shannon formalized this in 1948.</a:t>
            </a:r>
          </a:p>
        </p:txBody>
      </p:sp>
      <p:sp>
        <p:nvSpPr>
          <p:cNvPr id="4" name="Slide Number Placeholder 3">
            <a:extLst>
              <a:ext uri="{FF2B5EF4-FFF2-40B4-BE49-F238E27FC236}">
                <a16:creationId xmlns:a16="http://schemas.microsoft.com/office/drawing/2014/main" id="{D09EE181-37A0-21FD-F6A4-35D0902A781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337732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Shannon's 1948 formula — arguably the most important equation in computer science. It says: take each possible outcome, multiply its probability by the logarithm of that probability (which measures 'surprise'), sum them all up, and negate. The result is the average number of bits needed to describe the outcome. For a fair coin: H = −(0.5 × log2(0.5) + 0.5 × log2(0.5)) = −(0.5 × (−1) + 0.5 × (−1)) = 1 bit. For a biased coin (99% heads): H ≈ 0.08 bits — almost no surprise. The formula captures our intuition: predictable things carry little information.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9C9E9-FABF-E48A-A1A3-25A2D50A94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D7A48-E58E-888B-9E68-2C353C8FB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716C5-353D-4F97-D6DE-D0DE36E8EF51}"/>
              </a:ext>
            </a:extLst>
          </p:cNvPr>
          <p:cNvSpPr>
            <a:spLocks noGrp="1"/>
          </p:cNvSpPr>
          <p:nvPr>
            <p:ph type="body" idx="1"/>
          </p:nvPr>
        </p:nvSpPr>
        <p:spPr/>
        <p:txBody>
          <a:bodyPr/>
          <a:lstStyle/>
          <a:p>
            <a:r>
              <a:rPr lang="en-US"/>
              <a:t>This is Shannon's 1948 formula — arguably the most important equation in computer science. It says: take each possible outcome, multiply its probability by the logarithm of that probability (which measures 'surprise'), sum them all up, and negate. The result is the average number of bits needed to describe the outcome. For a fair coin: H = −(0.5 × log2(0.5) + 0.5 × log2(0.5)) = −(0.5 × (−1) + 0.5 × (−1)) = 1 bit. For a biased coin (99% heads): H ≈ 0.08 bits — almost no surprise. The formula captures our intuition: predictable things carry little information.</a:t>
            </a:r>
          </a:p>
        </p:txBody>
      </p:sp>
      <p:sp>
        <p:nvSpPr>
          <p:cNvPr id="4" name="Slide Number Placeholder 3">
            <a:extLst>
              <a:ext uri="{FF2B5EF4-FFF2-40B4-BE49-F238E27FC236}">
                <a16:creationId xmlns:a16="http://schemas.microsoft.com/office/drawing/2014/main" id="{AAE22D4A-F251-C62B-BADE-C6F14AFA7614}"/>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205880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see entropy across different sources. A heavily biased coin (99% heads) has nearly zero entropy — you almost always know the answer.</a:t>
            </a:r>
            <a:br>
              <a:rPr lang="en-US"/>
            </a:br>
            <a:r>
              <a:rPr lang="en-US"/>
              <a:t>An English letter has about 1 bit of entropy (not the full log2(26)≈4.7 because some letters like E and T are far more common).</a:t>
            </a:r>
            <a:br>
              <a:rPr lang="en-US"/>
            </a:br>
            <a:r>
              <a:rPr lang="en-US"/>
              <a:t>A fair coin: 1 bit. A fair die: 2.58 bits.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884E4-1EEA-125D-A6D0-CF63F6A069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855FC-028C-27D1-913C-DFE05334C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1AE09-B808-E739-18BC-C90A5272AF47}"/>
              </a:ext>
            </a:extLst>
          </p:cNvPr>
          <p:cNvSpPr>
            <a:spLocks noGrp="1"/>
          </p:cNvSpPr>
          <p:nvPr>
            <p:ph type="body" idx="1"/>
          </p:nvPr>
        </p:nvSpPr>
        <p:spPr/>
        <p:txBody>
          <a:bodyPr/>
          <a:lstStyle/>
          <a:p>
            <a:r>
              <a:rPr lang="en-US"/>
              <a:t>Note that entropy is ”the average surprise”, coin flip and English letters have very similar entropy.</a:t>
            </a:r>
          </a:p>
        </p:txBody>
      </p:sp>
      <p:sp>
        <p:nvSpPr>
          <p:cNvPr id="4" name="Slide Number Placeholder 3">
            <a:extLst>
              <a:ext uri="{FF2B5EF4-FFF2-40B4-BE49-F238E27FC236}">
                <a16:creationId xmlns:a16="http://schemas.microsoft.com/office/drawing/2014/main" id="{37137C42-BC75-7A9B-801B-851562A3C461}"/>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184916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2121E-AD74-C157-53F3-235A9FC11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1CE55-082B-F788-B0AD-2783E26FA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ADE84-DCB8-FF43-6942-D28DF58BEABE}"/>
              </a:ext>
            </a:extLst>
          </p:cNvPr>
          <p:cNvSpPr>
            <a:spLocks noGrp="1"/>
          </p:cNvSpPr>
          <p:nvPr>
            <p:ph type="body" idx="1"/>
          </p:nvPr>
        </p:nvSpPr>
        <p:spPr/>
        <p:txBody>
          <a:bodyPr/>
          <a:lstStyle/>
          <a:p>
            <a:r>
              <a:rPr lang="en-US"/>
              <a:t>A completely random byte: 8 bits — maximum entropy for 8 binary digits.</a:t>
            </a:r>
            <a:br>
              <a:rPr lang="en-US"/>
            </a:br>
            <a:br>
              <a:rPr lang="en-US"/>
            </a:br>
            <a:r>
              <a:rPr lang="en-US"/>
              <a:t>The key takeaway: real-world data like language is far from maximum entropy. It's redundant, structured, predictable.</a:t>
            </a:r>
            <a:br>
              <a:rPr lang="en-US"/>
            </a:br>
            <a:r>
              <a:rPr lang="en-US"/>
              <a:t>And that's exactly why data compression works.</a:t>
            </a:r>
          </a:p>
        </p:txBody>
      </p:sp>
      <p:sp>
        <p:nvSpPr>
          <p:cNvPr id="4" name="Slide Number Placeholder 3">
            <a:extLst>
              <a:ext uri="{FF2B5EF4-FFF2-40B4-BE49-F238E27FC236}">
                <a16:creationId xmlns:a16="http://schemas.microsoft.com/office/drawing/2014/main" id="{F299105E-7912-56D8-52BE-A30BB3AB6DA6}"/>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753414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where Shannon's theory becomes engineering, but there’s more to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the practical payoff of entropy. If data has patterns — repeating letters, common words, predictable structure — it has less entropy than its raw bit representation, and we can compress it. Run-length encoding is the simplest example: instead of storing AAAAAABBBCC, store '6A 3B 2C'. Shannon proved that entropy is the HARD FLOOR of compression — you can never do better, but you can always approach it. This theorem is why ZIP files work, why MP3s exist, and — as we'll see — it's deeply connected to how LLMs work.</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17F8B-9EEC-8468-8A85-CCE03076D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F6365-DFA9-1D3E-C5D2-D80B11837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21234D-168B-F6DC-1DE8-6A476B8E28D8}"/>
              </a:ext>
            </a:extLst>
          </p:cNvPr>
          <p:cNvSpPr>
            <a:spLocks noGrp="1"/>
          </p:cNvSpPr>
          <p:nvPr>
            <p:ph type="body" idx="1"/>
          </p:nvPr>
        </p:nvSpPr>
        <p:spPr/>
        <p:txBody>
          <a:bodyPr/>
          <a:lstStyle/>
          <a:p>
            <a:r>
              <a:rPr lang="en-US"/>
              <a:t>Here's the practical payoff of entropy. If data has patterns — repeating letters, common words, predictable structure — it has less entropy than its raw bit representation, and we can compress it. Run-length encoding is the simplest example: instead of storing AAAAAABBBCC, store '6A 3B 2C'. Shannon proved that entropy is the HARD FLOOR of compression — you can never do better, but you can always approach it. This theorem is why ZIP files work, why MP3s exist, and — as we'll see — it's deeply connected to how LLMs work.</a:t>
            </a:r>
          </a:p>
        </p:txBody>
      </p:sp>
      <p:sp>
        <p:nvSpPr>
          <p:cNvPr id="4" name="Slide Number Placeholder 3">
            <a:extLst>
              <a:ext uri="{FF2B5EF4-FFF2-40B4-BE49-F238E27FC236}">
                <a16:creationId xmlns:a16="http://schemas.microsoft.com/office/drawing/2014/main" id="{EEF2C146-A1AE-98FC-6707-B24651E71D62}"/>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8143817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5BE49-AE07-AD2F-ED29-EF6FE9AE7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0BD47B-504B-C741-65B5-801DE7A50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6B41B6-11AC-F5ED-49FB-3B2D2EA2A76D}"/>
              </a:ext>
            </a:extLst>
          </p:cNvPr>
          <p:cNvSpPr>
            <a:spLocks noGrp="1"/>
          </p:cNvSpPr>
          <p:nvPr>
            <p:ph type="body" idx="1"/>
          </p:nvPr>
        </p:nvSpPr>
        <p:spPr/>
        <p:txBody>
          <a:bodyPr/>
          <a:lstStyle/>
          <a:p>
            <a:r>
              <a:rPr lang="en-US"/>
              <a:t>This is the deepest connection in the talk. Shannon's source coding theorem proves that a model which assigns probability q to the next symbol can, via arithmetic coding, compress that symbol to exactly −log2(q) bits. So training an LLM to minimize cross-entropy loss is LITERALLY training it to be a better compressor. This is not a metaphor. Minimizing prediction error = minimizing compressed file size. This identity — prediction equals compression — is the thread that connects everything in this talk.</a:t>
            </a:r>
          </a:p>
        </p:txBody>
      </p:sp>
      <p:sp>
        <p:nvSpPr>
          <p:cNvPr id="4" name="Slide Number Placeholder 3">
            <a:extLst>
              <a:ext uri="{FF2B5EF4-FFF2-40B4-BE49-F238E27FC236}">
                <a16:creationId xmlns:a16="http://schemas.microsoft.com/office/drawing/2014/main" id="{6EF3F650-F4A5-FDE6-9EF5-D6A936C765A7}"/>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950436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A9819-3F0E-6EA3-552E-329AC8756F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B81A8-C23C-300D-506B-6E5551287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01B73-A536-30F5-0653-9D685218406B}"/>
              </a:ext>
            </a:extLst>
          </p:cNvPr>
          <p:cNvSpPr>
            <a:spLocks noGrp="1"/>
          </p:cNvSpPr>
          <p:nvPr>
            <p:ph type="body" idx="1"/>
          </p:nvPr>
        </p:nvSpPr>
        <p:spPr/>
        <p:txBody>
          <a:bodyPr/>
          <a:lstStyle/>
          <a:p>
            <a:r>
              <a:rPr lang="en-US"/>
              <a:t>This is the deepest connection in the talk. Shannon's source coding theorem proves that a model which assigns probability q to the next symbol can, via arithmetic coding, compress that symbol to exactly −log2(q) bits. So training an LLM to minimize cross-entropy loss is LITERALLY training it to be a better compressor. This is not a metaphor. Minimizing prediction error = minimizing compressed file size. This identity — prediction equals compression — is the thread that connects everything in this talk.</a:t>
            </a:r>
          </a:p>
        </p:txBody>
      </p:sp>
      <p:sp>
        <p:nvSpPr>
          <p:cNvPr id="4" name="Slide Number Placeholder 3">
            <a:extLst>
              <a:ext uri="{FF2B5EF4-FFF2-40B4-BE49-F238E27FC236}">
                <a16:creationId xmlns:a16="http://schemas.microsoft.com/office/drawing/2014/main" id="{C8943E0E-352B-B163-5205-7735A6559D9D}"/>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1619347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5AB1-A524-6E32-0DE8-42530E00D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3FEC6-3644-C048-D1B1-556EC688D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57175C-4F42-06A6-481B-2C663E83514F}"/>
              </a:ext>
            </a:extLst>
          </p:cNvPr>
          <p:cNvSpPr>
            <a:spLocks noGrp="1"/>
          </p:cNvSpPr>
          <p:nvPr>
            <p:ph type="body" idx="1"/>
          </p:nvPr>
        </p:nvSpPr>
        <p:spPr/>
        <p:txBody>
          <a:bodyPr/>
          <a:lstStyle/>
          <a:p>
            <a:r>
              <a:rPr lang="en-US"/>
              <a:t>This is the deepest connection in the talk. Shannon's source coding theorem proves that a model which assigns probability q to the next symbol can, via arithmetic coding, compress that symbol to exactly −log2(q) bits. So training an LLM to minimize cross-entropy loss is LITERALLY training it to be a better compressor. This is not a metaphor. Minimizing prediction error = minimizing compressed file size. This identity — prediction equals compression — is the thread that connects everything in this talk.</a:t>
            </a:r>
          </a:p>
        </p:txBody>
      </p:sp>
      <p:sp>
        <p:nvSpPr>
          <p:cNvPr id="4" name="Slide Number Placeholder 3">
            <a:extLst>
              <a:ext uri="{FF2B5EF4-FFF2-40B4-BE49-F238E27FC236}">
                <a16:creationId xmlns:a16="http://schemas.microsoft.com/office/drawing/2014/main" id="{9B18771B-9AC2-F301-4191-351FDBB6E2DE}"/>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7227709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deepest connection in the talk. Shannon's source coding theorem proves that a model which assigns probability q to the next symbol can, via arithmetic coding, compress that symbol to exactly −log2(q) bits. So training an LLM to minimize cross-entropy loss is LITERALLY training it to be a better compressor. This is not a metaphor. Minimizing prediction error = minimizing compressed file size. This identity — prediction equals compression — is the thread that connects everything in this talk.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let’s talk about the interesting part: How big are modern LLMs, how much data did they train on, and — crucially — how much of that information did they actually retain?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put concrete numbers on the table, using LLaMA 3 8B as our example. Meta trained this model on about 15 trillion tokens: roughly 60 terabytes of internet text.</a:t>
            </a:r>
          </a:p>
          <a:p>
            <a:endParaRPr lang="en-US"/>
          </a:p>
          <a:p>
            <a:r>
              <a:rPr lang="en-US"/>
              <a:t>The resulting model has 8 billion parameters, stored in about 16 gigabytes at half-precision floating point. That's a 3,750-to-1 compression ratio.</a:t>
            </a:r>
          </a:p>
          <a:p>
            <a:endParaRPr lang="en-US"/>
          </a:p>
          <a:p>
            <a:r>
              <a:rPr lang="en-US"/>
              <a:t>60 terabytes of human knowledge squeezed into 16 gigabytes of neural network weights. But as we'll see, even 16 GB overstates how much information is actually in there.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striking findings in modern ML. Each parameter is stored as a 16-bit or 32-bit float, but the actual information content is only about 2 bits. How do we know? Three independent research threads converge. First, Dettmers showed across 35,000 experiments that you can quantize to 4 bits with almost no quality loss — meaning 12 of 16 bits were noise. Second, direct entropy measurement of quantized weights gives about 2.17 bits. Third, Allen-Zhu and Li proved analytically that LLMs store about 2 bits of 'knowledge' per parameter. So a 7-billion parameter model has about 14 billion bits — roughly 1.75 gigabytes — of real information. That's it. 14 of every 16 bits you're storing are redundant.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entropy gap visualized as a funnel. 60 terabytes of training data gets compressed into 16 gigabytes of weights, but only about 2 gigabytes of that is actual information. The effective compression ratio is 30,000 to 1. How is this possible? Four reasons. First, natural language is inherently about 80% redundant — Shannon showed in 1951 that English carries only about 1 bit per character versus 8 bits per ASCII byte. Second, the same fact ('Paris is the capital of France') appears in thousands of slightly different phrasings across the training corpus — the model stores it once. Third, the model learns abstract rules and patterns, not raw data. Fourth, rare, noisy, or contradictory data is simply lost — the compression is deeply lossy.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empirical capstone. Huang et al. in 2024 measured compression efficiency (bits per character on held-out text) across 30+ LLMs and correlated it with downstream benchmark performance — knowledge, reasoning, coding, commonsense. The Pearson correlation is approximately −0.95. Negative because lower bits-per-character means better compression AND higher intelligence scores. This is an almost-linear relationship: better compressor = smarter model. The chart is illustrative, but the real scatter plots from the paper are striking — the models line up almost perfectly. This gives concrete empirical support to the idea, championed by Hutter and </a:t>
            </a:r>
            <a:r>
              <a:rPr lang="en-US" dirty="0" err="1"/>
              <a:t>Sutskever</a:t>
            </a:r>
            <a:r>
              <a:rPr lang="en-US" dirty="0"/>
              <a:t>, that intelligence and compression are deeply linked.</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Shannon himself estimated in 1951 that English has about 0.6 to 1.3 bits per character of true entropy — the rest is redundancy. Modern LLMs achieve about 0.85–0.95 bits per character on Wikipedia benchmarks. We’re near the theoretical floor. This is remarkable: a formula from 75 years ago predicted a limit that billion-dollar AI systems are now approaching.</a:t>
            </a:r>
          </a:p>
          <a:p>
            <a:endParaRPr lang="en-US" dirty="0"/>
          </a:p>
          <a:p>
            <a:r>
              <a:rPr lang="en-US" dirty="0"/>
              <a:t>The remaining gap may reflect genuine irreducible uncertainty in language: multiple valid next words, creative choices, ambiguity, etc. rather than model inadequacy.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85F34-DD85-3583-4DF7-31D010D8AE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6825C-CC65-0E70-5E2F-E97CC3D2E9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2D5816-8592-F04A-344F-1D83E5B3A3B1}"/>
              </a:ext>
            </a:extLst>
          </p:cNvPr>
          <p:cNvSpPr>
            <a:spLocks noGrp="1"/>
          </p:cNvSpPr>
          <p:nvPr>
            <p:ph type="body" idx="1"/>
          </p:nvPr>
        </p:nvSpPr>
        <p:spPr/>
        <p:txBody>
          <a:bodyPr/>
          <a:lstStyle/>
          <a:p>
            <a:r>
              <a:rPr lang="en-US" dirty="0"/>
              <a:t>Well, we WERE near the limit.</a:t>
            </a:r>
          </a:p>
        </p:txBody>
      </p:sp>
      <p:sp>
        <p:nvSpPr>
          <p:cNvPr id="4" name="Slide Number Placeholder 3">
            <a:extLst>
              <a:ext uri="{FF2B5EF4-FFF2-40B4-BE49-F238E27FC236}">
                <a16:creationId xmlns:a16="http://schemas.microsoft.com/office/drawing/2014/main" id="{673894B5-D28D-7246-ADAB-1EC70571A434}"/>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2986672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9EC8F-8380-1C85-C335-9DBDC38F43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EE405-F6FB-587E-7C5D-084509B4B9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665E90-7046-34AE-E805-57D65C02E4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A35134-74F5-E443-843A-FFFC5DDA4944}"/>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7022745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we arrive at the mathematical heart of the talk. Can we define intelligence as a single equation? Legg and Hutter said yes.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We've seen that information can be quantified precisely — Shannon gave us the formula. We've seen that LLMs are compression machines. And we've seen that compression quality correlates almost linearly with intelligence benchmarks. So here's the natural question: can we go further and define intelligence itself as an information-theoretic quantity? Several researchers have tried. Let’s try starting from an informal definition.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good, agreeable definition. Not the only one possible, of course.</a:t>
            </a:r>
            <a:br>
              <a:rPr lang="en-US"/>
            </a:br>
            <a:br>
              <a:rPr lang="en-US"/>
            </a:br>
            <a:r>
              <a:rPr lang="en-US"/>
              <a:t>But this one can be stated precisely and formally.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5034D-5097-D165-8953-0A9144A8F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ACE256-FB6A-7261-31D6-C962902C3B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3E52C8-4495-5DE9-8E7E-87FDC8A53CF1}"/>
              </a:ext>
            </a:extLst>
          </p:cNvPr>
          <p:cNvSpPr>
            <a:spLocks noGrp="1"/>
          </p:cNvSpPr>
          <p:nvPr>
            <p:ph type="body" idx="1"/>
          </p:nvPr>
        </p:nvSpPr>
        <p:spPr/>
        <p:txBody>
          <a:bodyPr/>
          <a:lstStyle/>
          <a:p>
            <a:r>
              <a:rPr lang="en-US"/>
              <a:t>This is a good, agreeable definition. Not the only one possible, of course.</a:t>
            </a:r>
            <a:br>
              <a:rPr lang="en-US"/>
            </a:br>
            <a:br>
              <a:rPr lang="en-US"/>
            </a:br>
            <a:r>
              <a:rPr lang="en-US"/>
              <a:t>But this one can be stated precisely and formally.</a:t>
            </a:r>
          </a:p>
        </p:txBody>
      </p:sp>
      <p:sp>
        <p:nvSpPr>
          <p:cNvPr id="4" name="Slide Number Placeholder 3">
            <a:extLst>
              <a:ext uri="{FF2B5EF4-FFF2-40B4-BE49-F238E27FC236}">
                <a16:creationId xmlns:a16="http://schemas.microsoft.com/office/drawing/2014/main" id="{1318BD17-3B37-F8C3-00CE-160957631061}"/>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0004331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A3D0E-4D07-DE9D-3B59-F2ABE61707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8CAED-10B4-9032-D0CA-7865F2EE28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23D2F2-F372-B90D-804A-ACBE5F7B5177}"/>
              </a:ext>
            </a:extLst>
          </p:cNvPr>
          <p:cNvSpPr>
            <a:spLocks noGrp="1"/>
          </p:cNvSpPr>
          <p:nvPr>
            <p:ph type="body" idx="1"/>
          </p:nvPr>
        </p:nvSpPr>
        <p:spPr/>
        <p:txBody>
          <a:bodyPr/>
          <a:lstStyle/>
          <a:p>
            <a:r>
              <a:rPr lang="en-US" dirty="0"/>
              <a:t>This is the Legg-Hutter definition a mathematically rigorous definition of intelligence.</a:t>
            </a:r>
          </a:p>
          <a:p>
            <a:endParaRPr lang="en-US" dirty="0"/>
          </a:p>
          <a:p>
            <a:r>
              <a:rPr lang="en-US" dirty="0"/>
              <a:t>Read it in plain English: the intelligence of an agent π is the sum, over ALL possible computable environments </a:t>
            </a:r>
            <a:r>
              <a:rPr lang="en-US" dirty="0" err="1"/>
              <a:t>μ</a:t>
            </a:r>
            <a:r>
              <a:rPr lang="en-US" dirty="0"/>
              <a:t>, of the reward the agent earns in that environment, weighted by how simple the environment is.</a:t>
            </a:r>
          </a:p>
        </p:txBody>
      </p:sp>
      <p:sp>
        <p:nvSpPr>
          <p:cNvPr id="4" name="Slide Number Placeholder 3">
            <a:extLst>
              <a:ext uri="{FF2B5EF4-FFF2-40B4-BE49-F238E27FC236}">
                <a16:creationId xmlns:a16="http://schemas.microsoft.com/office/drawing/2014/main" id="{BEB7D786-21A4-B5A0-E535-EC85B5CFDE5E}"/>
              </a:ext>
            </a:extLst>
          </p:cNvPr>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8339013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5F3F3-6C2E-AAC4-5E2E-F529E436D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3891A-758E-F09B-DA77-7D3973F6D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FF5DE-3A0A-E930-918A-E2ED48A3E8DE}"/>
              </a:ext>
            </a:extLst>
          </p:cNvPr>
          <p:cNvSpPr>
            <a:spLocks noGrp="1"/>
          </p:cNvSpPr>
          <p:nvPr>
            <p:ph type="body" idx="1"/>
          </p:nvPr>
        </p:nvSpPr>
        <p:spPr/>
        <p:txBody>
          <a:bodyPr/>
          <a:lstStyle/>
          <a:p>
            <a:r>
              <a:rPr lang="en-US"/>
              <a:t>The weight 2^(−K(</a:t>
            </a:r>
            <a:r>
              <a:rPr lang="en-US" err="1"/>
              <a:t>μ</a:t>
            </a:r>
            <a:r>
              <a:rPr lang="en-US"/>
              <a:t>)) is Occam's razor formalized: K(</a:t>
            </a:r>
            <a:r>
              <a:rPr lang="en-US" err="1"/>
              <a:t>μ</a:t>
            </a:r>
            <a:r>
              <a:rPr lang="en-US"/>
              <a:t>) is the Kolmogorov complexity of the environment — the length of the shortest program that generates it. Simple environments like tic-tac-toe get high weight; bizarre complex environments get exponentially lower weight. This captures the intuition that intelligence means performing well across MANY tasks, with simpler/more natural tasks mattering more. It was derived by surveying ~70 published definitions of intelligence and finding the mathematical core they share.</a:t>
            </a:r>
          </a:p>
        </p:txBody>
      </p:sp>
      <p:sp>
        <p:nvSpPr>
          <p:cNvPr id="4" name="Slide Number Placeholder 3">
            <a:extLst>
              <a:ext uri="{FF2B5EF4-FFF2-40B4-BE49-F238E27FC236}">
                <a16:creationId xmlns:a16="http://schemas.microsoft.com/office/drawing/2014/main" id="{A79C0859-C64D-47DA-25B3-123473ADE034}"/>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33715617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F7BC6-390B-9851-A945-1445F1370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9C853-034B-547F-830B-A5F54217C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332AAE-8C1A-987D-028C-8B7EF2524854}"/>
              </a:ext>
            </a:extLst>
          </p:cNvPr>
          <p:cNvSpPr>
            <a:spLocks noGrp="1"/>
          </p:cNvSpPr>
          <p:nvPr>
            <p:ph type="body" idx="1"/>
          </p:nvPr>
        </p:nvSpPr>
        <p:spPr/>
        <p:txBody>
          <a:bodyPr/>
          <a:lstStyle/>
          <a:p>
            <a:r>
              <a:rPr lang="en-US"/>
              <a:t>We take the sum over every possible environment</a:t>
            </a:r>
          </a:p>
        </p:txBody>
      </p:sp>
      <p:sp>
        <p:nvSpPr>
          <p:cNvPr id="4" name="Slide Number Placeholder 3">
            <a:extLst>
              <a:ext uri="{FF2B5EF4-FFF2-40B4-BE49-F238E27FC236}">
                <a16:creationId xmlns:a16="http://schemas.microsoft.com/office/drawing/2014/main" id="{47C90D7F-552B-FF1F-32BB-8CB8FDDF0632}"/>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40805074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6CD75-F4F7-59F1-37C9-D43DCF9DC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E26FE-D601-6726-E35C-214ADD74A2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E1B19-3E7B-C656-18E4-B23B5E0FA7CF}"/>
              </a:ext>
            </a:extLst>
          </p:cNvPr>
          <p:cNvSpPr>
            <a:spLocks noGrp="1"/>
          </p:cNvSpPr>
          <p:nvPr>
            <p:ph type="body" idx="1"/>
          </p:nvPr>
        </p:nvSpPr>
        <p:spPr/>
        <p:txBody>
          <a:bodyPr/>
          <a:lstStyle/>
          <a:p>
            <a:r>
              <a:rPr lang="en-US"/>
              <a:t>The weight 2^(−K(</a:t>
            </a:r>
            <a:r>
              <a:rPr lang="en-US" err="1"/>
              <a:t>μ</a:t>
            </a:r>
            <a:r>
              <a:rPr lang="en-US"/>
              <a:t>)) is Occam's razor formalized: K(</a:t>
            </a:r>
            <a:r>
              <a:rPr lang="en-US" err="1"/>
              <a:t>μ</a:t>
            </a:r>
            <a:r>
              <a:rPr lang="en-US"/>
              <a:t>) is the Kolmogorov complexity of the environment — the length of the shortest program that generates it. Simple environments like tic-tac-toe get high weight; bizarre complex environments get exponentially lower weight. This captures the intuition that intelligence means performing well across MANY tasks, with simpler/more natural tasks mattering more. It was derived by surveying ~70 published definitions of intelligence and finding the mathematical core they share.</a:t>
            </a:r>
          </a:p>
        </p:txBody>
      </p:sp>
      <p:sp>
        <p:nvSpPr>
          <p:cNvPr id="4" name="Slide Number Placeholder 3">
            <a:extLst>
              <a:ext uri="{FF2B5EF4-FFF2-40B4-BE49-F238E27FC236}">
                <a16:creationId xmlns:a16="http://schemas.microsoft.com/office/drawing/2014/main" id="{98D66FFC-4616-33B2-E790-F431DE5A01BF}"/>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96265965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A26F1-5223-7C00-5FEB-46172F20F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965FE-D0B3-B4AC-1B7E-6E61238321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60BF3-27A2-BFA0-607D-F387C7DAE2FF}"/>
              </a:ext>
            </a:extLst>
          </p:cNvPr>
          <p:cNvSpPr>
            <a:spLocks noGrp="1"/>
          </p:cNvSpPr>
          <p:nvPr>
            <p:ph type="body" idx="1"/>
          </p:nvPr>
        </p:nvSpPr>
        <p:spPr/>
        <p:txBody>
          <a:bodyPr/>
          <a:lstStyle/>
          <a:p>
            <a:r>
              <a:rPr lang="en-US"/>
              <a:t>The environment has to reward somehow the agent for all this to have meaning. We can be quite arbitrary here on the rewards</a:t>
            </a:r>
          </a:p>
        </p:txBody>
      </p:sp>
      <p:sp>
        <p:nvSpPr>
          <p:cNvPr id="4" name="Slide Number Placeholder 3">
            <a:extLst>
              <a:ext uri="{FF2B5EF4-FFF2-40B4-BE49-F238E27FC236}">
                <a16:creationId xmlns:a16="http://schemas.microsoft.com/office/drawing/2014/main" id="{371A355F-B7BA-8990-798E-8632417500BC}"/>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7269342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5232B-E13E-8823-FB4A-88C0790B8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4F5B9-9E8D-A9EE-4F28-C03EF5E3B7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B25CD4-1957-84B9-56C9-0B479599A81A}"/>
              </a:ext>
            </a:extLst>
          </p:cNvPr>
          <p:cNvSpPr>
            <a:spLocks noGrp="1"/>
          </p:cNvSpPr>
          <p:nvPr>
            <p:ph type="body" idx="1"/>
          </p:nvPr>
        </p:nvSpPr>
        <p:spPr/>
        <p:txBody>
          <a:bodyPr/>
          <a:lstStyle/>
          <a:p>
            <a:r>
              <a:rPr lang="en-US"/>
              <a:t>This is the Legg-Hutter definition — the most mathematically rigorous definition of intelligence ever proposed. Read it in plain English: the intelligence of an agent π is the sum, over ALL possible computable environments μ, of the reward the agent earns in that environment, weighted by how simple the environment is. The weight 2^(−K(μ)) is Occam's razor formalized: K(μ) is the Kolmogorov complexity of the environment — the length of the shortest program that generates it. Simple environments like tic-tac-toe get high weight; bizarre complex environments get exponentially lower weight. This captures the intuition that intelligence means performing well across MANY tasks, with simpler/more natural tasks mattering more. It was derived by surveying ~70 published definitions of intelligence and finding the mathematical core they share.</a:t>
            </a:r>
          </a:p>
        </p:txBody>
      </p:sp>
      <p:sp>
        <p:nvSpPr>
          <p:cNvPr id="4" name="Slide Number Placeholder 3">
            <a:extLst>
              <a:ext uri="{FF2B5EF4-FFF2-40B4-BE49-F238E27FC236}">
                <a16:creationId xmlns:a16="http://schemas.microsoft.com/office/drawing/2014/main" id="{CDAFD1C0-0B55-5483-6D79-039060609D90}"/>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5574522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things to emphasize:</a:t>
            </a:r>
          </a:p>
          <a:p>
            <a:endParaRPr lang="en-US"/>
          </a:p>
          <a:p>
            <a:pPr marL="171450" indent="-171450">
              <a:buFontTx/>
              <a:buChar char="-"/>
            </a:pPr>
            <a:r>
              <a:rPr lang="en-US"/>
              <a:t>Universality: this equation doesn't privilege any specific domain. A chess-only engine scores well on chess environments but poorly on everything else, getting a low Υ. A generally capable agent scores moderately across millions of environments and gets a high </a:t>
            </a:r>
            <a:r>
              <a:rPr lang="en-US" err="1"/>
              <a:t>Υ</a:t>
            </a:r>
            <a:r>
              <a:rPr lang="en-US"/>
              <a:t>.</a:t>
            </a:r>
          </a:p>
          <a:p>
            <a:pPr marL="171450" indent="-171450">
              <a:buFontTx/>
              <a:buChar char="-"/>
            </a:pPr>
            <a:r>
              <a:rPr lang="en-US"/>
              <a:t>The weighting is principled: Solomonoff's prior 2^(−K(μ)) is the unique prior that is universal, dominates all computable priors, and embodies Occam's razor.</a:t>
            </a:r>
          </a:p>
          <a:p>
            <a:pPr marL="171450" indent="-171450">
              <a:buFontTx/>
              <a:buChar char="-"/>
            </a:pPr>
            <a:r>
              <a:rPr lang="en-US"/>
              <a:t>The equation is provably incomputable: you can't calculate it for any real agent. But this is actually philosophically important: it means no finite test captures intelligence fully. Every benchmark, being it MMLU, ARC, IQ tests or whatever, is a finite, lossy approximation of Υ. The incomputability forces intellectual humility.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Here's the big gap. Υ only cares about behavior: how much reward the agent gets across environments. It says nothing about the INTERNAL structure of the agent.</a:t>
            </a:r>
          </a:p>
          <a:p>
            <a:endParaRPr lang="en-US"/>
          </a:p>
          <a:p>
            <a:r>
              <a:rPr lang="en-US"/>
              <a:t>But intuitively, we feel the neural network is more intelligent than the lookup table, even if they score the same on known tasks. The network has compressed 60 terabytes into 2 gigabytes of effective information and can generalize; the lookup table stored everything verbatim. We need a way to account for the agent's own complexity: to reward efficient use of internal information.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brings us to the final part — and the open question. If we can measure both how intelligent a system is and how complex it is internally, can we define intelligence per bit?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F091-876B-6137-1E64-C183BDBACD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0EF4FD-8AAB-5C8E-8D01-D73C00DC4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4E1160-396A-8311-C833-DBF3DCAB9F3D}"/>
              </a:ext>
            </a:extLst>
          </p:cNvPr>
          <p:cNvSpPr>
            <a:spLocks noGrp="1"/>
          </p:cNvSpPr>
          <p:nvPr>
            <p:ph type="body" idx="1"/>
          </p:nvPr>
        </p:nvSpPr>
        <p:spPr/>
        <p:txBody>
          <a:bodyPr/>
          <a:lstStyle/>
          <a:p>
            <a:r>
              <a:rPr lang="en-US" dirty="0"/>
              <a:t>This definition is mine, still very intuitive and almost common sense.</a:t>
            </a:r>
            <a:br>
              <a:rPr lang="en-US" dirty="0"/>
            </a:br>
            <a:br>
              <a:rPr lang="en-US" dirty="0"/>
            </a:br>
            <a:r>
              <a:rPr lang="en-US" dirty="0"/>
              <a:t>Note here that Legg-Hutter definition already includes the complexity of the agent (as it is part of the environment)</a:t>
            </a:r>
          </a:p>
        </p:txBody>
      </p:sp>
      <p:sp>
        <p:nvSpPr>
          <p:cNvPr id="4" name="Slide Number Placeholder 3">
            <a:extLst>
              <a:ext uri="{FF2B5EF4-FFF2-40B4-BE49-F238E27FC236}">
                <a16:creationId xmlns:a16="http://schemas.microsoft.com/office/drawing/2014/main" id="{032395F1-C4BA-1E90-B20D-224B23794431}"/>
              </a:ext>
            </a:extLst>
          </p:cNvPr>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3388898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1531B-D544-344E-1FF6-4EC743A7E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31E07-AE07-3B63-81CF-B2DA8F84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80669-2B00-B078-5033-7A92646F9F5D}"/>
              </a:ext>
            </a:extLst>
          </p:cNvPr>
          <p:cNvSpPr>
            <a:spLocks noGrp="1"/>
          </p:cNvSpPr>
          <p:nvPr>
            <p:ph type="body" idx="1"/>
          </p:nvPr>
        </p:nvSpPr>
        <p:spPr/>
        <p:txBody>
          <a:bodyPr/>
          <a:lstStyle/>
          <a:p>
            <a:r>
              <a:rPr lang="en-US" dirty="0"/>
              <a:t>A simple proposed framework (</a:t>
            </a:r>
            <a:r>
              <a:rPr lang="en-US" sz="1200" dirty="0" err="1">
                <a:solidFill>
                  <a:srgbClr val="90969E"/>
                </a:solidFill>
                <a:latin typeface="Calibri" pitchFamily="34" charset="0"/>
                <a:ea typeface="Calibri" pitchFamily="34" charset="-122"/>
                <a:cs typeface="Calibri" pitchFamily="34" charset="-120"/>
              </a:rPr>
              <a:t>Solomonoff</a:t>
            </a:r>
            <a:r>
              <a:rPr lang="en-US" sz="1200" dirty="0">
                <a:solidFill>
                  <a:srgbClr val="90969E"/>
                </a:solidFill>
                <a:latin typeface="Calibri" pitchFamily="34" charset="0"/>
                <a:ea typeface="Calibri" pitchFamily="34" charset="-122"/>
                <a:cs typeface="Calibri" pitchFamily="34" charset="-120"/>
              </a:rPr>
              <a:t>–Hutter)</a:t>
            </a:r>
            <a:r>
              <a:rPr lang="en-US" dirty="0"/>
              <a:t>. We define intelligence density </a:t>
            </a:r>
            <a:r>
              <a:rPr lang="en-US" dirty="0" err="1"/>
              <a:t>η</a:t>
            </a:r>
            <a:r>
              <a:rPr lang="en-US" dirty="0"/>
              <a:t> as the ratio of intelligence (</a:t>
            </a:r>
            <a:r>
              <a:rPr lang="en-US" dirty="0" err="1"/>
              <a:t>Υ</a:t>
            </a:r>
            <a:r>
              <a:rPr lang="en-US" dirty="0"/>
              <a:t>) to internal complexity (C). Think of it as 'intelligence per bit.' C(π) can be measured in several ways — all converging on similar answers: Kolmogorov complexity K(π) in theory, and practically via the Minimum Description Length of the weights, the learning coefficient </a:t>
            </a:r>
            <a:r>
              <a:rPr lang="en-US" dirty="0" err="1"/>
              <a:t>λ</a:t>
            </a:r>
            <a:r>
              <a:rPr lang="en-US" dirty="0"/>
              <a:t> from Singular Learning Theory, or intrinsic dimensionality. This ratio naturally captures our intuition. A lookup table: high C, bounded </a:t>
            </a:r>
            <a:r>
              <a:rPr lang="en-US" dirty="0" err="1"/>
              <a:t>Υ</a:t>
            </a:r>
            <a:r>
              <a:rPr lang="en-US" dirty="0"/>
              <a:t>, low </a:t>
            </a:r>
            <a:r>
              <a:rPr lang="en-US" dirty="0" err="1"/>
              <a:t>η</a:t>
            </a:r>
            <a:r>
              <a:rPr lang="en-US" dirty="0"/>
              <a:t>. A compact generalizing network: low C, potentially high </a:t>
            </a:r>
            <a:r>
              <a:rPr lang="en-US" dirty="0" err="1"/>
              <a:t>Υ</a:t>
            </a:r>
            <a:r>
              <a:rPr lang="en-US" dirty="0"/>
              <a:t>, high </a:t>
            </a:r>
            <a:r>
              <a:rPr lang="en-US" dirty="0" err="1"/>
              <a:t>η</a:t>
            </a:r>
            <a:r>
              <a:rPr lang="en-US" dirty="0"/>
              <a:t>. A human brain: ~2.5 petabytes of synapse information, extraordinary </a:t>
            </a:r>
            <a:r>
              <a:rPr lang="en-US" dirty="0" err="1"/>
              <a:t>Υ</a:t>
            </a:r>
            <a:r>
              <a:rPr lang="en-US" dirty="0"/>
              <a:t> across novel tasks, very high </a:t>
            </a:r>
            <a:r>
              <a:rPr lang="en-US" dirty="0" err="1"/>
              <a:t>η</a:t>
            </a:r>
            <a:r>
              <a:rPr lang="en-US" dirty="0"/>
              <a:t>. Memorization is penalized by construction — every memorized fact costs bits in C without proportionally boosting </a:t>
            </a:r>
            <a:r>
              <a:rPr lang="en-US" dirty="0" err="1"/>
              <a:t>Υ</a:t>
            </a:r>
            <a:r>
              <a:rPr lang="en-US" dirty="0"/>
              <a:t> on novel environments.</a:t>
            </a:r>
          </a:p>
        </p:txBody>
      </p:sp>
      <p:sp>
        <p:nvSpPr>
          <p:cNvPr id="4" name="Slide Number Placeholder 3">
            <a:extLst>
              <a:ext uri="{FF2B5EF4-FFF2-40B4-BE49-F238E27FC236}">
                <a16:creationId xmlns:a16="http://schemas.microsoft.com/office/drawing/2014/main" id="{0150FFD6-B092-F496-78D1-8BD7B128CAC1}"/>
              </a:ext>
            </a:extLst>
          </p:cNvPr>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1025213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8738-FAD4-64FA-E1AE-669922F98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C39DD-CD1B-CB9E-6669-B1F3ACEDD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D5AA0B-F961-9668-BCCE-2EF34082413D}"/>
              </a:ext>
            </a:extLst>
          </p:cNvPr>
          <p:cNvSpPr>
            <a:spLocks noGrp="1"/>
          </p:cNvSpPr>
          <p:nvPr>
            <p:ph type="body" idx="1"/>
          </p:nvPr>
        </p:nvSpPr>
        <p:spPr/>
        <p:txBody>
          <a:bodyPr/>
          <a:lstStyle/>
          <a:p>
            <a:r>
              <a:rPr lang="en-US"/>
              <a:t>Here's the proposed framework. We define intelligence density η as the ratio of intelligence (Υ) to internal complexity (C). Think of it as 'intelligence per bit.' C(π) can be measured in several ways — all converging on similar answers: Kolmogorov complexity K(π) in theory, and practically via the Minimum Description Length of the weights, the learning coefficient λ from Singular Learning Theory, or intrinsic dimensionality. This ratio naturally captures our intuition. A lookup table: high C, bounded Υ, low η. A compact generalizing network: low C, potentially high Υ, high η. A human brain: ~2.5 petabytes of synapse information, extraordinary Υ across novel tasks, very high η. Memorization is penalized by construction — every memorized fact costs bits in C without proportionally boosting Υ on novel environments.</a:t>
            </a:r>
          </a:p>
        </p:txBody>
      </p:sp>
      <p:sp>
        <p:nvSpPr>
          <p:cNvPr id="4" name="Slide Number Placeholder 3">
            <a:extLst>
              <a:ext uri="{FF2B5EF4-FFF2-40B4-BE49-F238E27FC236}">
                <a16:creationId xmlns:a16="http://schemas.microsoft.com/office/drawing/2014/main" id="{B42DD897-89D1-8348-C687-41B3345C0BB6}"/>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6060964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see what η tells us in practice. A lookup table has high capability on its domain but enormous complexity, so low η. A massive model like GPT-4 — rumored at 1.76 trillion parameters — has impressive breadth but also huge internal complexity, giving medium η. An overtrained compact model like LLaMA 3 8B has moderate capability but extremely efficient internal representation (only ~2 GB of effective information), potentially giving the highest η. The exciting prediction: if you plotted η across the current scaling frontier, you might find it's roughly constant — meaning current scaling is 'constant density,' just adding more bits. A genuine architectural breakthrough — say, a model that reasons better with fewer parameters — would show up as a jump in η. This makes η a potential metric for real progress versus brute-force scaling.</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6383839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47903-E399-FD08-F905-F6593C25B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57D6C-712D-647E-94A4-DFB417091A8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995FB26F-D4D6-8315-3024-C5D35AADE279}"/>
              </a:ext>
            </a:extLst>
          </p:cNvPr>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9966000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recap the full arc. We started from Shannon's foundational insight that information is measurable in bits. We saw that prediction and compression are the same thing — a mathematical identity, not a metaphor. We measured LLMs and found they compress terabytes into gigabytes, with only about 2 bits per parameter carrying real information. We saw empirically that better compression = higher intelligence scores, with </a:t>
            </a:r>
            <a:r>
              <a:rPr lang="en-US" dirty="0" err="1"/>
              <a:t>ρ</a:t>
            </a:r>
            <a:r>
              <a:rPr lang="en-US" dirty="0"/>
              <a:t> ≈ −0.93. We then formalized intelligence via the Legg-Hutter equation </a:t>
            </a:r>
            <a:r>
              <a:rPr lang="en-US" dirty="0" err="1"/>
              <a:t>Υ</a:t>
            </a:r>
            <a:r>
              <a:rPr lang="en-US" dirty="0"/>
              <a:t> — goal-achievement across all environments weighted by Occam's razor. And finally, we identified the gap: </a:t>
            </a:r>
            <a:r>
              <a:rPr lang="en-US" dirty="0" err="1"/>
              <a:t>Υ</a:t>
            </a:r>
            <a:r>
              <a:rPr lang="en-US" dirty="0"/>
              <a:t> doesn't account for the agent's own complexity, and proposed intelligence density </a:t>
            </a:r>
            <a:r>
              <a:rPr lang="en-US" dirty="0" err="1"/>
              <a:t>η</a:t>
            </a:r>
            <a:r>
              <a:rPr lang="en-US" dirty="0"/>
              <a:t> = </a:t>
            </a:r>
            <a:r>
              <a:rPr lang="en-US" dirty="0" err="1"/>
              <a:t>Υ</a:t>
            </a:r>
            <a:r>
              <a:rPr lang="en-US" dirty="0"/>
              <a:t>/C as the natural extension. The provocative conclusion: maybe the next leap in AI doesn't come from making models bigger, but from making them denser — more intelligence per bit.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open questions I'd love to discuss. First, is η well-defined enough to be useful, or are we just dividing two incomputable numbers and hoping the proxies behave? Second, the testable prediction: is current LLM scaling constant-η? This could be checked empirically TODAY by computing MDL for the models in the Huang et al. dataset. Third, the engineering question: can we directly optimize for high η, rather than just scaling up? This would mean architectural innovations that pack more intelligence into fewer effective bits. And fourth, the big one: where does the human brain sit on the η scale? We know it's extraordinarily efficient — it runs on 20 watts and handles novel situations better than any AI — but we don't have good measurements of its internal information content.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8B86A-6B4F-F322-99A3-91E2B8F73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24D5C-9C69-AD83-8511-9B1BD0EE5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98BCF0-0285-2194-3431-131DA52C8F7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93CDA8-340D-3617-E973-B80C30861F4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63</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37962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papers behind everything we discussed today. Shannon's 1948 paper is the foundation of all information theory. </a:t>
            </a:r>
            <a:r>
              <a:rPr lang="en-US" dirty="0" err="1"/>
              <a:t>Solomonoff</a:t>
            </a:r>
            <a:r>
              <a:rPr lang="en-US" dirty="0"/>
              <a:t> and Hutter formalize universal prediction and intelligence. Chollet provides the strongest counterargument to pure compression-as-intelligence. Dettmers, Allen-Zhu, and Delétang give us the empirical foundations for the 2-bit finding and the prediction-compression identity. Huang et al. provide the striking correlation.</a:t>
            </a:r>
            <a:br>
              <a:rPr lang="en-US" dirty="0"/>
            </a:br>
            <a:endParaRPr lang="en-US" dirty="0"/>
          </a:p>
          <a:p>
            <a:r>
              <a:rPr lang="en-US" dirty="0"/>
              <a:t>Elements of Information Theory is a great book I used to first study information theory, strongly suggested read for the most math-</a:t>
            </a:r>
            <a:r>
              <a:rPr lang="en-US" dirty="0" err="1"/>
              <a:t>savy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jp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jp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6.jp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9.jp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slides/_rels/slide36.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53.svg"/></Relationships>
</file>

<file path=ppt/slides/_rels/slide44.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90.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0.png"/><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3" Type="http://schemas.openxmlformats.org/officeDocument/2006/relationships/image" Target="../media/image200.png"/><Relationship Id="rId7" Type="http://schemas.openxmlformats.org/officeDocument/2006/relationships/image" Target="../media/image190.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220.png"/><Relationship Id="rId4" Type="http://schemas.openxmlformats.org/officeDocument/2006/relationships/image" Target="../media/image210.png"/></Relationships>
</file>

<file path=ppt/slides/_rels/slide49.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190.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170.png"/><Relationship Id="rId4" Type="http://schemas.openxmlformats.org/officeDocument/2006/relationships/image" Target="../media/image210.png"/></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60.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0.png"/><Relationship Id="rId4" Type="http://schemas.openxmlformats.org/officeDocument/2006/relationships/image" Target="../media/image210.png"/></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0.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20.png"/><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320.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5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1.jpg"/></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69.jpg"/><Relationship Id="rId3" Type="http://schemas.openxmlformats.org/officeDocument/2006/relationships/image" Target="../media/image64.png"/><Relationship Id="rId7" Type="http://schemas.openxmlformats.org/officeDocument/2006/relationships/image" Target="../media/image68.png"/><Relationship Id="rId12" Type="http://schemas.openxmlformats.org/officeDocument/2006/relationships/image" Target="../media/image73.jp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67.jpg"/><Relationship Id="rId11" Type="http://schemas.openxmlformats.org/officeDocument/2006/relationships/image" Target="../media/image72.png"/><Relationship Id="rId5" Type="http://schemas.openxmlformats.org/officeDocument/2006/relationships/image" Target="../media/image66.jpg"/><Relationship Id="rId10" Type="http://schemas.openxmlformats.org/officeDocument/2006/relationships/image" Target="../media/image71.jpg"/><Relationship Id="rId4" Type="http://schemas.openxmlformats.org/officeDocument/2006/relationships/image" Target="../media/image65.jpg"/><Relationship Id="rId9" Type="http://schemas.openxmlformats.org/officeDocument/2006/relationships/image" Target="../media/image70.jpg"/></Relationships>
</file>

<file path=ppt/slides/_rels/slide6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6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6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67.xml.rels><?xml version="1.0" encoding="UTF-8" standalone="yes"?>
<Relationships xmlns="http://schemas.openxmlformats.org/package/2006/relationships"><Relationship Id="rId3" Type="http://schemas.openxmlformats.org/officeDocument/2006/relationships/image" Target="../media/image87.jp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731"/>
        </a:solidFill>
        <a:effectLst/>
      </p:bgPr>
    </p:bg>
    <p:spTree>
      <p:nvGrpSpPr>
        <p:cNvPr id="1" name=""/>
        <p:cNvGrpSpPr/>
        <p:nvPr/>
      </p:nvGrpSpPr>
      <p:grpSpPr>
        <a:xfrm>
          <a:off x="0" y="0"/>
          <a:ext cx="0" cy="0"/>
          <a:chOff x="0" y="0"/>
          <a:chExt cx="0" cy="0"/>
        </a:xfrm>
      </p:grpSpPr>
      <p:sp>
        <p:nvSpPr>
          <p:cNvPr id="3" name="Shape 1"/>
          <p:cNvSpPr/>
          <p:nvPr/>
        </p:nvSpPr>
        <p:spPr>
          <a:xfrm>
            <a:off x="0" y="4389120"/>
            <a:ext cx="9144000" cy="36576"/>
          </a:xfrm>
          <a:prstGeom prst="rect">
            <a:avLst/>
          </a:prstGeom>
          <a:solidFill>
            <a:srgbClr val="7FB69E">
              <a:alpha val="60000"/>
            </a:srgbClr>
          </a:solidFill>
          <a:ln/>
        </p:spPr>
        <p:txBody>
          <a:bodyPr/>
          <a:lstStyle/>
          <a:p>
            <a:endParaRPr lang="en-US" dirty="0"/>
          </a:p>
        </p:txBody>
      </p:sp>
      <p:sp>
        <p:nvSpPr>
          <p:cNvPr id="4" name="Text 2"/>
          <p:cNvSpPr/>
          <p:nvPr/>
        </p:nvSpPr>
        <p:spPr>
          <a:xfrm>
            <a:off x="731520" y="1539095"/>
            <a:ext cx="7772400" cy="569450"/>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~2 bits of in(confidence)</a:t>
            </a:r>
            <a:endParaRPr lang="en-US" sz="3600" dirty="0"/>
          </a:p>
        </p:txBody>
      </p:sp>
      <p:sp>
        <p:nvSpPr>
          <p:cNvPr id="5" name="Text 3"/>
          <p:cNvSpPr/>
          <p:nvPr/>
        </p:nvSpPr>
        <p:spPr>
          <a:xfrm>
            <a:off x="731520" y="2654520"/>
            <a:ext cx="7897473" cy="1259350"/>
          </a:xfrm>
          <a:prstGeom prst="rect">
            <a:avLst/>
          </a:prstGeom>
          <a:noFill/>
          <a:ln/>
        </p:spPr>
        <p:txBody>
          <a:bodyPr wrap="square" lIns="0" tIns="0" rIns="0" bIns="0" rtlCol="0" anchor="ctr"/>
          <a:lstStyle/>
          <a:p>
            <a:r>
              <a:rPr lang="en-US" sz="1600" i="1" dirty="0">
                <a:solidFill>
                  <a:srgbClr val="3BFDB2"/>
                </a:solidFill>
                <a:latin typeface="Calibri" pitchFamily="34" charset="0"/>
                <a:ea typeface="Calibri" pitchFamily="34" charset="-122"/>
                <a:cs typeface="Calibri" pitchFamily="34" charset="-120"/>
              </a:rPr>
              <a:t>A journey through information entropy, LLM compression, and the mathematics of intelligence, assembled with the help of a system that stores approximately 2 bits of real information per parameter and confidently presents all the rest. What could possibly go wrong?</a:t>
            </a:r>
          </a:p>
          <a:p>
            <a:endParaRPr lang="en-US" sz="1600" dirty="0">
              <a:solidFill>
                <a:srgbClr val="3BFDB2"/>
              </a:solidFill>
            </a:endParaRPr>
          </a:p>
        </p:txBody>
      </p:sp>
      <p:sp>
        <p:nvSpPr>
          <p:cNvPr id="6" name="Text 4"/>
          <p:cNvSpPr/>
          <p:nvPr/>
        </p:nvSpPr>
        <p:spPr>
          <a:xfrm>
            <a:off x="731520" y="3840480"/>
            <a:ext cx="3657600" cy="457200"/>
          </a:xfrm>
          <a:prstGeom prst="rect">
            <a:avLst/>
          </a:prstGeom>
          <a:noFill/>
          <a:ln/>
        </p:spPr>
        <p:txBody>
          <a:bodyPr wrap="square" lIns="0" tIns="0" rIns="0" bIns="0" rtlCol="0" anchor="ctr"/>
          <a:lstStyle/>
          <a:p>
            <a:pPr marL="0" indent="0">
              <a:buNone/>
            </a:pPr>
            <a:r>
              <a:rPr lang="en-US" sz="1300" dirty="0">
                <a:solidFill>
                  <a:srgbClr val="9AA0A8"/>
                </a:solidFill>
                <a:latin typeface="Calibri" pitchFamily="34" charset="0"/>
                <a:ea typeface="Calibri" pitchFamily="34" charset="-122"/>
                <a:cs typeface="Calibri" pitchFamily="34" charset="-120"/>
              </a:rPr>
              <a:t>Carlo A. Venditti · 2026</a:t>
            </a:r>
            <a:endParaRPr lang="en-US" sz="1300" dirty="0"/>
          </a:p>
        </p:txBody>
      </p:sp>
      <p:sp>
        <p:nvSpPr>
          <p:cNvPr id="7" name="TitleUnderline">
            <a:extLst>
              <a:ext uri="{FF2B5EF4-FFF2-40B4-BE49-F238E27FC236}">
                <a16:creationId xmlns:a16="http://schemas.microsoft.com/office/drawing/2014/main" id="{B4B1801E-5138-2743-A2E3-222AE4E94ECB}"/>
              </a:ext>
            </a:extLst>
          </p:cNvPr>
          <p:cNvSpPr/>
          <p:nvPr/>
        </p:nvSpPr>
        <p:spPr>
          <a:xfrm>
            <a:off x="731520" y="2552700"/>
            <a:ext cx="4572000" cy="19050"/>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Tree>
    <p:extLst>
      <p:ext uri="{BB962C8B-B14F-4D97-AF65-F5344CB8AC3E}">
        <p14:creationId xmlns:p14="http://schemas.microsoft.com/office/powerpoint/2010/main" val="3200524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E141F"/>
        </a:solidFill>
        <a:effectLst/>
      </p:bgPr>
    </p:bg>
    <p:spTree>
      <p:nvGrpSpPr>
        <p:cNvPr id="1" name="">
          <a:extLst>
            <a:ext uri="{FF2B5EF4-FFF2-40B4-BE49-F238E27FC236}">
              <a16:creationId xmlns:a16="http://schemas.microsoft.com/office/drawing/2014/main" id="{46CA3EFD-E0B3-4792-F5E7-2AF8179ED152}"/>
            </a:ext>
          </a:extLst>
        </p:cNvPr>
        <p:cNvGrpSpPr/>
        <p:nvPr/>
      </p:nvGrpSpPr>
      <p:grpSpPr>
        <a:xfrm>
          <a:off x="0" y="0"/>
          <a:ext cx="0" cy="0"/>
          <a:chOff x="0" y="0"/>
          <a:chExt cx="0" cy="0"/>
        </a:xfrm>
      </p:grpSpPr>
      <p:sp>
        <p:nvSpPr>
          <p:cNvPr id="8" name="Text 1">
            <a:extLst>
              <a:ext uri="{FF2B5EF4-FFF2-40B4-BE49-F238E27FC236}">
                <a16:creationId xmlns:a16="http://schemas.microsoft.com/office/drawing/2014/main" id="{53C2E2F9-2BB0-5A69-B421-7D75C501441C}"/>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dirty="0">
                <a:solidFill>
                  <a:srgbClr val="F1F0EA"/>
                </a:solidFill>
                <a:latin typeface="Georgia" pitchFamily="34" charset="0"/>
                <a:ea typeface="Georgia" pitchFamily="34" charset="-122"/>
                <a:cs typeface="Georgia" pitchFamily="34" charset="-120"/>
              </a:rPr>
              <a:t>About me</a:t>
            </a:r>
            <a:endParaRPr lang="en-US" sz="3400" dirty="0"/>
          </a:p>
        </p:txBody>
      </p:sp>
      <p:sp>
        <p:nvSpPr>
          <p:cNvPr id="3" name="TitleUnderline">
            <a:extLst>
              <a:ext uri="{FF2B5EF4-FFF2-40B4-BE49-F238E27FC236}">
                <a16:creationId xmlns:a16="http://schemas.microsoft.com/office/drawing/2014/main" id="{440170D9-52C4-0A47-A5A4-B9D02A3A11E8}"/>
              </a:ext>
            </a:extLst>
          </p:cNvPr>
          <p:cNvSpPr/>
          <p:nvPr/>
        </p:nvSpPr>
        <p:spPr>
          <a:xfrm>
            <a:off x="546100" y="1320800"/>
            <a:ext cx="4064000" cy="19050"/>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TextBox 1">
            <a:extLst>
              <a:ext uri="{FF2B5EF4-FFF2-40B4-BE49-F238E27FC236}">
                <a16:creationId xmlns:a16="http://schemas.microsoft.com/office/drawing/2014/main" id="{5BE7C683-A3FB-978D-9252-A5CAF9B49B4D}"/>
              </a:ext>
            </a:extLst>
          </p:cNvPr>
          <p:cNvSpPr txBox="1"/>
          <p:nvPr/>
        </p:nvSpPr>
        <p:spPr>
          <a:xfrm>
            <a:off x="546100" y="1469390"/>
            <a:ext cx="7353300" cy="369332"/>
          </a:xfrm>
          <a:prstGeom prst="rect">
            <a:avLst/>
          </a:prstGeom>
          <a:noFill/>
        </p:spPr>
        <p:txBody>
          <a:bodyPr wrap="square" rtlCol="0">
            <a:spAutoFit/>
          </a:bodyPr>
          <a:lstStyle/>
          <a:p>
            <a:r>
              <a:rPr lang="en-US" dirty="0">
                <a:solidFill>
                  <a:schemeClr val="bg1">
                    <a:lumMod val="50000"/>
                  </a:schemeClr>
                </a:solidFill>
              </a:rPr>
              <a:t>Freelance software engineer, Linux enthusiast.</a:t>
            </a:r>
          </a:p>
        </p:txBody>
      </p:sp>
    </p:spTree>
    <p:extLst>
      <p:ext uri="{BB962C8B-B14F-4D97-AF65-F5344CB8AC3E}">
        <p14:creationId xmlns:p14="http://schemas.microsoft.com/office/powerpoint/2010/main" val="3584337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E141F"/>
        </a:solidFill>
        <a:effectLst/>
      </p:bgPr>
    </p:bg>
    <p:spTree>
      <p:nvGrpSpPr>
        <p:cNvPr id="1" name="">
          <a:extLst>
            <a:ext uri="{FF2B5EF4-FFF2-40B4-BE49-F238E27FC236}">
              <a16:creationId xmlns:a16="http://schemas.microsoft.com/office/drawing/2014/main" id="{15A230C5-B88F-0B7E-4AFE-2EBB8FE7BFFB}"/>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B22BAA42-6A3C-F21F-2D05-6DE0C76580E5}"/>
              </a:ext>
            </a:extLst>
          </p:cNvPr>
          <p:cNvSpPr/>
          <p:nvPr/>
        </p:nvSpPr>
        <p:spPr>
          <a:xfrm>
            <a:off x="0" y="4389120"/>
            <a:ext cx="9144000" cy="36576"/>
          </a:xfrm>
          <a:prstGeom prst="rect">
            <a:avLst/>
          </a:prstGeom>
          <a:gradFill flip="none" rotWithShape="1">
            <a:gsLst>
              <a:gs pos="28000">
                <a:srgbClr val="FFFF00"/>
              </a:gs>
              <a:gs pos="0">
                <a:srgbClr val="3BFDB2"/>
              </a:gs>
              <a:gs pos="67000">
                <a:srgbClr val="00B0F0"/>
              </a:gs>
              <a:gs pos="100000">
                <a:srgbClr val="BE5E56"/>
              </a:gs>
            </a:gsLst>
            <a:lin ang="0" scaled="1"/>
            <a:tileRect/>
          </a:gradFill>
          <a:ln/>
        </p:spPr>
        <p:txBody>
          <a:bodyPr/>
          <a:lstStyle/>
          <a:p>
            <a:endParaRPr lang="en-US" dirty="0"/>
          </a:p>
        </p:txBody>
      </p:sp>
      <p:sp>
        <p:nvSpPr>
          <p:cNvPr id="4" name="Text 2">
            <a:extLst>
              <a:ext uri="{FF2B5EF4-FFF2-40B4-BE49-F238E27FC236}">
                <a16:creationId xmlns:a16="http://schemas.microsoft.com/office/drawing/2014/main" id="{9F8377CF-E566-D618-C149-3E89629DE8F3}"/>
              </a:ext>
            </a:extLst>
          </p:cNvPr>
          <p:cNvSpPr/>
          <p:nvPr/>
        </p:nvSpPr>
        <p:spPr>
          <a:xfrm>
            <a:off x="184868" y="3131820"/>
            <a:ext cx="1186732" cy="2011680"/>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So…</a:t>
            </a:r>
            <a:endParaRPr lang="en-US" sz="3600" dirty="0"/>
          </a:p>
        </p:txBody>
      </p:sp>
      <p:sp>
        <p:nvSpPr>
          <p:cNvPr id="2" name="Text 2">
            <a:extLst>
              <a:ext uri="{FF2B5EF4-FFF2-40B4-BE49-F238E27FC236}">
                <a16:creationId xmlns:a16="http://schemas.microsoft.com/office/drawing/2014/main" id="{7B76CB8D-9476-B675-1C25-A41590880A60}"/>
              </a:ext>
            </a:extLst>
          </p:cNvPr>
          <p:cNvSpPr/>
          <p:nvPr/>
        </p:nvSpPr>
        <p:spPr>
          <a:xfrm>
            <a:off x="1371600" y="3131820"/>
            <a:ext cx="7772400" cy="2011680"/>
          </a:xfrm>
          <a:prstGeom prst="rect">
            <a:avLst/>
          </a:prstGeom>
          <a:noFill/>
          <a:ln/>
        </p:spPr>
        <p:txBody>
          <a:bodyPr wrap="square" lIns="0" tIns="0" rIns="0" bIns="0" rtlCol="0" anchor="ctr"/>
          <a:lstStyle/>
          <a:p>
            <a:pPr marL="0" indent="0">
              <a:lnSpc>
                <a:spcPct val="115000"/>
              </a:lnSpc>
              <a:buNone/>
            </a:pPr>
            <a:r>
              <a:rPr lang="en-US" sz="3600" b="1" dirty="0">
                <a:solidFill>
                  <a:srgbClr val="3BFDB2"/>
                </a:solidFill>
                <a:latin typeface="Georgia" pitchFamily="34" charset="0"/>
                <a:ea typeface="Georgia" pitchFamily="34" charset="-122"/>
                <a:cs typeface="Georgia" pitchFamily="34" charset="-120"/>
              </a:rPr>
              <a:t>What’s this</a:t>
            </a:r>
            <a:r>
              <a:rPr lang="en-US" sz="3600" b="1" dirty="0">
                <a:solidFill>
                  <a:srgbClr val="F1F0EA"/>
                </a:solidFill>
                <a:latin typeface="Georgia" pitchFamily="34" charset="0"/>
                <a:ea typeface="Georgia" pitchFamily="34" charset="-122"/>
                <a:cs typeface="Georgia" pitchFamily="34" charset="-120"/>
              </a:rPr>
              <a:t>?</a:t>
            </a:r>
            <a:endParaRPr lang="en-US" sz="3600" dirty="0"/>
          </a:p>
        </p:txBody>
      </p:sp>
    </p:spTree>
    <p:extLst>
      <p:ext uri="{BB962C8B-B14F-4D97-AF65-F5344CB8AC3E}">
        <p14:creationId xmlns:p14="http://schemas.microsoft.com/office/powerpoint/2010/main" val="1586233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8" presetClass="entr" presetSubtype="12"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trips(down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2CB8D69F-2FCB-2E00-8FA2-4D3C10FF6A7F}"/>
            </a:ext>
          </a:extLst>
        </p:cNvPr>
        <p:cNvGrpSpPr/>
        <p:nvPr/>
      </p:nvGrpSpPr>
      <p:grpSpPr>
        <a:xfrm>
          <a:off x="0" y="0"/>
          <a:ext cx="0" cy="0"/>
          <a:chOff x="0" y="0"/>
          <a:chExt cx="0" cy="0"/>
        </a:xfrm>
      </p:grpSpPr>
      <p:pic>
        <p:nvPicPr>
          <p:cNvPr id="8" name="Picture 7" descr="A black background with white text&#10;&#10;AI-generated content may be incorrect.">
            <a:extLst>
              <a:ext uri="{FF2B5EF4-FFF2-40B4-BE49-F238E27FC236}">
                <a16:creationId xmlns:a16="http://schemas.microsoft.com/office/drawing/2014/main" id="{B0BA62D9-439C-087D-7C86-F55A2136DACE}"/>
              </a:ext>
            </a:extLst>
          </p:cNvPr>
          <p:cNvPicPr>
            <a:picLocks noChangeAspect="1"/>
          </p:cNvPicPr>
          <p:nvPr/>
        </p:nvPicPr>
        <p:blipFill>
          <a:blip r:embed="rId3"/>
          <a:stretch>
            <a:fillRect/>
          </a:stretch>
        </p:blipFill>
        <p:spPr>
          <a:xfrm>
            <a:off x="1972840" y="1179095"/>
            <a:ext cx="6485360" cy="3666755"/>
          </a:xfrm>
          <a:prstGeom prst="rect">
            <a:avLst/>
          </a:prstGeom>
          <a:ln>
            <a:solidFill>
              <a:schemeClr val="accent1">
                <a:lumMod val="40000"/>
                <a:lumOff val="60000"/>
              </a:schemeClr>
            </a:solidFill>
          </a:ln>
        </p:spPr>
      </p:pic>
      <p:sp>
        <p:nvSpPr>
          <p:cNvPr id="10" name="Text 2">
            <a:extLst>
              <a:ext uri="{FF2B5EF4-FFF2-40B4-BE49-F238E27FC236}">
                <a16:creationId xmlns:a16="http://schemas.microsoft.com/office/drawing/2014/main" id="{71BAFD9E-4DA1-0741-C7E9-6D0169681C79}"/>
              </a:ext>
            </a:extLst>
          </p:cNvPr>
          <p:cNvSpPr/>
          <p:nvPr/>
        </p:nvSpPr>
        <p:spPr>
          <a:xfrm>
            <a:off x="685800"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This was the original idea:</a:t>
            </a:r>
            <a:endParaRPr lang="en-US" sz="3600" dirty="0"/>
          </a:p>
        </p:txBody>
      </p:sp>
    </p:spTree>
    <p:extLst>
      <p:ext uri="{BB962C8B-B14F-4D97-AF65-F5344CB8AC3E}">
        <p14:creationId xmlns:p14="http://schemas.microsoft.com/office/powerpoint/2010/main" val="3583102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390D2735-1904-3768-9DDA-06BA93CC8E37}"/>
            </a:ext>
          </a:extLst>
        </p:cNvPr>
        <p:cNvGrpSpPr/>
        <p:nvPr/>
      </p:nvGrpSpPr>
      <p:grpSpPr>
        <a:xfrm>
          <a:off x="0" y="0"/>
          <a:ext cx="0" cy="0"/>
          <a:chOff x="0" y="0"/>
          <a:chExt cx="0" cy="0"/>
        </a:xfrm>
      </p:grpSpPr>
      <p:sp>
        <p:nvSpPr>
          <p:cNvPr id="10" name="Text 2">
            <a:extLst>
              <a:ext uri="{FF2B5EF4-FFF2-40B4-BE49-F238E27FC236}">
                <a16:creationId xmlns:a16="http://schemas.microsoft.com/office/drawing/2014/main" id="{66B6E797-D8C4-FE54-D0F4-A715794D71F2}"/>
              </a:ext>
            </a:extLst>
          </p:cNvPr>
          <p:cNvSpPr/>
          <p:nvPr/>
        </p:nvSpPr>
        <p:spPr>
          <a:xfrm>
            <a:off x="390692"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But…</a:t>
            </a:r>
            <a:endParaRPr lang="en-US" sz="3600" dirty="0"/>
          </a:p>
        </p:txBody>
      </p:sp>
      <p:pic>
        <p:nvPicPr>
          <p:cNvPr id="12" name="Picture 11" descr="A screenshot of a computer&#10;&#10;AI-generated content may be incorrect.">
            <a:extLst>
              <a:ext uri="{FF2B5EF4-FFF2-40B4-BE49-F238E27FC236}">
                <a16:creationId xmlns:a16="http://schemas.microsoft.com/office/drawing/2014/main" id="{C313C6CF-C2B9-9944-8B05-BEE8D793C6C7}"/>
              </a:ext>
            </a:extLst>
          </p:cNvPr>
          <p:cNvPicPr>
            <a:picLocks noChangeAspect="1"/>
          </p:cNvPicPr>
          <p:nvPr/>
        </p:nvPicPr>
        <p:blipFill>
          <a:blip r:embed="rId3"/>
          <a:stretch>
            <a:fillRect/>
          </a:stretch>
        </p:blipFill>
        <p:spPr>
          <a:xfrm>
            <a:off x="390692" y="1556738"/>
            <a:ext cx="3567698" cy="3289112"/>
          </a:xfrm>
          <a:prstGeom prst="rect">
            <a:avLst/>
          </a:prstGeom>
        </p:spPr>
      </p:pic>
      <p:pic>
        <p:nvPicPr>
          <p:cNvPr id="14" name="Picture 13" descr="A screenshot of a video&#10;&#10;AI-generated content may be incorrect.">
            <a:extLst>
              <a:ext uri="{FF2B5EF4-FFF2-40B4-BE49-F238E27FC236}">
                <a16:creationId xmlns:a16="http://schemas.microsoft.com/office/drawing/2014/main" id="{5020D1E9-29B2-611F-4161-5B2A84AA1BD7}"/>
              </a:ext>
            </a:extLst>
          </p:cNvPr>
          <p:cNvPicPr>
            <a:picLocks noChangeAspect="1"/>
          </p:cNvPicPr>
          <p:nvPr/>
        </p:nvPicPr>
        <p:blipFill>
          <a:blip r:embed="rId4"/>
          <a:stretch>
            <a:fillRect/>
          </a:stretch>
        </p:blipFill>
        <p:spPr>
          <a:xfrm>
            <a:off x="3191202" y="297650"/>
            <a:ext cx="5562106" cy="1324617"/>
          </a:xfrm>
          <a:prstGeom prst="rect">
            <a:avLst/>
          </a:prstGeom>
        </p:spPr>
      </p:pic>
      <p:sp>
        <p:nvSpPr>
          <p:cNvPr id="17" name="Text 2">
            <a:extLst>
              <a:ext uri="{FF2B5EF4-FFF2-40B4-BE49-F238E27FC236}">
                <a16:creationId xmlns:a16="http://schemas.microsoft.com/office/drawing/2014/main" id="{319BC3BC-0418-C0C3-707F-204E22B9EC3B}"/>
              </a:ext>
            </a:extLst>
          </p:cNvPr>
          <p:cNvSpPr/>
          <p:nvPr/>
        </p:nvSpPr>
        <p:spPr>
          <a:xfrm>
            <a:off x="3958390" y="2186168"/>
            <a:ext cx="4794918" cy="2659682"/>
          </a:xfrm>
          <a:prstGeom prst="rect">
            <a:avLst/>
          </a:prstGeom>
          <a:noFill/>
          <a:ln/>
        </p:spPr>
        <p:txBody>
          <a:bodyPr wrap="square" lIns="0" tIns="0" rIns="0" bIns="0" rtlCol="0" anchor="b"/>
          <a:lstStyle/>
          <a:p>
            <a:pPr marL="0" indent="0" algn="r">
              <a:lnSpc>
                <a:spcPct val="115000"/>
              </a:lnSpc>
              <a:buNone/>
            </a:pPr>
            <a:r>
              <a:rPr lang="en-US" sz="3600" b="1" dirty="0">
                <a:solidFill>
                  <a:srgbClr val="F1F0EA"/>
                </a:solidFill>
                <a:latin typeface="Georgia" pitchFamily="34" charset="0"/>
              </a:rPr>
              <a:t>…and it’s late, man</a:t>
            </a:r>
            <a:endParaRPr lang="en-US" sz="3600" dirty="0"/>
          </a:p>
        </p:txBody>
      </p:sp>
    </p:spTree>
    <p:extLst>
      <p:ext uri="{BB962C8B-B14F-4D97-AF65-F5344CB8AC3E}">
        <p14:creationId xmlns:p14="http://schemas.microsoft.com/office/powerpoint/2010/main" val="121651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BF0D174A-3AE4-4E9A-FEE6-0F5645956376}"/>
            </a:ext>
          </a:extLst>
        </p:cNvPr>
        <p:cNvGrpSpPr/>
        <p:nvPr/>
      </p:nvGrpSpPr>
      <p:grpSpPr>
        <a:xfrm>
          <a:off x="0" y="0"/>
          <a:ext cx="0" cy="0"/>
          <a:chOff x="0" y="0"/>
          <a:chExt cx="0" cy="0"/>
        </a:xfrm>
      </p:grpSpPr>
      <p:sp>
        <p:nvSpPr>
          <p:cNvPr id="10" name="Text 2">
            <a:extLst>
              <a:ext uri="{FF2B5EF4-FFF2-40B4-BE49-F238E27FC236}">
                <a16:creationId xmlns:a16="http://schemas.microsoft.com/office/drawing/2014/main" id="{5302ADDA-F6E7-BD33-4C3F-79FFA9B87D57}"/>
              </a:ext>
            </a:extLst>
          </p:cNvPr>
          <p:cNvSpPr/>
          <p:nvPr/>
        </p:nvSpPr>
        <p:spPr>
          <a:xfrm>
            <a:off x="685800" y="2295023"/>
            <a:ext cx="7772400" cy="553453"/>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1F0EA"/>
                </a:solidFill>
                <a:effectLst/>
                <a:uLnTx/>
                <a:uFillTx/>
                <a:latin typeface="Georgia" pitchFamily="34" charset="0"/>
                <a:ea typeface="Georgia" pitchFamily="34" charset="-122"/>
                <a:cs typeface="Georgia" pitchFamily="34" charset="-120"/>
              </a:rPr>
              <a:t>Let’s start over</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7621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E141F"/>
        </a:solidFill>
        <a:effectLst/>
      </p:bgPr>
    </p:bg>
    <p:spTree>
      <p:nvGrpSpPr>
        <p:cNvPr id="1" name="">
          <a:extLst>
            <a:ext uri="{FF2B5EF4-FFF2-40B4-BE49-F238E27FC236}">
              <a16:creationId xmlns:a16="http://schemas.microsoft.com/office/drawing/2014/main" id="{1C1BA8DE-7C84-551A-2504-B80C1CD6C53E}"/>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141830FC-99BA-63B7-B54B-B1CBAF6FA55E}"/>
              </a:ext>
            </a:extLst>
          </p:cNvPr>
          <p:cNvSpPr/>
          <p:nvPr/>
        </p:nvSpPr>
        <p:spPr>
          <a:xfrm>
            <a:off x="0" y="4389120"/>
            <a:ext cx="9144000" cy="36576"/>
          </a:xfrm>
          <a:prstGeom prst="rect">
            <a:avLst/>
          </a:prstGeom>
          <a:solidFill>
            <a:srgbClr val="7FB69E">
              <a:alpha val="60000"/>
            </a:srgbClr>
          </a:solidFill>
          <a:ln/>
        </p:spPr>
        <p:txBody>
          <a:bodyPr/>
          <a:lstStyle/>
          <a:p>
            <a:endParaRPr lang="en-US" dirty="0"/>
          </a:p>
        </p:txBody>
      </p:sp>
      <p:sp>
        <p:nvSpPr>
          <p:cNvPr id="4" name="Text 2">
            <a:extLst>
              <a:ext uri="{FF2B5EF4-FFF2-40B4-BE49-F238E27FC236}">
                <a16:creationId xmlns:a16="http://schemas.microsoft.com/office/drawing/2014/main" id="{B61025A3-4AC2-1F49-1FD6-33724E75AF52}"/>
              </a:ext>
            </a:extLst>
          </p:cNvPr>
          <p:cNvSpPr/>
          <p:nvPr/>
        </p:nvSpPr>
        <p:spPr>
          <a:xfrm>
            <a:off x="731520" y="914400"/>
            <a:ext cx="7772400" cy="2011680"/>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Information, Intelligence,</a:t>
            </a:r>
            <a:endParaRPr lang="en-US" sz="3600" dirty="0"/>
          </a:p>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and What Weights Really Know</a:t>
            </a:r>
            <a:endParaRPr lang="en-US" sz="3600" dirty="0"/>
          </a:p>
        </p:txBody>
      </p:sp>
      <p:sp>
        <p:nvSpPr>
          <p:cNvPr id="5" name="Text 3">
            <a:extLst>
              <a:ext uri="{FF2B5EF4-FFF2-40B4-BE49-F238E27FC236}">
                <a16:creationId xmlns:a16="http://schemas.microsoft.com/office/drawing/2014/main" id="{C3BFCD2E-A981-9E3F-BA96-9F06537708A3}"/>
              </a:ext>
            </a:extLst>
          </p:cNvPr>
          <p:cNvSpPr/>
          <p:nvPr/>
        </p:nvSpPr>
        <p:spPr>
          <a:xfrm>
            <a:off x="731520" y="3017520"/>
            <a:ext cx="6400800" cy="548640"/>
          </a:xfrm>
          <a:prstGeom prst="rect">
            <a:avLst/>
          </a:prstGeom>
          <a:noFill/>
          <a:ln/>
        </p:spPr>
        <p:txBody>
          <a:bodyPr wrap="square" lIns="0" tIns="0" rIns="0" bIns="0" rtlCol="0" anchor="ctr"/>
          <a:lstStyle/>
          <a:p>
            <a:pPr marL="0" indent="0">
              <a:buNone/>
            </a:pPr>
            <a:r>
              <a:rPr lang="en-US" sz="1600" i="1" dirty="0">
                <a:solidFill>
                  <a:srgbClr val="3BFDB2"/>
                </a:solidFill>
                <a:latin typeface="Calibri" pitchFamily="34" charset="0"/>
                <a:ea typeface="Calibri" pitchFamily="34" charset="-122"/>
                <a:cs typeface="Calibri" pitchFamily="34" charset="-120"/>
              </a:rPr>
              <a:t>An information-theoretic tour from coin flips to AGI</a:t>
            </a:r>
            <a:endParaRPr lang="en-US" sz="1600" dirty="0">
              <a:solidFill>
                <a:srgbClr val="3BFDB2"/>
              </a:solidFill>
            </a:endParaRPr>
          </a:p>
        </p:txBody>
      </p:sp>
      <p:sp>
        <p:nvSpPr>
          <p:cNvPr id="6" name="Text 4">
            <a:extLst>
              <a:ext uri="{FF2B5EF4-FFF2-40B4-BE49-F238E27FC236}">
                <a16:creationId xmlns:a16="http://schemas.microsoft.com/office/drawing/2014/main" id="{03B80C94-8853-C370-25A2-A8D225D7D9EC}"/>
              </a:ext>
            </a:extLst>
          </p:cNvPr>
          <p:cNvSpPr/>
          <p:nvPr/>
        </p:nvSpPr>
        <p:spPr>
          <a:xfrm>
            <a:off x="731520" y="3840480"/>
            <a:ext cx="3657600" cy="457200"/>
          </a:xfrm>
          <a:prstGeom prst="rect">
            <a:avLst/>
          </a:prstGeom>
          <a:noFill/>
          <a:ln/>
        </p:spPr>
        <p:txBody>
          <a:bodyPr wrap="square" lIns="0" tIns="0" rIns="0" bIns="0" rtlCol="0" anchor="ctr"/>
          <a:lstStyle/>
          <a:p>
            <a:pPr marL="0" indent="0">
              <a:buNone/>
            </a:pPr>
            <a:r>
              <a:rPr lang="en-US" sz="1300" dirty="0">
                <a:solidFill>
                  <a:srgbClr val="9AA0A8"/>
                </a:solidFill>
                <a:latin typeface="Calibri" pitchFamily="34" charset="0"/>
                <a:ea typeface="Calibri" pitchFamily="34" charset="-122"/>
                <a:cs typeface="Calibri" pitchFamily="34" charset="-120"/>
              </a:rPr>
              <a:t>Carlo A. Venditti · 2026</a:t>
            </a:r>
            <a:endParaRPr lang="en-US" sz="1300" dirty="0"/>
          </a:p>
        </p:txBody>
      </p:sp>
      <p:sp>
        <p:nvSpPr>
          <p:cNvPr id="7" name="TitleUnderline">
            <a:extLst>
              <a:ext uri="{FF2B5EF4-FFF2-40B4-BE49-F238E27FC236}">
                <a16:creationId xmlns:a16="http://schemas.microsoft.com/office/drawing/2014/main" id="{0B16F0C6-A2B4-179A-C159-3B78C6DF4D84}"/>
              </a:ext>
            </a:extLst>
          </p:cNvPr>
          <p:cNvSpPr/>
          <p:nvPr/>
        </p:nvSpPr>
        <p:spPr>
          <a:xfrm>
            <a:off x="736600" y="2946400"/>
            <a:ext cx="4572000" cy="19050"/>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9" name="TitleUnderline">
            <a:extLst>
              <a:ext uri="{FF2B5EF4-FFF2-40B4-BE49-F238E27FC236}">
                <a16:creationId xmlns:a16="http://schemas.microsoft.com/office/drawing/2014/main" id="{A26B0505-54FC-7DAC-FC79-B75E18AD643D}"/>
              </a:ext>
            </a:extLst>
          </p:cNvPr>
          <p:cNvSpPr/>
          <p:nvPr/>
        </p:nvSpPr>
        <p:spPr>
          <a:xfrm flipH="1">
            <a:off x="722177" y="4059936"/>
            <a:ext cx="1600018" cy="45719"/>
          </a:xfrm>
          <a:prstGeom prst="rect">
            <a:avLst/>
          </a:prstGeom>
          <a:solidFill>
            <a:schemeClr val="accent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pic>
        <p:nvPicPr>
          <p:cNvPr id="11" name="Graphic 10">
            <a:extLst>
              <a:ext uri="{FF2B5EF4-FFF2-40B4-BE49-F238E27FC236}">
                <a16:creationId xmlns:a16="http://schemas.microsoft.com/office/drawing/2014/main" id="{CC496C71-1CCC-2D6C-D57B-0D35533B28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21203753">
            <a:off x="480192" y="3132472"/>
            <a:ext cx="2083987" cy="1472993"/>
          </a:xfrm>
          <a:prstGeom prst="rect">
            <a:avLst/>
          </a:prstGeom>
        </p:spPr>
      </p:pic>
      <p:sp>
        <p:nvSpPr>
          <p:cNvPr id="12" name="TitleUnderline">
            <a:extLst>
              <a:ext uri="{FF2B5EF4-FFF2-40B4-BE49-F238E27FC236}">
                <a16:creationId xmlns:a16="http://schemas.microsoft.com/office/drawing/2014/main" id="{958E61D8-87D0-C05A-4F38-BDA9A99B510A}"/>
              </a:ext>
            </a:extLst>
          </p:cNvPr>
          <p:cNvSpPr/>
          <p:nvPr/>
        </p:nvSpPr>
        <p:spPr>
          <a:xfrm>
            <a:off x="640080" y="1589616"/>
            <a:ext cx="6268720" cy="160866"/>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3" name="TitleUnderline">
            <a:extLst>
              <a:ext uri="{FF2B5EF4-FFF2-40B4-BE49-F238E27FC236}">
                <a16:creationId xmlns:a16="http://schemas.microsoft.com/office/drawing/2014/main" id="{CC24A96D-C33A-0A15-E62F-78E715A438B1}"/>
              </a:ext>
            </a:extLst>
          </p:cNvPr>
          <p:cNvSpPr/>
          <p:nvPr/>
        </p:nvSpPr>
        <p:spPr>
          <a:xfrm>
            <a:off x="640079" y="2205567"/>
            <a:ext cx="7506393" cy="141816"/>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4" name="Text 2">
            <a:extLst>
              <a:ext uri="{FF2B5EF4-FFF2-40B4-BE49-F238E27FC236}">
                <a16:creationId xmlns:a16="http://schemas.microsoft.com/office/drawing/2014/main" id="{1347E2C5-B1C2-43AD-67BC-3FD5B7EEB258}"/>
              </a:ext>
            </a:extLst>
          </p:cNvPr>
          <p:cNvSpPr/>
          <p:nvPr/>
        </p:nvSpPr>
        <p:spPr>
          <a:xfrm rot="21111586">
            <a:off x="1250372" y="1409476"/>
            <a:ext cx="6277494" cy="822311"/>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highlight>
                  <a:srgbClr val="000000"/>
                </a:highlight>
                <a:latin typeface="Georgia" pitchFamily="34" charset="0"/>
                <a:ea typeface="Georgia" pitchFamily="34" charset="-122"/>
                <a:cs typeface="Georgia" pitchFamily="34" charset="-120"/>
              </a:rPr>
              <a:t>~2 bits of in(confidence)</a:t>
            </a:r>
            <a:endParaRPr lang="en-US" sz="3600" dirty="0">
              <a:highlight>
                <a:srgbClr val="000000"/>
              </a:highlight>
            </a:endParaRPr>
          </a:p>
        </p:txBody>
      </p:sp>
      <p:sp>
        <p:nvSpPr>
          <p:cNvPr id="2" name="TextBox 1">
            <a:extLst>
              <a:ext uri="{FF2B5EF4-FFF2-40B4-BE49-F238E27FC236}">
                <a16:creationId xmlns:a16="http://schemas.microsoft.com/office/drawing/2014/main" id="{78F753B9-B7E3-B5CB-6997-FFAFDF353745}"/>
              </a:ext>
            </a:extLst>
          </p:cNvPr>
          <p:cNvSpPr txBox="1"/>
          <p:nvPr/>
        </p:nvSpPr>
        <p:spPr>
          <a:xfrm>
            <a:off x="2448656" y="3610094"/>
            <a:ext cx="4338128" cy="369332"/>
          </a:xfrm>
          <a:prstGeom prst="rect">
            <a:avLst/>
          </a:prstGeom>
          <a:noFill/>
        </p:spPr>
        <p:txBody>
          <a:bodyPr wrap="square" rtlCol="0">
            <a:spAutoFit/>
          </a:bodyPr>
          <a:lstStyle/>
          <a:p>
            <a:r>
              <a:rPr lang="en-US" dirty="0">
                <a:solidFill>
                  <a:schemeClr val="bg1"/>
                </a:solidFill>
                <a:highlight>
                  <a:srgbClr val="000000"/>
                </a:highlight>
              </a:rPr>
              <a:t>Yes, they can use PowerPoint now</a:t>
            </a:r>
          </a:p>
        </p:txBody>
      </p:sp>
      <p:sp>
        <p:nvSpPr>
          <p:cNvPr id="8" name="TextBox 7">
            <a:extLst>
              <a:ext uri="{FF2B5EF4-FFF2-40B4-BE49-F238E27FC236}">
                <a16:creationId xmlns:a16="http://schemas.microsoft.com/office/drawing/2014/main" id="{DB899E38-0DCD-DB6A-8922-AD42996CB42A}"/>
              </a:ext>
            </a:extLst>
          </p:cNvPr>
          <p:cNvSpPr txBox="1"/>
          <p:nvPr/>
        </p:nvSpPr>
        <p:spPr>
          <a:xfrm>
            <a:off x="2448655" y="3979244"/>
            <a:ext cx="5634295" cy="369332"/>
          </a:xfrm>
          <a:prstGeom prst="rect">
            <a:avLst/>
          </a:prstGeom>
          <a:noFill/>
        </p:spPr>
        <p:txBody>
          <a:bodyPr wrap="square" rtlCol="0">
            <a:spAutoFit/>
          </a:bodyPr>
          <a:lstStyle/>
          <a:p>
            <a:r>
              <a:rPr lang="en-US" dirty="0">
                <a:solidFill>
                  <a:schemeClr val="bg1"/>
                </a:solidFill>
                <a:highlight>
                  <a:srgbClr val="000000"/>
                </a:highlight>
              </a:rPr>
              <a:t>Yes, PowerPoint is horrible to work with in any case</a:t>
            </a:r>
          </a:p>
        </p:txBody>
      </p:sp>
      <p:sp>
        <p:nvSpPr>
          <p:cNvPr id="16" name="TextBox 15">
            <a:extLst>
              <a:ext uri="{FF2B5EF4-FFF2-40B4-BE49-F238E27FC236}">
                <a16:creationId xmlns:a16="http://schemas.microsoft.com/office/drawing/2014/main" id="{60BFCB77-A209-A9CC-91C7-5BEFC2D4A7EB}"/>
              </a:ext>
            </a:extLst>
          </p:cNvPr>
          <p:cNvSpPr txBox="1"/>
          <p:nvPr/>
        </p:nvSpPr>
        <p:spPr>
          <a:xfrm rot="21261998">
            <a:off x="925655" y="3557237"/>
            <a:ext cx="1911316" cy="584775"/>
          </a:xfrm>
          <a:prstGeom prst="rect">
            <a:avLst/>
          </a:prstGeom>
          <a:noFill/>
        </p:spPr>
        <p:txBody>
          <a:bodyPr wrap="square" rtlCol="0">
            <a:spAutoFit/>
          </a:bodyPr>
          <a:lstStyle/>
          <a:p>
            <a:r>
              <a:rPr lang="en-US" sz="3200" dirty="0">
                <a:solidFill>
                  <a:schemeClr val="bg1"/>
                </a:solidFill>
                <a:highlight>
                  <a:srgbClr val="000000"/>
                </a:highlight>
                <a:latin typeface="Georgia" panose="02040502050405020303" pitchFamily="18" charset="0"/>
              </a:rPr>
              <a:t>Claudio</a:t>
            </a:r>
          </a:p>
        </p:txBody>
      </p:sp>
    </p:spTree>
    <p:extLst>
      <p:ext uri="{BB962C8B-B14F-4D97-AF65-F5344CB8AC3E}">
        <p14:creationId xmlns:p14="http://schemas.microsoft.com/office/powerpoint/2010/main" val="4079283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par>
                          <p:cTn id="8" fill="hold">
                            <p:stCondLst>
                              <p:cond delay="500"/>
                            </p:stCondLst>
                            <p:childTnLst>
                              <p:par>
                                <p:cTn id="9" presetID="37"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1000"/>
                                        <p:tgtEl>
                                          <p:spTgt spid="11"/>
                                        </p:tgtEl>
                                      </p:cBhvr>
                                    </p:animEffect>
                                    <p:anim calcmode="lin" valueType="num">
                                      <p:cBhvr>
                                        <p:cTn id="12" dur="1000" fill="hold"/>
                                        <p:tgtEl>
                                          <p:spTgt spid="11"/>
                                        </p:tgtEl>
                                        <p:attrNameLst>
                                          <p:attrName>ppt_x</p:attrName>
                                        </p:attrNameLst>
                                      </p:cBhvr>
                                      <p:tavLst>
                                        <p:tav tm="0">
                                          <p:val>
                                            <p:strVal val="#ppt_x"/>
                                          </p:val>
                                        </p:tav>
                                        <p:tav tm="100000">
                                          <p:val>
                                            <p:strVal val="#ppt_x"/>
                                          </p:val>
                                        </p:tav>
                                      </p:tavLst>
                                    </p:anim>
                                    <p:anim calcmode="lin" valueType="num">
                                      <p:cBhvr>
                                        <p:cTn id="13" dur="900" decel="100000" fill="hold"/>
                                        <p:tgtEl>
                                          <p:spTgt spid="11"/>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11"/>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p:tgtEl>
                                          <p:spTgt spid="12"/>
                                        </p:tgtEl>
                                        <p:attrNameLst>
                                          <p:attrName>ppt_y</p:attrName>
                                        </p:attrNameLst>
                                      </p:cBhvr>
                                      <p:tavLst>
                                        <p:tav tm="0">
                                          <p:val>
                                            <p:strVal val="#ppt_y+#ppt_h*1.125000"/>
                                          </p:val>
                                        </p:tav>
                                        <p:tav tm="100000">
                                          <p:val>
                                            <p:strVal val="#ppt_y"/>
                                          </p:val>
                                        </p:tav>
                                      </p:tavLst>
                                    </p:anim>
                                    <p:animEffect transition="in" filter="wipe(up)">
                                      <p:cBhvr>
                                        <p:cTn id="20" dur="500"/>
                                        <p:tgtEl>
                                          <p:spTgt spid="12"/>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p:tgtEl>
                                          <p:spTgt spid="13"/>
                                        </p:tgtEl>
                                        <p:attrNameLst>
                                          <p:attrName>ppt_y</p:attrName>
                                        </p:attrNameLst>
                                      </p:cBhvr>
                                      <p:tavLst>
                                        <p:tav tm="0">
                                          <p:val>
                                            <p:strVal val="#ppt_y+#ppt_h*1.125000"/>
                                          </p:val>
                                        </p:tav>
                                        <p:tav tm="100000">
                                          <p:val>
                                            <p:strVal val="#ppt_y"/>
                                          </p:val>
                                        </p:tav>
                                      </p:tavLst>
                                    </p:anim>
                                    <p:animEffect transition="in" filter="wipe(up)">
                                      <p:cBhvr>
                                        <p:cTn id="24" dur="500"/>
                                        <p:tgtEl>
                                          <p:spTgt spid="13"/>
                                        </p:tgtEl>
                                      </p:cBhvr>
                                    </p:animEffect>
                                  </p:childTnLst>
                                </p:cTn>
                              </p:par>
                            </p:childTnLst>
                          </p:cTn>
                        </p:par>
                        <p:par>
                          <p:cTn id="25" fill="hold">
                            <p:stCondLst>
                              <p:cond delay="500"/>
                            </p:stCondLst>
                            <p:childTnLst>
                              <p:par>
                                <p:cTn id="26" presetID="53" presetClass="entr" presetSubtype="16"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2"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14" grpId="0" animBg="1"/>
      <p:bldP spid="2" grpId="2"/>
      <p:bldP spid="8" grpId="1"/>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396C839E-13FE-9BD4-A88A-1516A198E79B}"/>
            </a:ext>
          </a:extLst>
        </p:cNvPr>
        <p:cNvGrpSpPr/>
        <p:nvPr/>
      </p:nvGrpSpPr>
      <p:grpSpPr>
        <a:xfrm>
          <a:off x="0" y="0"/>
          <a:ext cx="0" cy="0"/>
          <a:chOff x="0" y="0"/>
          <a:chExt cx="0" cy="0"/>
        </a:xfrm>
      </p:grpSpPr>
      <p:pic>
        <p:nvPicPr>
          <p:cNvPr id="8" name="Picture 7" descr="A black background with white text&#10;&#10;AI-generated content may be incorrect.">
            <a:extLst>
              <a:ext uri="{FF2B5EF4-FFF2-40B4-BE49-F238E27FC236}">
                <a16:creationId xmlns:a16="http://schemas.microsoft.com/office/drawing/2014/main" id="{9D04DA2B-C1AF-B53F-8B1B-072A201833E3}"/>
              </a:ext>
            </a:extLst>
          </p:cNvPr>
          <p:cNvPicPr>
            <a:picLocks noChangeAspect="1"/>
          </p:cNvPicPr>
          <p:nvPr/>
        </p:nvPicPr>
        <p:blipFill>
          <a:blip r:embed="rId3"/>
          <a:stretch>
            <a:fillRect/>
          </a:stretch>
        </p:blipFill>
        <p:spPr>
          <a:xfrm>
            <a:off x="1972840" y="1179095"/>
            <a:ext cx="6485360" cy="3666755"/>
          </a:xfrm>
          <a:prstGeom prst="rect">
            <a:avLst/>
          </a:prstGeom>
          <a:ln>
            <a:solidFill>
              <a:schemeClr val="accent1">
                <a:lumMod val="40000"/>
                <a:lumOff val="60000"/>
              </a:schemeClr>
            </a:solidFill>
          </a:ln>
        </p:spPr>
      </p:pic>
      <p:sp>
        <p:nvSpPr>
          <p:cNvPr id="10" name="Text 2">
            <a:extLst>
              <a:ext uri="{FF2B5EF4-FFF2-40B4-BE49-F238E27FC236}">
                <a16:creationId xmlns:a16="http://schemas.microsoft.com/office/drawing/2014/main" id="{4DE06586-D94F-3C2D-0777-9E60DC756F3E}"/>
              </a:ext>
            </a:extLst>
          </p:cNvPr>
          <p:cNvSpPr/>
          <p:nvPr/>
        </p:nvSpPr>
        <p:spPr>
          <a:xfrm>
            <a:off x="685800"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This is a kind of “meta-talk”</a:t>
            </a:r>
            <a:endParaRPr lang="en-US" sz="3600" dirty="0"/>
          </a:p>
        </p:txBody>
      </p:sp>
    </p:spTree>
    <p:extLst>
      <p:ext uri="{BB962C8B-B14F-4D97-AF65-F5344CB8AC3E}">
        <p14:creationId xmlns:p14="http://schemas.microsoft.com/office/powerpoint/2010/main" val="159567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4BC71DC2-DBBF-6E97-CCAB-3E21AB58902B}"/>
            </a:ext>
          </a:extLst>
        </p:cNvPr>
        <p:cNvGrpSpPr/>
        <p:nvPr/>
      </p:nvGrpSpPr>
      <p:grpSpPr>
        <a:xfrm>
          <a:off x="0" y="0"/>
          <a:ext cx="0" cy="0"/>
          <a:chOff x="0" y="0"/>
          <a:chExt cx="0" cy="0"/>
        </a:xfrm>
      </p:grpSpPr>
      <p:sp>
        <p:nvSpPr>
          <p:cNvPr id="10" name="Text 2">
            <a:extLst>
              <a:ext uri="{FF2B5EF4-FFF2-40B4-BE49-F238E27FC236}">
                <a16:creationId xmlns:a16="http://schemas.microsoft.com/office/drawing/2014/main" id="{1E847010-B6DF-2F78-68EC-8FD36E599000}"/>
              </a:ext>
            </a:extLst>
          </p:cNvPr>
          <p:cNvSpPr/>
          <p:nvPr/>
        </p:nvSpPr>
        <p:spPr>
          <a:xfrm>
            <a:off x="685800"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This is a kind of “meta-talk”</a:t>
            </a:r>
            <a:endParaRPr lang="en-US" sz="3600" dirty="0"/>
          </a:p>
        </p:txBody>
      </p:sp>
      <p:pic>
        <p:nvPicPr>
          <p:cNvPr id="5" name="Picture 4" descr="A screenshot of a computer&#10;&#10;AI-generated content may be incorrect.">
            <a:extLst>
              <a:ext uri="{FF2B5EF4-FFF2-40B4-BE49-F238E27FC236}">
                <a16:creationId xmlns:a16="http://schemas.microsoft.com/office/drawing/2014/main" id="{666DF65B-62BC-1D88-6E05-DEC4882162EB}"/>
              </a:ext>
            </a:extLst>
          </p:cNvPr>
          <p:cNvPicPr>
            <a:picLocks noChangeAspect="1"/>
          </p:cNvPicPr>
          <p:nvPr/>
        </p:nvPicPr>
        <p:blipFill>
          <a:blip r:embed="rId3"/>
          <a:stretch>
            <a:fillRect/>
          </a:stretch>
        </p:blipFill>
        <p:spPr>
          <a:xfrm>
            <a:off x="1972840" y="1179095"/>
            <a:ext cx="6485360" cy="3666755"/>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2569927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AE508D39-2DF0-F893-CAF3-FF0A316F6D17}"/>
            </a:ext>
          </a:extLst>
        </p:cNvPr>
        <p:cNvGrpSpPr/>
        <p:nvPr/>
      </p:nvGrpSpPr>
      <p:grpSpPr>
        <a:xfrm>
          <a:off x="0" y="0"/>
          <a:ext cx="0" cy="0"/>
          <a:chOff x="0" y="0"/>
          <a:chExt cx="0" cy="0"/>
        </a:xfrm>
      </p:grpSpPr>
      <p:sp>
        <p:nvSpPr>
          <p:cNvPr id="10" name="Text 2">
            <a:extLst>
              <a:ext uri="{FF2B5EF4-FFF2-40B4-BE49-F238E27FC236}">
                <a16:creationId xmlns:a16="http://schemas.microsoft.com/office/drawing/2014/main" id="{287454A3-1842-9559-B158-44EAE9B70A96}"/>
              </a:ext>
            </a:extLst>
          </p:cNvPr>
          <p:cNvSpPr/>
          <p:nvPr/>
        </p:nvSpPr>
        <p:spPr>
          <a:xfrm>
            <a:off x="685800"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This is a kind of “meta-talk”</a:t>
            </a:r>
            <a:endParaRPr lang="en-US" sz="3600" dirty="0"/>
          </a:p>
        </p:txBody>
      </p:sp>
      <p:pic>
        <p:nvPicPr>
          <p:cNvPr id="21" name="Picture 20" descr="A black screen with white text&#10;&#10;AI-generated content may be incorrect.">
            <a:extLst>
              <a:ext uri="{FF2B5EF4-FFF2-40B4-BE49-F238E27FC236}">
                <a16:creationId xmlns:a16="http://schemas.microsoft.com/office/drawing/2014/main" id="{95331A5B-3011-FCFE-7EA9-23421491AB1D}"/>
              </a:ext>
            </a:extLst>
          </p:cNvPr>
          <p:cNvPicPr>
            <a:picLocks noChangeAspect="1"/>
          </p:cNvPicPr>
          <p:nvPr/>
        </p:nvPicPr>
        <p:blipFill>
          <a:blip r:embed="rId3"/>
          <a:stretch>
            <a:fillRect/>
          </a:stretch>
        </p:blipFill>
        <p:spPr>
          <a:xfrm>
            <a:off x="1962318" y="1179096"/>
            <a:ext cx="6495882" cy="3666754"/>
          </a:xfrm>
          <a:prstGeom prst="rect">
            <a:avLst/>
          </a:prstGeom>
          <a:ln>
            <a:solidFill>
              <a:schemeClr val="accent1">
                <a:lumMod val="40000"/>
                <a:lumOff val="60000"/>
              </a:schemeClr>
            </a:solidFill>
          </a:ln>
        </p:spPr>
      </p:pic>
    </p:spTree>
    <p:extLst>
      <p:ext uri="{BB962C8B-B14F-4D97-AF65-F5344CB8AC3E}">
        <p14:creationId xmlns:p14="http://schemas.microsoft.com/office/powerpoint/2010/main" val="3891625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5780D404-0069-7BED-3B2C-BA2B9164152B}"/>
            </a:ext>
          </a:extLst>
        </p:cNvPr>
        <p:cNvGrpSpPr/>
        <p:nvPr/>
      </p:nvGrpSpPr>
      <p:grpSpPr>
        <a:xfrm>
          <a:off x="0" y="0"/>
          <a:ext cx="0" cy="0"/>
          <a:chOff x="0" y="0"/>
          <a:chExt cx="0" cy="0"/>
        </a:xfrm>
      </p:grpSpPr>
      <p:pic>
        <p:nvPicPr>
          <p:cNvPr id="2" name="Picture 1" descr="A screenshot of a black and white message&#10;&#10;AI-generated content may be incorrect.">
            <a:extLst>
              <a:ext uri="{FF2B5EF4-FFF2-40B4-BE49-F238E27FC236}">
                <a16:creationId xmlns:a16="http://schemas.microsoft.com/office/drawing/2014/main" id="{5A0B0C5A-DE86-66D4-495D-307591185912}"/>
              </a:ext>
            </a:extLst>
          </p:cNvPr>
          <p:cNvPicPr>
            <a:picLocks noChangeAspect="1"/>
          </p:cNvPicPr>
          <p:nvPr/>
        </p:nvPicPr>
        <p:blipFill>
          <a:blip r:embed="rId3"/>
          <a:stretch>
            <a:fillRect/>
          </a:stretch>
        </p:blipFill>
        <p:spPr>
          <a:xfrm>
            <a:off x="685800" y="1525653"/>
            <a:ext cx="7772400" cy="2092193"/>
          </a:xfrm>
          <a:prstGeom prst="rect">
            <a:avLst/>
          </a:prstGeom>
        </p:spPr>
      </p:pic>
      <p:sp>
        <p:nvSpPr>
          <p:cNvPr id="3" name="Up Arrow 2">
            <a:extLst>
              <a:ext uri="{FF2B5EF4-FFF2-40B4-BE49-F238E27FC236}">
                <a16:creationId xmlns:a16="http://schemas.microsoft.com/office/drawing/2014/main" id="{1100F451-A462-1861-CDF0-A1DCAEBF9408}"/>
              </a:ext>
            </a:extLst>
          </p:cNvPr>
          <p:cNvSpPr/>
          <p:nvPr/>
        </p:nvSpPr>
        <p:spPr>
          <a:xfrm rot="12890862">
            <a:off x="2156604" y="1328467"/>
            <a:ext cx="448573" cy="526211"/>
          </a:xfrm>
          <a:prstGeom prst="up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screen&#10;&#10;AI-generated content may be incorrect.">
            <a:extLst>
              <a:ext uri="{FF2B5EF4-FFF2-40B4-BE49-F238E27FC236}">
                <a16:creationId xmlns:a16="http://schemas.microsoft.com/office/drawing/2014/main" id="{8AE6F874-3E57-46FF-7226-646BD20C244B}"/>
              </a:ext>
            </a:extLst>
          </p:cNvPr>
          <p:cNvPicPr>
            <a:picLocks noChangeAspect="1"/>
          </p:cNvPicPr>
          <p:nvPr/>
        </p:nvPicPr>
        <p:blipFill>
          <a:blip r:embed="rId4"/>
          <a:stretch>
            <a:fillRect/>
          </a:stretch>
        </p:blipFill>
        <p:spPr>
          <a:xfrm>
            <a:off x="1118587" y="0"/>
            <a:ext cx="6906825" cy="5143500"/>
          </a:xfrm>
          <a:prstGeom prst="rect">
            <a:avLst/>
          </a:prstGeom>
        </p:spPr>
      </p:pic>
      <p:sp>
        <p:nvSpPr>
          <p:cNvPr id="12" name="Text 2">
            <a:extLst>
              <a:ext uri="{FF2B5EF4-FFF2-40B4-BE49-F238E27FC236}">
                <a16:creationId xmlns:a16="http://schemas.microsoft.com/office/drawing/2014/main" id="{9F07025D-3C6E-2F05-C361-52E774692841}"/>
              </a:ext>
            </a:extLst>
          </p:cNvPr>
          <p:cNvSpPr/>
          <p:nvPr/>
        </p:nvSpPr>
        <p:spPr>
          <a:xfrm>
            <a:off x="685800"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Methodological notes</a:t>
            </a:r>
            <a:endParaRPr lang="en-US" sz="3600" dirty="0"/>
          </a:p>
        </p:txBody>
      </p:sp>
    </p:spTree>
    <p:extLst>
      <p:ext uri="{BB962C8B-B14F-4D97-AF65-F5344CB8AC3E}">
        <p14:creationId xmlns:p14="http://schemas.microsoft.com/office/powerpoint/2010/main" val="192933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6A8981CC-F10D-FE24-BA3E-2407613EC3A4}"/>
            </a:ext>
          </a:extLst>
        </p:cNvPr>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AD4F4A59-CCF1-05DF-C06A-40BA214D085B}"/>
              </a:ext>
            </a:extLst>
          </p:cNvPr>
          <p:cNvPicPr>
            <a:picLocks noChangeAspect="1"/>
          </p:cNvPicPr>
          <p:nvPr/>
        </p:nvPicPr>
        <p:blipFill>
          <a:blip r:embed="rId3"/>
          <a:srcRect l="80860" t="84202" r="1"/>
          <a:stretch>
            <a:fillRect/>
          </a:stretch>
        </p:blipFill>
        <p:spPr>
          <a:xfrm>
            <a:off x="4572000" y="1756921"/>
            <a:ext cx="3786179" cy="1629657"/>
          </a:xfrm>
          <a:prstGeom prst="rect">
            <a:avLst/>
          </a:prstGeom>
          <a:ln>
            <a:solidFill>
              <a:srgbClr val="C00000"/>
            </a:solidFill>
          </a:ln>
        </p:spPr>
      </p:pic>
      <p:pic>
        <p:nvPicPr>
          <p:cNvPr id="4" name="Picture 3" descr="A screenshot of a computer&#10;&#10;AI-generated content may be incorrect.">
            <a:extLst>
              <a:ext uri="{FF2B5EF4-FFF2-40B4-BE49-F238E27FC236}">
                <a16:creationId xmlns:a16="http://schemas.microsoft.com/office/drawing/2014/main" id="{5BAF5860-1A4B-3BE6-24BC-1DC76487DEF2}"/>
              </a:ext>
            </a:extLst>
          </p:cNvPr>
          <p:cNvPicPr>
            <a:picLocks noChangeAspect="1"/>
          </p:cNvPicPr>
          <p:nvPr/>
        </p:nvPicPr>
        <p:blipFill>
          <a:blip r:embed="rId3"/>
          <a:srcRect l="81905" t="19891" r="1810" b="43616"/>
          <a:stretch>
            <a:fillRect/>
          </a:stretch>
        </p:blipFill>
        <p:spPr>
          <a:xfrm>
            <a:off x="785821" y="1045985"/>
            <a:ext cx="2611440" cy="3051528"/>
          </a:xfrm>
          <a:prstGeom prst="rect">
            <a:avLst/>
          </a:prstGeom>
          <a:ln>
            <a:solidFill>
              <a:srgbClr val="C00000"/>
            </a:solidFill>
          </a:ln>
        </p:spPr>
      </p:pic>
      <p:sp>
        <p:nvSpPr>
          <p:cNvPr id="8" name="Text 2">
            <a:extLst>
              <a:ext uri="{FF2B5EF4-FFF2-40B4-BE49-F238E27FC236}">
                <a16:creationId xmlns:a16="http://schemas.microsoft.com/office/drawing/2014/main" id="{DE9F240B-6469-6198-FB2F-533C4A561E51}"/>
              </a:ext>
            </a:extLst>
          </p:cNvPr>
          <p:cNvSpPr/>
          <p:nvPr/>
        </p:nvSpPr>
        <p:spPr>
          <a:xfrm>
            <a:off x="685800"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Methodological notes</a:t>
            </a:r>
            <a:endParaRPr lang="en-US" sz="3600" dirty="0"/>
          </a:p>
        </p:txBody>
      </p:sp>
    </p:spTree>
    <p:extLst>
      <p:ext uri="{BB962C8B-B14F-4D97-AF65-F5344CB8AC3E}">
        <p14:creationId xmlns:p14="http://schemas.microsoft.com/office/powerpoint/2010/main" val="419440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19B8C67C-9CD9-CA38-037D-98946D54469D}"/>
            </a:ext>
          </a:extLst>
        </p:cNvPr>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A6B3C963-18E1-5814-2BB5-5294D8EFD720}"/>
              </a:ext>
            </a:extLst>
          </p:cNvPr>
          <p:cNvPicPr>
            <a:picLocks noChangeAspect="1"/>
          </p:cNvPicPr>
          <p:nvPr/>
        </p:nvPicPr>
        <p:blipFill>
          <a:blip r:embed="rId3"/>
          <a:stretch>
            <a:fillRect/>
          </a:stretch>
        </p:blipFill>
        <p:spPr>
          <a:xfrm>
            <a:off x="-719965" y="0"/>
            <a:ext cx="9863965" cy="5143500"/>
          </a:xfrm>
          <a:prstGeom prst="rect">
            <a:avLst/>
          </a:prstGeom>
          <a:ln>
            <a:solidFill>
              <a:srgbClr val="C00000"/>
            </a:solidFill>
          </a:ln>
        </p:spPr>
      </p:pic>
      <p:pic>
        <p:nvPicPr>
          <p:cNvPr id="11" name="Picture 10" descr="A screenshot of a black screen&#10;&#10;AI-generated content may be incorrect.">
            <a:extLst>
              <a:ext uri="{FF2B5EF4-FFF2-40B4-BE49-F238E27FC236}">
                <a16:creationId xmlns:a16="http://schemas.microsoft.com/office/drawing/2014/main" id="{19A1E2E2-B838-CB76-7CE0-A2D22A4A0CD7}"/>
              </a:ext>
            </a:extLst>
          </p:cNvPr>
          <p:cNvPicPr>
            <a:picLocks noChangeAspect="1"/>
          </p:cNvPicPr>
          <p:nvPr/>
        </p:nvPicPr>
        <p:blipFill>
          <a:blip r:embed="rId4"/>
          <a:stretch>
            <a:fillRect/>
          </a:stretch>
        </p:blipFill>
        <p:spPr>
          <a:xfrm>
            <a:off x="2829057" y="0"/>
            <a:ext cx="2765919" cy="5143500"/>
          </a:xfrm>
          <a:prstGeom prst="rect">
            <a:avLst/>
          </a:prstGeom>
          <a:ln>
            <a:solidFill>
              <a:srgbClr val="C00000"/>
            </a:solidFill>
          </a:ln>
        </p:spPr>
      </p:pic>
      <p:sp>
        <p:nvSpPr>
          <p:cNvPr id="2" name="Text 2">
            <a:extLst>
              <a:ext uri="{FF2B5EF4-FFF2-40B4-BE49-F238E27FC236}">
                <a16:creationId xmlns:a16="http://schemas.microsoft.com/office/drawing/2014/main" id="{E7F41570-7F3B-E679-4BB7-D691C94304E7}"/>
              </a:ext>
            </a:extLst>
          </p:cNvPr>
          <p:cNvSpPr/>
          <p:nvPr/>
        </p:nvSpPr>
        <p:spPr>
          <a:xfrm>
            <a:off x="685800" y="297650"/>
            <a:ext cx="7772400" cy="553453"/>
          </a:xfrm>
          <a:prstGeom prst="rect">
            <a:avLst/>
          </a:prstGeom>
          <a:noFill/>
          <a:ln/>
        </p:spPr>
        <p:txBody>
          <a:bodyPr wrap="square" lIns="0" tIns="0" rIns="0" bIns="0" rtlCol="0" anchor="ctr"/>
          <a:lstStyle/>
          <a:p>
            <a:pPr marL="0" indent="0">
              <a:lnSpc>
                <a:spcPct val="115000"/>
              </a:lnSpc>
              <a:buNone/>
            </a:pPr>
            <a:r>
              <a:rPr lang="en-US" sz="3600" b="1" dirty="0">
                <a:solidFill>
                  <a:srgbClr val="F1F0EA"/>
                </a:solidFill>
                <a:latin typeface="Georgia" pitchFamily="34" charset="0"/>
                <a:ea typeface="Georgia" pitchFamily="34" charset="-122"/>
                <a:cs typeface="Georgia" pitchFamily="34" charset="-120"/>
              </a:rPr>
              <a:t>Methodological notes</a:t>
            </a:r>
            <a:endParaRPr lang="en-US" sz="3600" dirty="0"/>
          </a:p>
        </p:txBody>
      </p:sp>
    </p:spTree>
    <p:extLst>
      <p:ext uri="{BB962C8B-B14F-4D97-AF65-F5344CB8AC3E}">
        <p14:creationId xmlns:p14="http://schemas.microsoft.com/office/powerpoint/2010/main" val="4186787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8B5F063F-525A-164B-7FFF-7E34CAE11EF7}"/>
            </a:ext>
          </a:extLst>
        </p:cNvPr>
        <p:cNvGrpSpPr/>
        <p:nvPr/>
      </p:nvGrpSpPr>
      <p:grpSpPr>
        <a:xfrm>
          <a:off x="0" y="0"/>
          <a:ext cx="0" cy="0"/>
          <a:chOff x="0" y="0"/>
          <a:chExt cx="0" cy="0"/>
        </a:xfrm>
      </p:grpSpPr>
      <p:pic>
        <p:nvPicPr>
          <p:cNvPr id="5" name="Copied Picture 6" descr="A seagull sitting on a shelf&#10;&#10;AI-generated content may be incorrect.">
            <a:extLst>
              <a:ext uri="{FF2B5EF4-FFF2-40B4-BE49-F238E27FC236}">
                <a16:creationId xmlns:a16="http://schemas.microsoft.com/office/drawing/2014/main" id="{BD2E4CC1-0877-29B8-E25E-EB1AF9DF3CB4}"/>
              </a:ext>
            </a:extLst>
          </p:cNvPr>
          <p:cNvPicPr>
            <a:picLocks noChangeAspect="1"/>
          </p:cNvPicPr>
          <p:nvPr/>
        </p:nvPicPr>
        <p:blipFill>
          <a:blip r:embed="rId3"/>
          <a:stretch>
            <a:fillRect/>
          </a:stretch>
        </p:blipFill>
        <p:spPr>
          <a:xfrm>
            <a:off x="3778250" y="761797"/>
            <a:ext cx="1587500" cy="3530600"/>
          </a:xfrm>
          <a:prstGeom prst="rect">
            <a:avLst/>
          </a:prstGeom>
        </p:spPr>
      </p:pic>
      <p:sp>
        <p:nvSpPr>
          <p:cNvPr id="7" name="TextBox 6">
            <a:extLst>
              <a:ext uri="{FF2B5EF4-FFF2-40B4-BE49-F238E27FC236}">
                <a16:creationId xmlns:a16="http://schemas.microsoft.com/office/drawing/2014/main" id="{AF0ACCAE-BD38-B12C-9821-FE359D21A21E}"/>
              </a:ext>
            </a:extLst>
          </p:cNvPr>
          <p:cNvSpPr txBox="1"/>
          <p:nvPr/>
        </p:nvSpPr>
        <p:spPr>
          <a:xfrm>
            <a:off x="3689350" y="3987597"/>
            <a:ext cx="1765300" cy="304800"/>
          </a:xfrm>
          <a:prstGeom prst="rect">
            <a:avLst/>
          </a:prstGeom>
          <a:solidFill>
            <a:srgbClr val="000000"/>
          </a:solidFill>
        </p:spPr>
        <p:txBody>
          <a:bodyPr vertOverflow="overflow" vert="horz" wrap="square" rtlCol="0" anchor="ctr" anchorCtr="0">
            <a:noAutofit/>
          </a:bodyPr>
          <a:lstStyle/>
          <a:p>
            <a:pPr algn="l"/>
            <a:r>
              <a:rPr lang="en-US" sz="1600" b="1">
                <a:solidFill>
                  <a:srgbClr val="FFFFFF"/>
                </a:solidFill>
                <a:latin typeface="Impact"/>
              </a:rPr>
              <a:t>ENTROPYYYY</a:t>
            </a:r>
          </a:p>
        </p:txBody>
      </p:sp>
      <p:sp>
        <p:nvSpPr>
          <p:cNvPr id="2" name="Text 2">
            <a:extLst>
              <a:ext uri="{FF2B5EF4-FFF2-40B4-BE49-F238E27FC236}">
                <a16:creationId xmlns:a16="http://schemas.microsoft.com/office/drawing/2014/main" id="{B9985ED6-A69A-CEF3-E519-DD7EE5DF340B}"/>
              </a:ext>
            </a:extLst>
          </p:cNvPr>
          <p:cNvSpPr/>
          <p:nvPr/>
        </p:nvSpPr>
        <p:spPr>
          <a:xfrm>
            <a:off x="2724150" y="4381703"/>
            <a:ext cx="3695700" cy="553453"/>
          </a:xfrm>
          <a:prstGeom prst="rect">
            <a:avLst/>
          </a:prstGeom>
          <a:noFill/>
          <a:ln/>
        </p:spPr>
        <p:txBody>
          <a:bodyPr wrap="square" lIns="0" tIns="0" rIns="0" bIns="0" rtlCol="0" anchor="ctr"/>
          <a:lstStyle/>
          <a:p>
            <a:pPr marL="0" indent="0" algn="ctr">
              <a:lnSpc>
                <a:spcPct val="115000"/>
              </a:lnSpc>
              <a:buNone/>
            </a:pPr>
            <a:r>
              <a:rPr lang="en-US" sz="3600" b="1" dirty="0">
                <a:solidFill>
                  <a:srgbClr val="F1F0EA"/>
                </a:solidFill>
                <a:latin typeface="Georgia" pitchFamily="34" charset="0"/>
                <a:ea typeface="Georgia" pitchFamily="34" charset="-122"/>
                <a:cs typeface="Georgia" pitchFamily="34" charset="-120"/>
              </a:rPr>
              <a:t>Mixed results.</a:t>
            </a:r>
            <a:endParaRPr lang="en-US" sz="3600" dirty="0"/>
          </a:p>
        </p:txBody>
      </p:sp>
      <p:sp>
        <p:nvSpPr>
          <p:cNvPr id="9" name="Text 2">
            <a:extLst>
              <a:ext uri="{FF2B5EF4-FFF2-40B4-BE49-F238E27FC236}">
                <a16:creationId xmlns:a16="http://schemas.microsoft.com/office/drawing/2014/main" id="{BAE8E29B-77B4-DBC2-D14C-89DEE795A5D7}"/>
              </a:ext>
            </a:extLst>
          </p:cNvPr>
          <p:cNvSpPr/>
          <p:nvPr/>
        </p:nvSpPr>
        <p:spPr>
          <a:xfrm>
            <a:off x="82550" y="208344"/>
            <a:ext cx="3695700" cy="553453"/>
          </a:xfrm>
          <a:prstGeom prst="rect">
            <a:avLst/>
          </a:prstGeom>
          <a:noFill/>
          <a:ln/>
        </p:spPr>
        <p:txBody>
          <a:bodyPr wrap="square" lIns="0" tIns="0" rIns="0" bIns="0" rtlCol="0" anchor="ctr"/>
          <a:lstStyle/>
          <a:p>
            <a:pPr marL="0" indent="0" algn="ctr">
              <a:lnSpc>
                <a:spcPct val="115000"/>
              </a:lnSpc>
              <a:buNone/>
            </a:pPr>
            <a:r>
              <a:rPr lang="en-US" sz="3600" b="1" dirty="0">
                <a:solidFill>
                  <a:srgbClr val="F1F0EA"/>
                </a:solidFill>
                <a:latin typeface="Georgia" pitchFamily="34" charset="0"/>
                <a:ea typeface="Georgia" pitchFamily="34" charset="-122"/>
                <a:cs typeface="Georgia" pitchFamily="34" charset="-120"/>
              </a:rPr>
              <a:t>And you get:</a:t>
            </a:r>
            <a:endParaRPr lang="en-US" sz="3600" dirty="0"/>
          </a:p>
        </p:txBody>
      </p:sp>
    </p:spTree>
    <p:extLst>
      <p:ext uri="{BB962C8B-B14F-4D97-AF65-F5344CB8AC3E}">
        <p14:creationId xmlns:p14="http://schemas.microsoft.com/office/powerpoint/2010/main" val="57995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E141F"/>
        </a:solidFill>
        <a:effectLst/>
      </p:bgPr>
    </p:bg>
    <p:spTree>
      <p:nvGrpSpPr>
        <p:cNvPr id="1" name="">
          <a:extLst>
            <a:ext uri="{FF2B5EF4-FFF2-40B4-BE49-F238E27FC236}">
              <a16:creationId xmlns:a16="http://schemas.microsoft.com/office/drawing/2014/main" id="{7E3100FE-53D4-8D57-5DEA-A92BB48A1B75}"/>
            </a:ext>
          </a:extLst>
        </p:cNvPr>
        <p:cNvGrpSpPr/>
        <p:nvPr/>
      </p:nvGrpSpPr>
      <p:grpSpPr>
        <a:xfrm>
          <a:off x="0" y="0"/>
          <a:ext cx="0" cy="0"/>
          <a:chOff x="0" y="0"/>
          <a:chExt cx="0" cy="0"/>
        </a:xfrm>
      </p:grpSpPr>
      <p:sp>
        <p:nvSpPr>
          <p:cNvPr id="7" name="Text 0">
            <a:extLst>
              <a:ext uri="{FF2B5EF4-FFF2-40B4-BE49-F238E27FC236}">
                <a16:creationId xmlns:a16="http://schemas.microsoft.com/office/drawing/2014/main" id="{A06314BD-3EBB-99BB-767B-3644E11875C0}"/>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dirty="0">
                <a:solidFill>
                  <a:srgbClr val="7FB69E"/>
                </a:solidFill>
                <a:latin typeface="Calibri" pitchFamily="34" charset="0"/>
              </a:rPr>
              <a:t>ROADMAP</a:t>
            </a:r>
          </a:p>
        </p:txBody>
      </p:sp>
      <p:sp>
        <p:nvSpPr>
          <p:cNvPr id="8" name="Text 1">
            <a:extLst>
              <a:ext uri="{FF2B5EF4-FFF2-40B4-BE49-F238E27FC236}">
                <a16:creationId xmlns:a16="http://schemas.microsoft.com/office/drawing/2014/main" id="{BC00E2B3-F482-E35A-5239-0FC8EAA650BD}"/>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dirty="0">
                <a:solidFill>
                  <a:srgbClr val="F1F0EA"/>
                </a:solidFill>
                <a:latin typeface="Georgia" pitchFamily="34" charset="0"/>
                <a:ea typeface="Georgia" pitchFamily="34" charset="-122"/>
                <a:cs typeface="Georgia" pitchFamily="34" charset="-120"/>
              </a:rPr>
              <a:t>What We'll Cover</a:t>
            </a:r>
            <a:endParaRPr lang="en-US" sz="3400" dirty="0"/>
          </a:p>
        </p:txBody>
      </p:sp>
      <p:sp>
        <p:nvSpPr>
          <p:cNvPr id="9" name="Text 2">
            <a:extLst>
              <a:ext uri="{FF2B5EF4-FFF2-40B4-BE49-F238E27FC236}">
                <a16:creationId xmlns:a16="http://schemas.microsoft.com/office/drawing/2014/main" id="{D4B60AF2-1584-53BB-8D6B-1F6F7C8EDDAF}"/>
              </a:ext>
            </a:extLst>
          </p:cNvPr>
          <p:cNvSpPr/>
          <p:nvPr/>
        </p:nvSpPr>
        <p:spPr>
          <a:xfrm>
            <a:off x="548640" y="1508760"/>
            <a:ext cx="548640" cy="502920"/>
          </a:xfrm>
          <a:prstGeom prst="rect">
            <a:avLst/>
          </a:prstGeom>
          <a:noFill/>
          <a:ln/>
        </p:spPr>
        <p:txBody>
          <a:bodyPr wrap="square" lIns="0" tIns="0" rIns="0" bIns="0" rtlCol="0" anchor="t"/>
          <a:lstStyle/>
          <a:p>
            <a:pPr marL="0" indent="0">
              <a:buNone/>
            </a:pPr>
            <a:r>
              <a:rPr lang="en-US" sz="1800" b="1" dirty="0">
                <a:solidFill>
                  <a:srgbClr val="7FB69E"/>
                </a:solidFill>
                <a:latin typeface="Georgia" pitchFamily="34" charset="0"/>
                <a:ea typeface="Georgia" pitchFamily="34" charset="-122"/>
                <a:cs typeface="Georgia" pitchFamily="34" charset="-120"/>
              </a:rPr>
              <a:t>01</a:t>
            </a:r>
            <a:endParaRPr lang="en-US" sz="1800" dirty="0">
              <a:solidFill>
                <a:srgbClr val="7FB69E"/>
              </a:solidFill>
            </a:endParaRPr>
          </a:p>
        </p:txBody>
      </p:sp>
      <p:sp>
        <p:nvSpPr>
          <p:cNvPr id="10" name="Text 3">
            <a:extLst>
              <a:ext uri="{FF2B5EF4-FFF2-40B4-BE49-F238E27FC236}">
                <a16:creationId xmlns:a16="http://schemas.microsoft.com/office/drawing/2014/main" id="{C55B381A-4649-BEBF-6065-353EFC921D2E}"/>
              </a:ext>
            </a:extLst>
          </p:cNvPr>
          <p:cNvSpPr/>
          <p:nvPr/>
        </p:nvSpPr>
        <p:spPr>
          <a:xfrm>
            <a:off x="1188720" y="1508760"/>
            <a:ext cx="6400800" cy="274320"/>
          </a:xfrm>
          <a:prstGeom prst="rect">
            <a:avLst/>
          </a:prstGeom>
          <a:noFill/>
          <a:ln/>
        </p:spPr>
        <p:txBody>
          <a:bodyPr wrap="square" lIns="0" tIns="0" rIns="0" bIns="0" rtlCol="0" anchor="t"/>
          <a:lstStyle/>
          <a:p>
            <a:pPr marL="0" indent="0">
              <a:buNone/>
            </a:pPr>
            <a:r>
              <a:rPr lang="en-US" sz="1700" b="1" dirty="0">
                <a:solidFill>
                  <a:srgbClr val="F1F0EA"/>
                </a:solidFill>
                <a:latin typeface="Georgia" pitchFamily="34" charset="0"/>
                <a:ea typeface="Georgia" pitchFamily="34" charset="-122"/>
                <a:cs typeface="Georgia" pitchFamily="34" charset="-120"/>
              </a:rPr>
              <a:t>Information Entropy</a:t>
            </a:r>
            <a:endParaRPr lang="en-US" sz="1700" dirty="0"/>
          </a:p>
        </p:txBody>
      </p:sp>
      <p:sp>
        <p:nvSpPr>
          <p:cNvPr id="11" name="Text 4">
            <a:extLst>
              <a:ext uri="{FF2B5EF4-FFF2-40B4-BE49-F238E27FC236}">
                <a16:creationId xmlns:a16="http://schemas.microsoft.com/office/drawing/2014/main" id="{AD5F8403-4F22-02B9-A04C-F1F908938656}"/>
              </a:ext>
            </a:extLst>
          </p:cNvPr>
          <p:cNvSpPr/>
          <p:nvPr/>
        </p:nvSpPr>
        <p:spPr>
          <a:xfrm>
            <a:off x="1188720" y="1783080"/>
            <a:ext cx="6400800" cy="274320"/>
          </a:xfrm>
          <a:prstGeom prst="rect">
            <a:avLst/>
          </a:prstGeom>
          <a:noFill/>
          <a:ln/>
        </p:spPr>
        <p:txBody>
          <a:bodyPr wrap="square" lIns="0" tIns="0" rIns="0" bIns="0" rtlCol="0" anchor="t"/>
          <a:lstStyle/>
          <a:p>
            <a:pPr marL="0" indent="0">
              <a:buNone/>
            </a:pPr>
            <a:r>
              <a:rPr lang="en-US" sz="1300" dirty="0">
                <a:solidFill>
                  <a:srgbClr val="90969E"/>
                </a:solidFill>
                <a:latin typeface="Calibri" pitchFamily="34" charset="0"/>
                <a:ea typeface="Calibri" pitchFamily="34" charset="-122"/>
                <a:cs typeface="Calibri" pitchFamily="34" charset="-120"/>
              </a:rPr>
              <a:t>What is a bit? How do we measure information?</a:t>
            </a:r>
            <a:endParaRPr lang="en-US" sz="1300" dirty="0"/>
          </a:p>
        </p:txBody>
      </p:sp>
      <p:sp>
        <p:nvSpPr>
          <p:cNvPr id="12" name="Text 5">
            <a:extLst>
              <a:ext uri="{FF2B5EF4-FFF2-40B4-BE49-F238E27FC236}">
                <a16:creationId xmlns:a16="http://schemas.microsoft.com/office/drawing/2014/main" id="{B0C9AEE1-1E01-91F0-CB9A-7B5FE00F92CC}"/>
              </a:ext>
            </a:extLst>
          </p:cNvPr>
          <p:cNvSpPr/>
          <p:nvPr/>
        </p:nvSpPr>
        <p:spPr>
          <a:xfrm>
            <a:off x="548640" y="2167128"/>
            <a:ext cx="548640" cy="502920"/>
          </a:xfrm>
          <a:prstGeom prst="rect">
            <a:avLst/>
          </a:prstGeom>
          <a:noFill/>
          <a:ln/>
        </p:spPr>
        <p:txBody>
          <a:bodyPr wrap="square" lIns="0" tIns="0" rIns="0" bIns="0" rtlCol="0" anchor="t"/>
          <a:lstStyle/>
          <a:p>
            <a:pPr marL="0" indent="0">
              <a:buNone/>
            </a:pPr>
            <a:r>
              <a:rPr lang="en-US" sz="1800" b="1" dirty="0">
                <a:solidFill>
                  <a:srgbClr val="7FB69E"/>
                </a:solidFill>
                <a:latin typeface="Georgia" pitchFamily="34" charset="0"/>
                <a:ea typeface="Georgia" pitchFamily="34" charset="-122"/>
                <a:cs typeface="Georgia" pitchFamily="34" charset="-120"/>
              </a:rPr>
              <a:t>02</a:t>
            </a:r>
            <a:endParaRPr lang="en-US" sz="1800" dirty="0">
              <a:solidFill>
                <a:srgbClr val="7FB69E"/>
              </a:solidFill>
            </a:endParaRPr>
          </a:p>
        </p:txBody>
      </p:sp>
      <p:sp>
        <p:nvSpPr>
          <p:cNvPr id="13" name="Text 6">
            <a:extLst>
              <a:ext uri="{FF2B5EF4-FFF2-40B4-BE49-F238E27FC236}">
                <a16:creationId xmlns:a16="http://schemas.microsoft.com/office/drawing/2014/main" id="{12546F0E-88EC-9577-1693-55EC08997908}"/>
              </a:ext>
            </a:extLst>
          </p:cNvPr>
          <p:cNvSpPr/>
          <p:nvPr/>
        </p:nvSpPr>
        <p:spPr>
          <a:xfrm>
            <a:off x="1188720" y="2167128"/>
            <a:ext cx="6400800" cy="274320"/>
          </a:xfrm>
          <a:prstGeom prst="rect">
            <a:avLst/>
          </a:prstGeom>
          <a:noFill/>
          <a:ln/>
        </p:spPr>
        <p:txBody>
          <a:bodyPr wrap="square" lIns="0" tIns="0" rIns="0" bIns="0" rtlCol="0" anchor="t"/>
          <a:lstStyle/>
          <a:p>
            <a:pPr marL="0" indent="0">
              <a:buNone/>
            </a:pPr>
            <a:r>
              <a:rPr lang="en-US" sz="1700" b="1" dirty="0">
                <a:solidFill>
                  <a:srgbClr val="F1F0EA"/>
                </a:solidFill>
                <a:latin typeface="Georgia" pitchFamily="34" charset="0"/>
                <a:ea typeface="Georgia" pitchFamily="34" charset="-122"/>
                <a:cs typeface="Georgia" pitchFamily="34" charset="-120"/>
              </a:rPr>
              <a:t>Compression</a:t>
            </a:r>
            <a:endParaRPr lang="en-US" sz="1700" dirty="0"/>
          </a:p>
        </p:txBody>
      </p:sp>
      <p:sp>
        <p:nvSpPr>
          <p:cNvPr id="14" name="Text 7">
            <a:extLst>
              <a:ext uri="{FF2B5EF4-FFF2-40B4-BE49-F238E27FC236}">
                <a16:creationId xmlns:a16="http://schemas.microsoft.com/office/drawing/2014/main" id="{93F7E1FB-7530-F89B-4AD4-3A47E56B82A9}"/>
              </a:ext>
            </a:extLst>
          </p:cNvPr>
          <p:cNvSpPr/>
          <p:nvPr/>
        </p:nvSpPr>
        <p:spPr>
          <a:xfrm>
            <a:off x="1188720" y="2441448"/>
            <a:ext cx="6400800" cy="274320"/>
          </a:xfrm>
          <a:prstGeom prst="rect">
            <a:avLst/>
          </a:prstGeom>
          <a:noFill/>
          <a:ln/>
        </p:spPr>
        <p:txBody>
          <a:bodyPr wrap="square" lIns="0" tIns="0" rIns="0" bIns="0" rtlCol="0" anchor="t"/>
          <a:lstStyle/>
          <a:p>
            <a:pPr marL="0" indent="0">
              <a:buNone/>
            </a:pPr>
            <a:r>
              <a:rPr lang="en-US" sz="1300" dirty="0">
                <a:solidFill>
                  <a:srgbClr val="90969E"/>
                </a:solidFill>
                <a:latin typeface="Calibri" pitchFamily="34" charset="0"/>
                <a:ea typeface="Calibri" pitchFamily="34" charset="-122"/>
                <a:cs typeface="Calibri" pitchFamily="34" charset="-120"/>
              </a:rPr>
              <a:t>Why prediction and compression are the same thing</a:t>
            </a:r>
            <a:endParaRPr lang="en-US" sz="1300" dirty="0"/>
          </a:p>
        </p:txBody>
      </p:sp>
      <p:sp>
        <p:nvSpPr>
          <p:cNvPr id="15" name="Text 8">
            <a:extLst>
              <a:ext uri="{FF2B5EF4-FFF2-40B4-BE49-F238E27FC236}">
                <a16:creationId xmlns:a16="http://schemas.microsoft.com/office/drawing/2014/main" id="{6F977150-21D4-D3DB-F1B4-AC0E4FA64993}"/>
              </a:ext>
            </a:extLst>
          </p:cNvPr>
          <p:cNvSpPr/>
          <p:nvPr/>
        </p:nvSpPr>
        <p:spPr>
          <a:xfrm>
            <a:off x="548640" y="2825496"/>
            <a:ext cx="548640" cy="502920"/>
          </a:xfrm>
          <a:prstGeom prst="rect">
            <a:avLst/>
          </a:prstGeom>
          <a:noFill/>
          <a:ln/>
        </p:spPr>
        <p:txBody>
          <a:bodyPr wrap="square" lIns="0" tIns="0" rIns="0" bIns="0" rtlCol="0" anchor="t"/>
          <a:lstStyle/>
          <a:p>
            <a:pPr marL="0" indent="0">
              <a:buNone/>
            </a:pPr>
            <a:r>
              <a:rPr lang="en-US" sz="1800" b="1" dirty="0">
                <a:solidFill>
                  <a:srgbClr val="7FB69E"/>
                </a:solidFill>
                <a:latin typeface="Georgia" pitchFamily="34" charset="0"/>
                <a:ea typeface="Georgia" pitchFamily="34" charset="-122"/>
                <a:cs typeface="Georgia" pitchFamily="34" charset="-120"/>
              </a:rPr>
              <a:t>03</a:t>
            </a:r>
            <a:endParaRPr lang="en-US" sz="1800" dirty="0">
              <a:solidFill>
                <a:srgbClr val="7FB69E"/>
              </a:solidFill>
            </a:endParaRPr>
          </a:p>
        </p:txBody>
      </p:sp>
      <p:sp>
        <p:nvSpPr>
          <p:cNvPr id="16" name="Text 9">
            <a:extLst>
              <a:ext uri="{FF2B5EF4-FFF2-40B4-BE49-F238E27FC236}">
                <a16:creationId xmlns:a16="http://schemas.microsoft.com/office/drawing/2014/main" id="{864BA014-C50C-39FF-0AA4-284853EB728B}"/>
              </a:ext>
            </a:extLst>
          </p:cNvPr>
          <p:cNvSpPr/>
          <p:nvPr/>
        </p:nvSpPr>
        <p:spPr>
          <a:xfrm>
            <a:off x="1188720" y="2825496"/>
            <a:ext cx="6400800" cy="274320"/>
          </a:xfrm>
          <a:prstGeom prst="rect">
            <a:avLst/>
          </a:prstGeom>
          <a:noFill/>
          <a:ln/>
        </p:spPr>
        <p:txBody>
          <a:bodyPr wrap="square" lIns="0" tIns="0" rIns="0" bIns="0" rtlCol="0" anchor="t"/>
          <a:lstStyle/>
          <a:p>
            <a:pPr marL="0" indent="0">
              <a:buNone/>
            </a:pPr>
            <a:r>
              <a:rPr lang="en-US" sz="1700" b="1" dirty="0">
                <a:solidFill>
                  <a:srgbClr val="F1F0EA"/>
                </a:solidFill>
                <a:latin typeface="Georgia" pitchFamily="34" charset="0"/>
                <a:ea typeface="Georgia" pitchFamily="34" charset="-122"/>
                <a:cs typeface="Georgia" pitchFamily="34" charset="-120"/>
              </a:rPr>
              <a:t>LLMs</a:t>
            </a:r>
            <a:endParaRPr lang="en-US" sz="1700" dirty="0"/>
          </a:p>
        </p:txBody>
      </p:sp>
      <p:sp>
        <p:nvSpPr>
          <p:cNvPr id="17" name="Text 10">
            <a:extLst>
              <a:ext uri="{FF2B5EF4-FFF2-40B4-BE49-F238E27FC236}">
                <a16:creationId xmlns:a16="http://schemas.microsoft.com/office/drawing/2014/main" id="{6D113EC8-B396-20DE-D406-D6D21AFB24D2}"/>
              </a:ext>
            </a:extLst>
          </p:cNvPr>
          <p:cNvSpPr/>
          <p:nvPr/>
        </p:nvSpPr>
        <p:spPr>
          <a:xfrm>
            <a:off x="1188720" y="3099816"/>
            <a:ext cx="6400800" cy="274320"/>
          </a:xfrm>
          <a:prstGeom prst="rect">
            <a:avLst/>
          </a:prstGeom>
          <a:noFill/>
          <a:ln/>
        </p:spPr>
        <p:txBody>
          <a:bodyPr wrap="square" lIns="0" tIns="0" rIns="0" bIns="0" rtlCol="0" anchor="t"/>
          <a:lstStyle/>
          <a:p>
            <a:pPr marL="0" indent="0">
              <a:buNone/>
            </a:pPr>
            <a:r>
              <a:rPr lang="en-US" sz="1300" dirty="0">
                <a:solidFill>
                  <a:srgbClr val="90969E"/>
                </a:solidFill>
                <a:latin typeface="Calibri" pitchFamily="34" charset="0"/>
                <a:ea typeface="Calibri" pitchFamily="34" charset="-122"/>
                <a:cs typeface="Calibri" pitchFamily="34" charset="-120"/>
              </a:rPr>
              <a:t>What do billions of parameters store</a:t>
            </a:r>
            <a:endParaRPr lang="en-US" sz="1300" dirty="0"/>
          </a:p>
        </p:txBody>
      </p:sp>
      <p:sp>
        <p:nvSpPr>
          <p:cNvPr id="18" name="Text 11">
            <a:extLst>
              <a:ext uri="{FF2B5EF4-FFF2-40B4-BE49-F238E27FC236}">
                <a16:creationId xmlns:a16="http://schemas.microsoft.com/office/drawing/2014/main" id="{CE5941E8-D4D4-17DD-1DFE-813F543D64B0}"/>
              </a:ext>
            </a:extLst>
          </p:cNvPr>
          <p:cNvSpPr/>
          <p:nvPr/>
        </p:nvSpPr>
        <p:spPr>
          <a:xfrm>
            <a:off x="548640" y="3483864"/>
            <a:ext cx="548640" cy="502920"/>
          </a:xfrm>
          <a:prstGeom prst="rect">
            <a:avLst/>
          </a:prstGeom>
          <a:noFill/>
          <a:ln/>
        </p:spPr>
        <p:txBody>
          <a:bodyPr wrap="square" lIns="0" tIns="0" rIns="0" bIns="0" rtlCol="0" anchor="t"/>
          <a:lstStyle/>
          <a:p>
            <a:pPr marL="0" indent="0">
              <a:buNone/>
            </a:pPr>
            <a:r>
              <a:rPr lang="en-US" sz="1800" b="1" dirty="0">
                <a:solidFill>
                  <a:srgbClr val="7FB69E"/>
                </a:solidFill>
                <a:latin typeface="Georgia" pitchFamily="34" charset="0"/>
                <a:ea typeface="Georgia" pitchFamily="34" charset="-122"/>
                <a:cs typeface="Georgia" pitchFamily="34" charset="-120"/>
              </a:rPr>
              <a:t>04</a:t>
            </a:r>
            <a:endParaRPr lang="en-US" sz="1800" dirty="0">
              <a:solidFill>
                <a:srgbClr val="7FB69E"/>
              </a:solidFill>
            </a:endParaRPr>
          </a:p>
        </p:txBody>
      </p:sp>
      <p:sp>
        <p:nvSpPr>
          <p:cNvPr id="19" name="Text 12">
            <a:extLst>
              <a:ext uri="{FF2B5EF4-FFF2-40B4-BE49-F238E27FC236}">
                <a16:creationId xmlns:a16="http://schemas.microsoft.com/office/drawing/2014/main" id="{2E300425-31BD-489B-E5B5-7D81E89E54A5}"/>
              </a:ext>
            </a:extLst>
          </p:cNvPr>
          <p:cNvSpPr/>
          <p:nvPr/>
        </p:nvSpPr>
        <p:spPr>
          <a:xfrm>
            <a:off x="1188720" y="3483864"/>
            <a:ext cx="6400800" cy="274320"/>
          </a:xfrm>
          <a:prstGeom prst="rect">
            <a:avLst/>
          </a:prstGeom>
          <a:noFill/>
          <a:ln/>
        </p:spPr>
        <p:txBody>
          <a:bodyPr wrap="square" lIns="0" tIns="0" rIns="0" bIns="0" rtlCol="0" anchor="t"/>
          <a:lstStyle/>
          <a:p>
            <a:pPr marL="0" indent="0">
              <a:buNone/>
            </a:pPr>
            <a:r>
              <a:rPr lang="en-US" sz="1700" b="1" dirty="0">
                <a:solidFill>
                  <a:srgbClr val="F1F0EA"/>
                </a:solidFill>
                <a:latin typeface="Georgia" pitchFamily="34" charset="0"/>
                <a:ea typeface="Georgia" pitchFamily="34" charset="-122"/>
                <a:cs typeface="Georgia" pitchFamily="34" charset="-120"/>
              </a:rPr>
              <a:t>Universal Intelligence</a:t>
            </a:r>
            <a:endParaRPr lang="en-US" sz="1700" dirty="0"/>
          </a:p>
        </p:txBody>
      </p:sp>
      <p:sp>
        <p:nvSpPr>
          <p:cNvPr id="20" name="Text 13">
            <a:extLst>
              <a:ext uri="{FF2B5EF4-FFF2-40B4-BE49-F238E27FC236}">
                <a16:creationId xmlns:a16="http://schemas.microsoft.com/office/drawing/2014/main" id="{0C06C351-AEE3-28C8-030E-B51EB0364F4D}"/>
              </a:ext>
            </a:extLst>
          </p:cNvPr>
          <p:cNvSpPr/>
          <p:nvPr/>
        </p:nvSpPr>
        <p:spPr>
          <a:xfrm>
            <a:off x="1188720" y="3758184"/>
            <a:ext cx="6400800" cy="274320"/>
          </a:xfrm>
          <a:prstGeom prst="rect">
            <a:avLst/>
          </a:prstGeom>
          <a:noFill/>
          <a:ln/>
        </p:spPr>
        <p:txBody>
          <a:bodyPr wrap="square" lIns="0" tIns="0" rIns="0" bIns="0" rtlCol="0" anchor="t"/>
          <a:lstStyle/>
          <a:p>
            <a:pPr marL="0" indent="0">
              <a:buNone/>
            </a:pPr>
            <a:r>
              <a:rPr lang="en-US" sz="1300" dirty="0">
                <a:solidFill>
                  <a:srgbClr val="90969E"/>
                </a:solidFill>
                <a:latin typeface="Calibri" pitchFamily="34" charset="0"/>
                <a:ea typeface="Calibri" pitchFamily="34" charset="-122"/>
                <a:cs typeface="Calibri" pitchFamily="34" charset="-120"/>
              </a:rPr>
              <a:t>Intelligence as an equation</a:t>
            </a:r>
            <a:endParaRPr lang="en-US" sz="1300" dirty="0"/>
          </a:p>
        </p:txBody>
      </p:sp>
      <p:sp>
        <p:nvSpPr>
          <p:cNvPr id="21" name="Text 14">
            <a:extLst>
              <a:ext uri="{FF2B5EF4-FFF2-40B4-BE49-F238E27FC236}">
                <a16:creationId xmlns:a16="http://schemas.microsoft.com/office/drawing/2014/main" id="{7C5F93AA-DDCD-E4E1-9EDA-B8AFAE181241}"/>
              </a:ext>
            </a:extLst>
          </p:cNvPr>
          <p:cNvSpPr/>
          <p:nvPr/>
        </p:nvSpPr>
        <p:spPr>
          <a:xfrm>
            <a:off x="548640" y="4142232"/>
            <a:ext cx="548640" cy="502920"/>
          </a:xfrm>
          <a:prstGeom prst="rect">
            <a:avLst/>
          </a:prstGeom>
          <a:noFill/>
          <a:ln/>
        </p:spPr>
        <p:txBody>
          <a:bodyPr wrap="square" lIns="0" tIns="0" rIns="0" bIns="0" rtlCol="0" anchor="t"/>
          <a:lstStyle/>
          <a:p>
            <a:pPr marL="0" indent="0">
              <a:buNone/>
            </a:pPr>
            <a:r>
              <a:rPr lang="en-US" sz="1800" b="1">
                <a:solidFill>
                  <a:srgbClr val="7FB69E"/>
                </a:solidFill>
                <a:latin typeface="Georgia" pitchFamily="34" charset="0"/>
                <a:ea typeface="Georgia" pitchFamily="34" charset="-122"/>
                <a:cs typeface="Georgia" pitchFamily="34" charset="-120"/>
              </a:rPr>
              <a:t>05</a:t>
            </a:r>
            <a:endParaRPr lang="en-US" sz="1800">
              <a:solidFill>
                <a:srgbClr val="7FB69E"/>
              </a:solidFill>
            </a:endParaRPr>
          </a:p>
        </p:txBody>
      </p:sp>
      <p:sp>
        <p:nvSpPr>
          <p:cNvPr id="22" name="Text 15">
            <a:extLst>
              <a:ext uri="{FF2B5EF4-FFF2-40B4-BE49-F238E27FC236}">
                <a16:creationId xmlns:a16="http://schemas.microsoft.com/office/drawing/2014/main" id="{C43EA58D-10AD-7102-72B4-E40F713DE512}"/>
              </a:ext>
            </a:extLst>
          </p:cNvPr>
          <p:cNvSpPr/>
          <p:nvPr/>
        </p:nvSpPr>
        <p:spPr>
          <a:xfrm>
            <a:off x="1188720" y="4142232"/>
            <a:ext cx="6400800" cy="274320"/>
          </a:xfrm>
          <a:prstGeom prst="rect">
            <a:avLst/>
          </a:prstGeom>
          <a:noFill/>
          <a:ln/>
        </p:spPr>
        <p:txBody>
          <a:bodyPr wrap="square" lIns="0" tIns="0" rIns="0" bIns="0" rtlCol="0" anchor="t"/>
          <a:lstStyle/>
          <a:p>
            <a:pPr marL="0" indent="0">
              <a:buNone/>
            </a:pPr>
            <a:r>
              <a:rPr lang="en-US" sz="1700" b="1">
                <a:solidFill>
                  <a:srgbClr val="F1F0EA"/>
                </a:solidFill>
                <a:latin typeface="Georgia" pitchFamily="34" charset="0"/>
                <a:ea typeface="Georgia" pitchFamily="34" charset="-122"/>
                <a:cs typeface="Georgia" pitchFamily="34" charset="-120"/>
              </a:rPr>
              <a:t>Intelligence Density</a:t>
            </a:r>
            <a:endParaRPr lang="en-US" sz="1700"/>
          </a:p>
        </p:txBody>
      </p:sp>
      <p:sp>
        <p:nvSpPr>
          <p:cNvPr id="23" name="Text 16">
            <a:extLst>
              <a:ext uri="{FF2B5EF4-FFF2-40B4-BE49-F238E27FC236}">
                <a16:creationId xmlns:a16="http://schemas.microsoft.com/office/drawing/2014/main" id="{61CE6D47-7681-0E9D-DBE4-B231AAC038DC}"/>
              </a:ext>
            </a:extLst>
          </p:cNvPr>
          <p:cNvSpPr/>
          <p:nvPr/>
        </p:nvSpPr>
        <p:spPr>
          <a:xfrm>
            <a:off x="1188720" y="4416552"/>
            <a:ext cx="6400800" cy="274320"/>
          </a:xfrm>
          <a:prstGeom prst="rect">
            <a:avLst/>
          </a:prstGeom>
          <a:noFill/>
          <a:ln/>
        </p:spPr>
        <p:txBody>
          <a:bodyPr wrap="square" lIns="0" tIns="0" rIns="0" bIns="0" rtlCol="0" anchor="t"/>
          <a:lstStyle/>
          <a:p>
            <a:pPr marL="0" indent="0">
              <a:buNone/>
            </a:pPr>
            <a:r>
              <a:rPr lang="en-US" sz="1300" dirty="0">
                <a:solidFill>
                  <a:srgbClr val="90969E"/>
                </a:solidFill>
                <a:latin typeface="Calibri" pitchFamily="34" charset="0"/>
                <a:ea typeface="Calibri" pitchFamily="34" charset="-122"/>
                <a:cs typeface="Calibri" pitchFamily="34" charset="-120"/>
              </a:rPr>
              <a:t>How much intelligence per bit of internal complexity?</a:t>
            </a:r>
            <a:endParaRPr lang="en-US" sz="1300" dirty="0"/>
          </a:p>
        </p:txBody>
      </p:sp>
      <p:sp>
        <p:nvSpPr>
          <p:cNvPr id="3" name="TitleUnderline">
            <a:extLst>
              <a:ext uri="{FF2B5EF4-FFF2-40B4-BE49-F238E27FC236}">
                <a16:creationId xmlns:a16="http://schemas.microsoft.com/office/drawing/2014/main" id="{672023BE-D711-9946-3066-B17757208555}"/>
              </a:ext>
            </a:extLst>
          </p:cNvPr>
          <p:cNvSpPr/>
          <p:nvPr/>
        </p:nvSpPr>
        <p:spPr>
          <a:xfrm>
            <a:off x="546100" y="1320800"/>
            <a:ext cx="4064000" cy="19050"/>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24" name="Copied Picture 24" descr="A person pointing at papers on a wall&#10;&#10;AI-generated content may be incorrect.">
            <a:extLst>
              <a:ext uri="{FF2B5EF4-FFF2-40B4-BE49-F238E27FC236}">
                <a16:creationId xmlns:a16="http://schemas.microsoft.com/office/drawing/2014/main" id="{D024F4CA-338B-79F3-BA98-14B79C19FC35}"/>
              </a:ext>
            </a:extLst>
          </p:cNvPr>
          <p:cNvPicPr>
            <a:picLocks noChangeAspect="1"/>
          </p:cNvPicPr>
          <p:nvPr/>
        </p:nvPicPr>
        <p:blipFill>
          <a:blip r:embed="rId3"/>
          <a:stretch>
            <a:fillRect/>
          </a:stretch>
        </p:blipFill>
        <p:spPr>
          <a:xfrm>
            <a:off x="6242594" y="1483146"/>
            <a:ext cx="2535646" cy="1890990"/>
          </a:xfrm>
          <a:prstGeom prst="rect">
            <a:avLst/>
          </a:prstGeom>
        </p:spPr>
      </p:pic>
      <p:sp>
        <p:nvSpPr>
          <p:cNvPr id="2" name="TextBox 1">
            <a:extLst>
              <a:ext uri="{FF2B5EF4-FFF2-40B4-BE49-F238E27FC236}">
                <a16:creationId xmlns:a16="http://schemas.microsoft.com/office/drawing/2014/main" id="{F3DEFCFF-4C12-5F4C-8001-82BA22555CE8}"/>
              </a:ext>
            </a:extLst>
          </p:cNvPr>
          <p:cNvSpPr txBox="1"/>
          <p:nvPr/>
        </p:nvSpPr>
        <p:spPr>
          <a:xfrm>
            <a:off x="6242594" y="3399536"/>
            <a:ext cx="2535646" cy="435864"/>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It's all connected.</a:t>
            </a:r>
          </a:p>
        </p:txBody>
      </p:sp>
    </p:spTree>
    <p:extLst>
      <p:ext uri="{BB962C8B-B14F-4D97-AF65-F5344CB8AC3E}">
        <p14:creationId xmlns:p14="http://schemas.microsoft.com/office/powerpoint/2010/main" val="1855044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41F"/>
        </a:solidFill>
        <a:effectLst/>
      </p:bgPr>
    </p:bg>
    <p:spTree>
      <p:nvGrpSpPr>
        <p:cNvPr id="1" name=""/>
        <p:cNvGrpSpPr/>
        <p:nvPr/>
      </p:nvGrpSpPr>
      <p:grpSpPr>
        <a:xfrm>
          <a:off x="0" y="0"/>
          <a:ext cx="0" cy="0"/>
          <a:chOff x="0" y="0"/>
          <a:chExt cx="0" cy="0"/>
        </a:xfrm>
      </p:grpSpPr>
      <p:sp>
        <p:nvSpPr>
          <p:cNvPr id="4" name="Text 1"/>
          <p:cNvSpPr/>
          <p:nvPr/>
        </p:nvSpPr>
        <p:spPr>
          <a:xfrm>
            <a:off x="548640" y="1371600"/>
            <a:ext cx="3657600" cy="365760"/>
          </a:xfrm>
          <a:prstGeom prst="rect">
            <a:avLst/>
          </a:prstGeom>
          <a:noFill/>
          <a:ln/>
        </p:spPr>
        <p:txBody>
          <a:bodyPr wrap="square" lIns="0" tIns="0" rIns="0" bIns="0" rtlCol="0" anchor="ctr"/>
          <a:lstStyle/>
          <a:p>
            <a:pPr marL="0" indent="0">
              <a:buNone/>
            </a:pPr>
            <a:r>
              <a:rPr lang="en-US" sz="1400" b="1" kern="0" spc="600">
                <a:solidFill>
                  <a:srgbClr val="00D4AA"/>
                </a:solidFill>
                <a:latin typeface="Calibri" pitchFamily="34" charset="0"/>
                <a:ea typeface="Calibri" pitchFamily="34" charset="-122"/>
                <a:cs typeface="Calibri" pitchFamily="34" charset="-120"/>
              </a:rPr>
              <a:t>PART 1</a:t>
            </a:r>
            <a:endParaRPr lang="en-US" sz="1400"/>
          </a:p>
        </p:txBody>
      </p:sp>
      <p:sp>
        <p:nvSpPr>
          <p:cNvPr id="5" name="Text 2"/>
          <p:cNvSpPr/>
          <p:nvPr/>
        </p:nvSpPr>
        <p:spPr>
          <a:xfrm>
            <a:off x="548640" y="1828800"/>
            <a:ext cx="7315200" cy="1828800"/>
          </a:xfrm>
          <a:prstGeom prst="rect">
            <a:avLst/>
          </a:prstGeom>
          <a:noFill/>
          <a:ln/>
        </p:spPr>
        <p:txBody>
          <a:bodyPr wrap="square" lIns="0" tIns="0" rIns="0" bIns="0" rtlCol="0" anchor="ctr"/>
          <a:lstStyle/>
          <a:p>
            <a:pPr marL="0" indent="0">
              <a:lnSpc>
                <a:spcPct val="105000"/>
              </a:lnSpc>
              <a:buNone/>
            </a:pPr>
            <a:r>
              <a:rPr lang="en-US" sz="5200" b="1">
                <a:solidFill>
                  <a:srgbClr val="F1F0EA"/>
                </a:solidFill>
                <a:latin typeface="Georgia" pitchFamily="34" charset="0"/>
                <a:ea typeface="Georgia" pitchFamily="34" charset="-122"/>
                <a:cs typeface="Georgia" pitchFamily="34" charset="-120"/>
              </a:rPr>
              <a:t>Information</a:t>
            </a:r>
            <a:endParaRPr lang="en-US" sz="5200"/>
          </a:p>
          <a:p>
            <a:pPr marL="0" indent="0">
              <a:lnSpc>
                <a:spcPct val="105000"/>
              </a:lnSpc>
              <a:buNone/>
            </a:pPr>
            <a:r>
              <a:rPr lang="en-US" sz="5200" b="1">
                <a:solidFill>
                  <a:srgbClr val="F1F0EA"/>
                </a:solidFill>
                <a:latin typeface="Georgia" pitchFamily="34" charset="0"/>
                <a:ea typeface="Georgia" pitchFamily="34" charset="-122"/>
                <a:cs typeface="Georgia" pitchFamily="34" charset="-120"/>
              </a:rPr>
              <a:t>Entropy</a:t>
            </a:r>
            <a:endParaRPr lang="en-US" sz="5200"/>
          </a:p>
        </p:txBody>
      </p:sp>
    </p:spTree>
    <p:extLst>
      <p:ext uri="{BB962C8B-B14F-4D97-AF65-F5344CB8AC3E}">
        <p14:creationId xmlns:p14="http://schemas.microsoft.com/office/powerpoint/2010/main" val="53037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1A1F2A"/>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640080"/>
          </a:xfrm>
          <a:prstGeom prst="rect">
            <a:avLst/>
          </a:prstGeom>
          <a:noFill/>
          <a:ln/>
        </p:spPr>
        <p:txBody>
          <a:bodyPr wrap="square" lIns="0" tIns="0" rIns="0" bIns="0" rtlCol="0" anchor="ctr"/>
          <a:lstStyle/>
          <a:p>
            <a:pPr marL="0" indent="0">
              <a:buNone/>
            </a:pPr>
            <a:endParaRPr lang="en-US" sz="3200"/>
          </a:p>
        </p:txBody>
      </p:sp>
      <p:sp>
        <p:nvSpPr>
          <p:cNvPr id="19" name="Text 0">
            <a:extLst>
              <a:ext uri="{FF2B5EF4-FFF2-40B4-BE49-F238E27FC236}">
                <a16:creationId xmlns:a16="http://schemas.microsoft.com/office/drawing/2014/main" id="{5834FCEE-2D52-EF3C-D271-6F13D1996F9E}"/>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sp>
        <p:nvSpPr>
          <p:cNvPr id="3" name="Text 1">
            <a:extLst>
              <a:ext uri="{FF2B5EF4-FFF2-40B4-BE49-F238E27FC236}">
                <a16:creationId xmlns:a16="http://schemas.microsoft.com/office/drawing/2014/main" id="{AEBAB183-5101-46DA-DE84-FA124CDAC77A}"/>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a:solidFill>
                  <a:srgbClr val="FFFFFF"/>
                </a:solidFill>
                <a:latin typeface="Georgia" pitchFamily="34" charset="0"/>
                <a:ea typeface="Georgia" pitchFamily="34" charset="-122"/>
                <a:cs typeface="Georgia" pitchFamily="34" charset="-120"/>
              </a:rPr>
              <a:t>The core intuition</a:t>
            </a:r>
            <a:endParaRPr lang="en-US" sz="3400"/>
          </a:p>
        </p:txBody>
      </p:sp>
      <p:sp>
        <p:nvSpPr>
          <p:cNvPr id="15" name="Shape 2">
            <a:extLst>
              <a:ext uri="{FF2B5EF4-FFF2-40B4-BE49-F238E27FC236}">
                <a16:creationId xmlns:a16="http://schemas.microsoft.com/office/drawing/2014/main" id="{F15FA711-189A-9481-E9D4-C8C0B038D850}"/>
              </a:ext>
            </a:extLst>
          </p:cNvPr>
          <p:cNvSpPr/>
          <p:nvPr/>
        </p:nvSpPr>
        <p:spPr>
          <a:xfrm>
            <a:off x="548640" y="1554480"/>
            <a:ext cx="2468880" cy="2011680"/>
          </a:xfrm>
          <a:prstGeom prst="rect">
            <a:avLst/>
          </a:prstGeom>
          <a:solidFill>
            <a:srgbClr val="1A3A1A"/>
          </a:solidFill>
          <a:ln/>
        </p:spPr>
        <p:txBody>
          <a:bodyPr/>
          <a:lstStyle/>
          <a:p>
            <a:endParaRPr lang="en-US"/>
          </a:p>
        </p:txBody>
      </p:sp>
      <p:sp>
        <p:nvSpPr>
          <p:cNvPr id="17" name="Text 3">
            <a:extLst>
              <a:ext uri="{FF2B5EF4-FFF2-40B4-BE49-F238E27FC236}">
                <a16:creationId xmlns:a16="http://schemas.microsoft.com/office/drawing/2014/main" id="{A1B4D8D9-9399-E5B4-4885-EB89DFA9C8A1}"/>
              </a:ext>
            </a:extLst>
          </p:cNvPr>
          <p:cNvSpPr/>
          <p:nvPr/>
        </p:nvSpPr>
        <p:spPr>
          <a:xfrm>
            <a:off x="731520" y="1691640"/>
            <a:ext cx="2103120" cy="365760"/>
          </a:xfrm>
          <a:prstGeom prst="rect">
            <a:avLst/>
          </a:prstGeom>
          <a:noFill/>
          <a:ln/>
        </p:spPr>
        <p:txBody>
          <a:bodyPr wrap="square" lIns="0" tIns="0" rIns="0" bIns="0" rtlCol="0" anchor="ctr"/>
          <a:lstStyle/>
          <a:p>
            <a:pPr marL="0" indent="0">
              <a:buNone/>
            </a:pPr>
            <a:r>
              <a:rPr lang="en-US" sz="1800" b="1">
                <a:solidFill>
                  <a:srgbClr val="FFFFFF"/>
                </a:solidFill>
                <a:latin typeface="Consolas" pitchFamily="34" charset="0"/>
                <a:ea typeface="Consolas" pitchFamily="34" charset="-122"/>
                <a:cs typeface="Consolas" pitchFamily="34" charset="-120"/>
              </a:rPr>
              <a:t>AAAAAAA...</a:t>
            </a:r>
            <a:endParaRPr lang="en-US" sz="1800"/>
          </a:p>
        </p:txBody>
      </p:sp>
      <p:sp>
        <p:nvSpPr>
          <p:cNvPr id="20" name="Text 5">
            <a:extLst>
              <a:ext uri="{FF2B5EF4-FFF2-40B4-BE49-F238E27FC236}">
                <a16:creationId xmlns:a16="http://schemas.microsoft.com/office/drawing/2014/main" id="{53328AB7-0387-68CD-E23D-30A07CF8B95D}"/>
              </a:ext>
            </a:extLst>
          </p:cNvPr>
          <p:cNvSpPr/>
          <p:nvPr/>
        </p:nvSpPr>
        <p:spPr>
          <a:xfrm>
            <a:off x="731520" y="2788920"/>
            <a:ext cx="2103120" cy="457200"/>
          </a:xfrm>
          <a:prstGeom prst="rect">
            <a:avLst/>
          </a:prstGeom>
          <a:noFill/>
          <a:ln/>
        </p:spPr>
        <p:txBody>
          <a:bodyPr wrap="square" lIns="0" tIns="0" rIns="0" bIns="0" rtlCol="0" anchor="ctr"/>
          <a:lstStyle/>
          <a:p>
            <a:r>
              <a:rPr lang="en-US" sz="2400">
                <a:solidFill>
                  <a:srgbClr val="7FB69E"/>
                </a:solidFill>
                <a:latin typeface="Calibri" pitchFamily="34" charset="0"/>
                <a:ea typeface="Calibri" pitchFamily="34" charset="-122"/>
                <a:cs typeface="Calibri" pitchFamily="34" charset="-120"/>
              </a:rPr>
              <a:t>Perfectly predictable</a:t>
            </a:r>
            <a:endParaRPr lang="en-US" sz="2400">
              <a:solidFill>
                <a:srgbClr val="7FB69E"/>
              </a:solidFill>
            </a:endParaRPr>
          </a:p>
        </p:txBody>
      </p:sp>
      <p:sp>
        <p:nvSpPr>
          <p:cNvPr id="21" name="Shape 6">
            <a:extLst>
              <a:ext uri="{FF2B5EF4-FFF2-40B4-BE49-F238E27FC236}">
                <a16:creationId xmlns:a16="http://schemas.microsoft.com/office/drawing/2014/main" id="{C8AA43BB-B1AD-4BDA-9E12-44D755EAAA79}"/>
              </a:ext>
            </a:extLst>
          </p:cNvPr>
          <p:cNvSpPr/>
          <p:nvPr/>
        </p:nvSpPr>
        <p:spPr>
          <a:xfrm>
            <a:off x="3200400" y="1554480"/>
            <a:ext cx="2468880" cy="2011680"/>
          </a:xfrm>
          <a:prstGeom prst="rect">
            <a:avLst/>
          </a:prstGeom>
          <a:solidFill>
            <a:srgbClr val="1A2A4A"/>
          </a:solidFill>
          <a:ln/>
        </p:spPr>
        <p:txBody>
          <a:bodyPr/>
          <a:lstStyle/>
          <a:p>
            <a:endParaRPr lang="en-US"/>
          </a:p>
        </p:txBody>
      </p:sp>
      <p:sp>
        <p:nvSpPr>
          <p:cNvPr id="22" name="Text 7">
            <a:extLst>
              <a:ext uri="{FF2B5EF4-FFF2-40B4-BE49-F238E27FC236}">
                <a16:creationId xmlns:a16="http://schemas.microsoft.com/office/drawing/2014/main" id="{4105D77D-1434-77EC-362D-2461565BDE6E}"/>
              </a:ext>
            </a:extLst>
          </p:cNvPr>
          <p:cNvSpPr/>
          <p:nvPr/>
        </p:nvSpPr>
        <p:spPr>
          <a:xfrm>
            <a:off x="3383280" y="1691640"/>
            <a:ext cx="2103120" cy="365760"/>
          </a:xfrm>
          <a:prstGeom prst="rect">
            <a:avLst/>
          </a:prstGeom>
          <a:noFill/>
          <a:ln/>
        </p:spPr>
        <p:txBody>
          <a:bodyPr wrap="square" lIns="0" tIns="0" rIns="0" bIns="0" rtlCol="0" anchor="ctr"/>
          <a:lstStyle/>
          <a:p>
            <a:pPr marL="0" indent="0">
              <a:buNone/>
            </a:pPr>
            <a:r>
              <a:rPr lang="en-US" sz="1800" b="1">
                <a:solidFill>
                  <a:srgbClr val="FFFFFF"/>
                </a:solidFill>
                <a:latin typeface="Consolas" pitchFamily="34" charset="0"/>
                <a:ea typeface="Consolas" pitchFamily="34" charset="-122"/>
                <a:cs typeface="Consolas" pitchFamily="34" charset="-120"/>
              </a:rPr>
              <a:t>English text</a:t>
            </a:r>
            <a:endParaRPr lang="en-US" sz="1800"/>
          </a:p>
        </p:txBody>
      </p:sp>
      <p:sp>
        <p:nvSpPr>
          <p:cNvPr id="24" name="Text 9">
            <a:extLst>
              <a:ext uri="{FF2B5EF4-FFF2-40B4-BE49-F238E27FC236}">
                <a16:creationId xmlns:a16="http://schemas.microsoft.com/office/drawing/2014/main" id="{4EE8A263-8D3E-BD7E-D7B4-E19B86B32145}"/>
              </a:ext>
            </a:extLst>
          </p:cNvPr>
          <p:cNvSpPr/>
          <p:nvPr/>
        </p:nvSpPr>
        <p:spPr>
          <a:xfrm>
            <a:off x="3383280" y="2788920"/>
            <a:ext cx="2103120" cy="457200"/>
          </a:xfrm>
          <a:prstGeom prst="rect">
            <a:avLst/>
          </a:prstGeom>
          <a:noFill/>
          <a:ln/>
        </p:spPr>
        <p:txBody>
          <a:bodyPr wrap="square" lIns="0" tIns="0" rIns="0" bIns="0" rtlCol="0" anchor="ctr"/>
          <a:lstStyle/>
          <a:p>
            <a:r>
              <a:rPr lang="en-US" sz="2400">
                <a:solidFill>
                  <a:srgbClr val="7B8FB0"/>
                </a:solidFill>
                <a:latin typeface="Calibri" pitchFamily="34" charset="0"/>
                <a:ea typeface="Calibri" pitchFamily="34" charset="-122"/>
                <a:cs typeface="Calibri" pitchFamily="34" charset="-120"/>
              </a:rPr>
              <a:t>Partially predictable</a:t>
            </a:r>
            <a:endParaRPr lang="en-US" sz="2400"/>
          </a:p>
        </p:txBody>
      </p:sp>
      <p:sp>
        <p:nvSpPr>
          <p:cNvPr id="25" name="Shape 10">
            <a:extLst>
              <a:ext uri="{FF2B5EF4-FFF2-40B4-BE49-F238E27FC236}">
                <a16:creationId xmlns:a16="http://schemas.microsoft.com/office/drawing/2014/main" id="{7EACEF41-8053-F25F-16E4-0AE892F4D58D}"/>
              </a:ext>
            </a:extLst>
          </p:cNvPr>
          <p:cNvSpPr/>
          <p:nvPr/>
        </p:nvSpPr>
        <p:spPr>
          <a:xfrm>
            <a:off x="5852160" y="1554480"/>
            <a:ext cx="2468880" cy="2011680"/>
          </a:xfrm>
          <a:prstGeom prst="rect">
            <a:avLst/>
          </a:prstGeom>
          <a:solidFill>
            <a:srgbClr val="4A1A1A"/>
          </a:solidFill>
          <a:ln/>
        </p:spPr>
        <p:txBody>
          <a:bodyPr/>
          <a:lstStyle/>
          <a:p>
            <a:endParaRPr lang="en-US"/>
          </a:p>
        </p:txBody>
      </p:sp>
      <p:sp>
        <p:nvSpPr>
          <p:cNvPr id="26" name="Text 11">
            <a:extLst>
              <a:ext uri="{FF2B5EF4-FFF2-40B4-BE49-F238E27FC236}">
                <a16:creationId xmlns:a16="http://schemas.microsoft.com/office/drawing/2014/main" id="{E955438C-8635-E979-FB8B-3CBE71D36274}"/>
              </a:ext>
            </a:extLst>
          </p:cNvPr>
          <p:cNvSpPr/>
          <p:nvPr/>
        </p:nvSpPr>
        <p:spPr>
          <a:xfrm>
            <a:off x="6035040" y="1691640"/>
            <a:ext cx="2103120" cy="365760"/>
          </a:xfrm>
          <a:prstGeom prst="rect">
            <a:avLst/>
          </a:prstGeom>
          <a:noFill/>
          <a:ln/>
        </p:spPr>
        <p:txBody>
          <a:bodyPr wrap="square" lIns="0" tIns="0" rIns="0" bIns="0" rtlCol="0" anchor="ctr"/>
          <a:lstStyle/>
          <a:p>
            <a:pPr marL="0" indent="0">
              <a:buNone/>
            </a:pPr>
            <a:r>
              <a:rPr lang="en-US" sz="1800" b="1">
                <a:solidFill>
                  <a:srgbClr val="FFFFFF"/>
                </a:solidFill>
                <a:latin typeface="Consolas" pitchFamily="34" charset="0"/>
                <a:ea typeface="Consolas" pitchFamily="34" charset="-122"/>
                <a:cs typeface="Consolas" pitchFamily="34" charset="-120"/>
              </a:rPr>
              <a:t>jK8#mQ2...</a:t>
            </a:r>
            <a:endParaRPr lang="en-US" sz="1800"/>
          </a:p>
        </p:txBody>
      </p:sp>
      <p:sp>
        <p:nvSpPr>
          <p:cNvPr id="28" name="Text 13">
            <a:extLst>
              <a:ext uri="{FF2B5EF4-FFF2-40B4-BE49-F238E27FC236}">
                <a16:creationId xmlns:a16="http://schemas.microsoft.com/office/drawing/2014/main" id="{76D702E5-C31D-D22F-8A7C-EFE2A1189673}"/>
              </a:ext>
            </a:extLst>
          </p:cNvPr>
          <p:cNvSpPr/>
          <p:nvPr/>
        </p:nvSpPr>
        <p:spPr>
          <a:xfrm>
            <a:off x="6035040" y="2788920"/>
            <a:ext cx="2103120" cy="457200"/>
          </a:xfrm>
          <a:prstGeom prst="rect">
            <a:avLst/>
          </a:prstGeom>
          <a:noFill/>
          <a:ln/>
        </p:spPr>
        <p:txBody>
          <a:bodyPr wrap="square" lIns="0" tIns="0" rIns="0" bIns="0" rtlCol="0" anchor="ctr"/>
          <a:lstStyle/>
          <a:p>
            <a:r>
              <a:rPr lang="en-US" sz="2400">
                <a:solidFill>
                  <a:srgbClr val="FFB1A7"/>
                </a:solidFill>
                <a:latin typeface="Calibri" pitchFamily="34" charset="0"/>
                <a:ea typeface="Calibri" pitchFamily="34" charset="-122"/>
                <a:cs typeface="Calibri" pitchFamily="34" charset="-120"/>
              </a:rPr>
              <a:t>Completely random</a:t>
            </a:r>
            <a:endParaRPr lang="en-US" sz="2400">
              <a:solidFill>
                <a:srgbClr val="FFB1A7"/>
              </a:solidFill>
            </a:endParaRPr>
          </a:p>
        </p:txBody>
      </p:sp>
      <p:sp>
        <p:nvSpPr>
          <p:cNvPr id="29" name="Shape 14">
            <a:extLst>
              <a:ext uri="{FF2B5EF4-FFF2-40B4-BE49-F238E27FC236}">
                <a16:creationId xmlns:a16="http://schemas.microsoft.com/office/drawing/2014/main" id="{A92E89DC-F4A9-FDC5-128E-9139DA60AD4A}"/>
              </a:ext>
            </a:extLst>
          </p:cNvPr>
          <p:cNvSpPr/>
          <p:nvPr/>
        </p:nvSpPr>
        <p:spPr>
          <a:xfrm>
            <a:off x="548640" y="3840480"/>
            <a:ext cx="7772400" cy="36576"/>
          </a:xfrm>
          <a:prstGeom prst="rect">
            <a:avLst/>
          </a:prstGeom>
          <a:gradFill flip="none" rotWithShape="1">
            <a:gsLst>
              <a:gs pos="15000">
                <a:schemeClr val="accent6"/>
              </a:gs>
              <a:gs pos="99000">
                <a:schemeClr val="accent2"/>
              </a:gs>
            </a:gsLst>
            <a:lin ang="0" scaled="1"/>
            <a:tileRect/>
          </a:gradFill>
          <a:ln/>
        </p:spPr>
        <p:txBody>
          <a:bodyPr/>
          <a:lstStyle/>
          <a:p>
            <a:endParaRPr lang="en-US"/>
          </a:p>
        </p:txBody>
      </p:sp>
      <p:sp>
        <p:nvSpPr>
          <p:cNvPr id="30" name="Text 15">
            <a:extLst>
              <a:ext uri="{FF2B5EF4-FFF2-40B4-BE49-F238E27FC236}">
                <a16:creationId xmlns:a16="http://schemas.microsoft.com/office/drawing/2014/main" id="{35287928-971C-1F68-2341-BA7D4A5AA5CD}"/>
              </a:ext>
            </a:extLst>
          </p:cNvPr>
          <p:cNvSpPr/>
          <p:nvPr/>
        </p:nvSpPr>
        <p:spPr>
          <a:xfrm>
            <a:off x="548640" y="3977640"/>
            <a:ext cx="1881945" cy="274320"/>
          </a:xfrm>
          <a:prstGeom prst="rect">
            <a:avLst/>
          </a:prstGeom>
          <a:noFill/>
          <a:ln/>
        </p:spPr>
        <p:txBody>
          <a:bodyPr wrap="square" lIns="0" tIns="0" rIns="0" bIns="0" rtlCol="0" anchor="ctr"/>
          <a:lstStyle/>
          <a:p>
            <a:pPr marL="0" indent="0">
              <a:buNone/>
            </a:pPr>
            <a:r>
              <a:rPr lang="en-US" sz="1100">
                <a:solidFill>
                  <a:srgbClr val="7B8FB0"/>
                </a:solidFill>
                <a:latin typeface="Calibri" pitchFamily="34" charset="0"/>
                <a:ea typeface="Calibri" pitchFamily="34" charset="-122"/>
                <a:cs typeface="Calibri" pitchFamily="34" charset="-120"/>
              </a:rPr>
              <a:t>Simple / Easy</a:t>
            </a:r>
            <a:endParaRPr lang="en-US" sz="1100"/>
          </a:p>
        </p:txBody>
      </p:sp>
      <p:sp>
        <p:nvSpPr>
          <p:cNvPr id="33" name="Text 15">
            <a:extLst>
              <a:ext uri="{FF2B5EF4-FFF2-40B4-BE49-F238E27FC236}">
                <a16:creationId xmlns:a16="http://schemas.microsoft.com/office/drawing/2014/main" id="{A61C5005-3518-C9A7-22CD-117F13A77BB7}"/>
              </a:ext>
            </a:extLst>
          </p:cNvPr>
          <p:cNvSpPr/>
          <p:nvPr/>
        </p:nvSpPr>
        <p:spPr>
          <a:xfrm>
            <a:off x="6081933" y="3977640"/>
            <a:ext cx="2239107" cy="274320"/>
          </a:xfrm>
          <a:prstGeom prst="rect">
            <a:avLst/>
          </a:prstGeom>
          <a:noFill/>
          <a:ln/>
        </p:spPr>
        <p:txBody>
          <a:bodyPr wrap="square" lIns="0" tIns="0" rIns="0" bIns="0" rtlCol="0" anchor="ctr"/>
          <a:lstStyle/>
          <a:p>
            <a:pPr marL="0" indent="0" algn="r">
              <a:buNone/>
            </a:pPr>
            <a:r>
              <a:rPr lang="en-US" sz="1100">
                <a:solidFill>
                  <a:srgbClr val="7B8FB0"/>
                </a:solidFill>
                <a:latin typeface="Calibri" pitchFamily="34" charset="0"/>
                <a:ea typeface="Calibri" pitchFamily="34" charset="-122"/>
                <a:cs typeface="Calibri" pitchFamily="34" charset="-120"/>
              </a:rPr>
              <a:t>Complex / Difficult</a:t>
            </a:r>
            <a:endParaRPr lang="en-US" sz="1100"/>
          </a:p>
        </p:txBody>
      </p:sp>
      <p:pic>
        <p:nvPicPr>
          <p:cNvPr id="34" name="Copied Picture 34" descr="Cartoon of a person&#10;&#10;AI-generated content may be incorrect.">
            <a:extLst>
              <a:ext uri="{FF2B5EF4-FFF2-40B4-BE49-F238E27FC236}">
                <a16:creationId xmlns:a16="http://schemas.microsoft.com/office/drawing/2014/main" id="{7146ECAC-3406-C5FA-A7BE-0D01AB3F5A0A}"/>
              </a:ext>
            </a:extLst>
          </p:cNvPr>
          <p:cNvPicPr>
            <a:picLocks noChangeAspect="1"/>
          </p:cNvPicPr>
          <p:nvPr/>
        </p:nvPicPr>
        <p:blipFill>
          <a:blip r:embed="rId3"/>
          <a:stretch>
            <a:fillRect/>
          </a:stretch>
        </p:blipFill>
        <p:spPr>
          <a:xfrm>
            <a:off x="3200400" y="3962400"/>
            <a:ext cx="1498600" cy="1117600"/>
          </a:xfrm>
          <a:prstGeom prst="rect">
            <a:avLst/>
          </a:prstGeom>
        </p:spPr>
      </p:pic>
      <p:sp>
        <p:nvSpPr>
          <p:cNvPr id="4" name="TextBox 3">
            <a:extLst>
              <a:ext uri="{FF2B5EF4-FFF2-40B4-BE49-F238E27FC236}">
                <a16:creationId xmlns:a16="http://schemas.microsoft.com/office/drawing/2014/main" id="{6D01FE0F-29D0-F749-9D34-B73A5FC40E82}"/>
              </a:ext>
            </a:extLst>
          </p:cNvPr>
          <p:cNvSpPr txBox="1"/>
          <p:nvPr/>
        </p:nvSpPr>
        <p:spPr>
          <a:xfrm>
            <a:off x="3175000" y="3987800"/>
            <a:ext cx="1549400" cy="2540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predictable or random?</a:t>
            </a:r>
          </a:p>
        </p:txBody>
      </p:sp>
    </p:spTree>
    <p:extLst>
      <p:ext uri="{BB962C8B-B14F-4D97-AF65-F5344CB8AC3E}">
        <p14:creationId xmlns:p14="http://schemas.microsoft.com/office/powerpoint/2010/main" val="3802893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34C6F408-BF41-3BB1-CD0B-13061BB719FB}"/>
            </a:ext>
          </a:extLst>
        </p:cNvPr>
        <p:cNvGrpSpPr/>
        <p:nvPr/>
      </p:nvGrpSpPr>
      <p:grpSpPr>
        <a:xfrm>
          <a:off x="0" y="0"/>
          <a:ext cx="0" cy="0"/>
          <a:chOff x="0" y="0"/>
          <a:chExt cx="0" cy="0"/>
        </a:xfrm>
      </p:grpSpPr>
      <p:sp>
        <p:nvSpPr>
          <p:cNvPr id="14" name="Shape 2">
            <a:extLst>
              <a:ext uri="{FF2B5EF4-FFF2-40B4-BE49-F238E27FC236}">
                <a16:creationId xmlns:a16="http://schemas.microsoft.com/office/drawing/2014/main" id="{76B95441-E01B-D258-55CB-447A216E99F5}"/>
              </a:ext>
            </a:extLst>
          </p:cNvPr>
          <p:cNvSpPr/>
          <p:nvPr/>
        </p:nvSpPr>
        <p:spPr>
          <a:xfrm>
            <a:off x="548640" y="1554480"/>
            <a:ext cx="3657600" cy="2834640"/>
          </a:xfrm>
          <a:prstGeom prst="rect">
            <a:avLst/>
          </a:prstGeom>
          <a:solidFill>
            <a:srgbClr val="222731"/>
          </a:solidFill>
          <a:ln>
            <a:noFill/>
          </a:ln>
        </p:spPr>
        <p:txBody>
          <a:bodyPr/>
          <a:lstStyle/>
          <a:p>
            <a:endParaRPr lang="en-US"/>
          </a:p>
        </p:txBody>
      </p:sp>
      <p:sp>
        <p:nvSpPr>
          <p:cNvPr id="2" name="Text 0">
            <a:extLst>
              <a:ext uri="{FF2B5EF4-FFF2-40B4-BE49-F238E27FC236}">
                <a16:creationId xmlns:a16="http://schemas.microsoft.com/office/drawing/2014/main" id="{50138DB6-78B7-FB19-916C-7B9C3048E2A4}"/>
              </a:ext>
            </a:extLst>
          </p:cNvPr>
          <p:cNvSpPr/>
          <p:nvPr/>
        </p:nvSpPr>
        <p:spPr>
          <a:xfrm>
            <a:off x="548640" y="502920"/>
            <a:ext cx="8229600" cy="640080"/>
          </a:xfrm>
          <a:prstGeom prst="rect">
            <a:avLst/>
          </a:prstGeom>
          <a:noFill/>
          <a:ln/>
        </p:spPr>
        <p:txBody>
          <a:bodyPr wrap="square" lIns="0" tIns="0" rIns="0" bIns="0" rtlCol="0" anchor="ctr"/>
          <a:lstStyle/>
          <a:p>
            <a:pPr marL="0" indent="0">
              <a:buNone/>
            </a:pPr>
            <a:endParaRPr lang="en-US" sz="3200"/>
          </a:p>
        </p:txBody>
      </p:sp>
      <p:sp>
        <p:nvSpPr>
          <p:cNvPr id="4" name="Text 2">
            <a:extLst>
              <a:ext uri="{FF2B5EF4-FFF2-40B4-BE49-F238E27FC236}">
                <a16:creationId xmlns:a16="http://schemas.microsoft.com/office/drawing/2014/main" id="{00E2DFA6-CAE3-B1DE-3914-9995133DF1E3}"/>
              </a:ext>
            </a:extLst>
          </p:cNvPr>
          <p:cNvSpPr/>
          <p:nvPr/>
        </p:nvSpPr>
        <p:spPr>
          <a:xfrm>
            <a:off x="548640" y="1735367"/>
            <a:ext cx="3657600" cy="457200"/>
          </a:xfrm>
          <a:prstGeom prst="rect">
            <a:avLst/>
          </a:prstGeom>
          <a:noFill/>
          <a:ln/>
        </p:spPr>
        <p:txBody>
          <a:bodyPr wrap="square" lIns="0" tIns="0" rIns="0" bIns="0" rtlCol="0" anchor="ctr"/>
          <a:lstStyle/>
          <a:p>
            <a:pPr marL="0" indent="0" algn="ctr">
              <a:buNone/>
            </a:pPr>
            <a:r>
              <a:rPr lang="en-US" sz="1800" b="1">
                <a:solidFill>
                  <a:srgbClr val="7FB69E"/>
                </a:solidFill>
                <a:latin typeface="Georgia" pitchFamily="34" charset="0"/>
                <a:ea typeface="Georgia" pitchFamily="34" charset="-122"/>
                <a:cs typeface="Georgia" pitchFamily="34" charset="-120"/>
              </a:rPr>
              <a:t>Fair coin flip</a:t>
            </a:r>
            <a:endParaRPr lang="en-US" sz="1800"/>
          </a:p>
        </p:txBody>
      </p:sp>
      <p:sp>
        <p:nvSpPr>
          <p:cNvPr id="5" name="Text 3">
            <a:extLst>
              <a:ext uri="{FF2B5EF4-FFF2-40B4-BE49-F238E27FC236}">
                <a16:creationId xmlns:a16="http://schemas.microsoft.com/office/drawing/2014/main" id="{D728AF6E-0BB7-F9FB-E1AF-DBF61299EAE0}"/>
              </a:ext>
            </a:extLst>
          </p:cNvPr>
          <p:cNvSpPr/>
          <p:nvPr/>
        </p:nvSpPr>
        <p:spPr>
          <a:xfrm>
            <a:off x="548640" y="2251710"/>
            <a:ext cx="3657600" cy="640080"/>
          </a:xfrm>
          <a:prstGeom prst="rect">
            <a:avLst/>
          </a:prstGeom>
          <a:noFill/>
          <a:ln/>
        </p:spPr>
        <p:txBody>
          <a:bodyPr wrap="square" lIns="0" tIns="0" rIns="0" bIns="0" rtlCol="0" anchor="ctr"/>
          <a:lstStyle/>
          <a:p>
            <a:pPr algn="ctr"/>
            <a:r>
              <a:rPr lang="en-US" sz="4000">
                <a:solidFill>
                  <a:srgbClr val="E0A458"/>
                </a:solidFill>
                <a:latin typeface="Consolas" pitchFamily="34" charset="0"/>
                <a:ea typeface="Consolas" pitchFamily="34" charset="-122"/>
                <a:cs typeface="Consolas" pitchFamily="34" charset="-120"/>
              </a:rPr>
              <a:t>ⒽⓉ</a:t>
            </a:r>
            <a:endParaRPr lang="en-US" sz="4000"/>
          </a:p>
        </p:txBody>
      </p:sp>
      <p:sp>
        <p:nvSpPr>
          <p:cNvPr id="6" name="Text 4">
            <a:extLst>
              <a:ext uri="{FF2B5EF4-FFF2-40B4-BE49-F238E27FC236}">
                <a16:creationId xmlns:a16="http://schemas.microsoft.com/office/drawing/2014/main" id="{1193A2BA-F046-C397-04C3-3D26B6955C14}"/>
              </a:ext>
            </a:extLst>
          </p:cNvPr>
          <p:cNvSpPr/>
          <p:nvPr/>
        </p:nvSpPr>
        <p:spPr>
          <a:xfrm>
            <a:off x="548640" y="2923422"/>
            <a:ext cx="3657600" cy="365760"/>
          </a:xfrm>
          <a:prstGeom prst="rect">
            <a:avLst/>
          </a:prstGeom>
          <a:noFill/>
          <a:ln/>
        </p:spPr>
        <p:txBody>
          <a:bodyPr wrap="square" lIns="0" tIns="0" rIns="0" bIns="0" rtlCol="0" anchor="ctr"/>
          <a:lstStyle/>
          <a:p>
            <a:pPr marL="0" indent="0" algn="ctr">
              <a:buNone/>
            </a:pPr>
            <a:r>
              <a:rPr lang="en-US" sz="1300">
                <a:solidFill>
                  <a:srgbClr val="D8D6CE"/>
                </a:solidFill>
                <a:latin typeface="Calibri" pitchFamily="34" charset="0"/>
                <a:ea typeface="Calibri" pitchFamily="34" charset="-122"/>
                <a:cs typeface="Calibri" pitchFamily="34" charset="-120"/>
              </a:rPr>
              <a:t>50 / 50</a:t>
            </a:r>
            <a:endParaRPr lang="en-US" sz="1300"/>
          </a:p>
        </p:txBody>
      </p:sp>
      <p:sp>
        <p:nvSpPr>
          <p:cNvPr id="7" name="Text 5">
            <a:extLst>
              <a:ext uri="{FF2B5EF4-FFF2-40B4-BE49-F238E27FC236}">
                <a16:creationId xmlns:a16="http://schemas.microsoft.com/office/drawing/2014/main" id="{9CA8C3B1-686D-FC94-2D2E-C05C4423890A}"/>
              </a:ext>
            </a:extLst>
          </p:cNvPr>
          <p:cNvSpPr/>
          <p:nvPr/>
        </p:nvSpPr>
        <p:spPr>
          <a:xfrm>
            <a:off x="548640" y="3289182"/>
            <a:ext cx="3657600" cy="731520"/>
          </a:xfrm>
          <a:prstGeom prst="rect">
            <a:avLst/>
          </a:prstGeom>
          <a:noFill/>
          <a:ln/>
        </p:spPr>
        <p:txBody>
          <a:bodyPr wrap="square" lIns="0" tIns="0" rIns="0" bIns="0" rtlCol="0" anchor="ctr"/>
          <a:lstStyle/>
          <a:p>
            <a:pPr marL="0" indent="0" algn="ctr">
              <a:buNone/>
            </a:pPr>
            <a:r>
              <a:rPr lang="en-US" sz="4800" b="1">
                <a:solidFill>
                  <a:srgbClr val="7FB69E"/>
                </a:solidFill>
                <a:latin typeface="Georgia" pitchFamily="34" charset="0"/>
                <a:ea typeface="Georgia" pitchFamily="34" charset="-122"/>
                <a:cs typeface="Georgia" pitchFamily="34" charset="-120"/>
              </a:rPr>
              <a:t>1 / 2</a:t>
            </a:r>
            <a:endParaRPr lang="en-US" sz="4800"/>
          </a:p>
        </p:txBody>
      </p:sp>
      <p:sp>
        <p:nvSpPr>
          <p:cNvPr id="8" name="Shape 6">
            <a:extLst>
              <a:ext uri="{FF2B5EF4-FFF2-40B4-BE49-F238E27FC236}">
                <a16:creationId xmlns:a16="http://schemas.microsoft.com/office/drawing/2014/main" id="{D331F925-0899-0E4D-8B82-D513703BEB35}"/>
              </a:ext>
            </a:extLst>
          </p:cNvPr>
          <p:cNvSpPr/>
          <p:nvPr/>
        </p:nvSpPr>
        <p:spPr>
          <a:xfrm>
            <a:off x="4937760" y="1554478"/>
            <a:ext cx="3657600" cy="2834641"/>
          </a:xfrm>
          <a:prstGeom prst="rect">
            <a:avLst/>
          </a:prstGeom>
          <a:solidFill>
            <a:srgbClr val="222731"/>
          </a:solidFill>
          <a:ln/>
          <a:effectLst/>
        </p:spPr>
        <p:txBody>
          <a:bodyPr/>
          <a:lstStyle/>
          <a:p>
            <a:endParaRPr lang="en-US"/>
          </a:p>
        </p:txBody>
      </p:sp>
      <p:sp>
        <p:nvSpPr>
          <p:cNvPr id="9" name="Text 7">
            <a:extLst>
              <a:ext uri="{FF2B5EF4-FFF2-40B4-BE49-F238E27FC236}">
                <a16:creationId xmlns:a16="http://schemas.microsoft.com/office/drawing/2014/main" id="{EC51BDFD-3239-6445-86F9-643EE92A5B13}"/>
              </a:ext>
            </a:extLst>
          </p:cNvPr>
          <p:cNvSpPr/>
          <p:nvPr/>
        </p:nvSpPr>
        <p:spPr>
          <a:xfrm>
            <a:off x="4937760" y="1729844"/>
            <a:ext cx="3657600" cy="457200"/>
          </a:xfrm>
          <a:prstGeom prst="rect">
            <a:avLst/>
          </a:prstGeom>
          <a:noFill/>
          <a:ln/>
        </p:spPr>
        <p:txBody>
          <a:bodyPr wrap="square" lIns="0" tIns="0" rIns="0" bIns="0" rtlCol="0" anchor="ctr"/>
          <a:lstStyle/>
          <a:p>
            <a:pPr marL="0" indent="0" algn="ctr">
              <a:buNone/>
            </a:pPr>
            <a:r>
              <a:rPr lang="en-US" sz="1800" b="1">
                <a:solidFill>
                  <a:schemeClr val="accent1">
                    <a:lumMod val="60000"/>
                    <a:lumOff val="40000"/>
                  </a:schemeClr>
                </a:solidFill>
                <a:latin typeface="Georgia" pitchFamily="34" charset="0"/>
                <a:ea typeface="Georgia" pitchFamily="34" charset="-122"/>
                <a:cs typeface="Georgia" pitchFamily="34" charset="-120"/>
              </a:rPr>
              <a:t>Roll of a die</a:t>
            </a:r>
            <a:endParaRPr lang="en-US" sz="1800">
              <a:solidFill>
                <a:schemeClr val="accent1">
                  <a:lumMod val="60000"/>
                  <a:lumOff val="40000"/>
                </a:schemeClr>
              </a:solidFill>
            </a:endParaRPr>
          </a:p>
        </p:txBody>
      </p:sp>
      <p:sp>
        <p:nvSpPr>
          <p:cNvPr id="10" name="Text 8">
            <a:extLst>
              <a:ext uri="{FF2B5EF4-FFF2-40B4-BE49-F238E27FC236}">
                <a16:creationId xmlns:a16="http://schemas.microsoft.com/office/drawing/2014/main" id="{8560731F-3567-93ED-BF9D-C6D5EBB8B913}"/>
              </a:ext>
            </a:extLst>
          </p:cNvPr>
          <p:cNvSpPr/>
          <p:nvPr/>
        </p:nvSpPr>
        <p:spPr>
          <a:xfrm>
            <a:off x="4937760" y="2256894"/>
            <a:ext cx="3657600" cy="640080"/>
          </a:xfrm>
          <a:prstGeom prst="rect">
            <a:avLst/>
          </a:prstGeom>
          <a:noFill/>
          <a:ln/>
        </p:spPr>
        <p:txBody>
          <a:bodyPr wrap="square" lIns="0" tIns="0" rIns="0" bIns="0" rtlCol="0" anchor="ctr"/>
          <a:lstStyle/>
          <a:p>
            <a:pPr marL="0" indent="0" algn="ctr">
              <a:buNone/>
            </a:pPr>
            <a:r>
              <a:rPr lang="en-US" sz="4000">
                <a:solidFill>
                  <a:srgbClr val="E0A458"/>
                </a:solidFill>
                <a:latin typeface="Consolas" pitchFamily="34" charset="0"/>
                <a:ea typeface="Consolas" pitchFamily="34" charset="-122"/>
                <a:cs typeface="Consolas" pitchFamily="34" charset="-120"/>
              </a:rPr>
              <a:t>⚀⚁⚂⚃⚄⚅</a:t>
            </a:r>
            <a:endParaRPr lang="en-US" sz="4000"/>
          </a:p>
        </p:txBody>
      </p:sp>
      <p:sp>
        <p:nvSpPr>
          <p:cNvPr id="11" name="Text 9">
            <a:extLst>
              <a:ext uri="{FF2B5EF4-FFF2-40B4-BE49-F238E27FC236}">
                <a16:creationId xmlns:a16="http://schemas.microsoft.com/office/drawing/2014/main" id="{7F5BAA4C-0683-1729-820C-61EEE339461C}"/>
              </a:ext>
            </a:extLst>
          </p:cNvPr>
          <p:cNvSpPr/>
          <p:nvPr/>
        </p:nvSpPr>
        <p:spPr>
          <a:xfrm>
            <a:off x="4937760" y="2923422"/>
            <a:ext cx="3657600" cy="365760"/>
          </a:xfrm>
          <a:prstGeom prst="rect">
            <a:avLst/>
          </a:prstGeom>
          <a:noFill/>
          <a:ln/>
        </p:spPr>
        <p:txBody>
          <a:bodyPr wrap="square" lIns="0" tIns="0" rIns="0" bIns="0" rtlCol="0" anchor="ctr"/>
          <a:lstStyle/>
          <a:p>
            <a:pPr marL="0" indent="0" algn="ctr">
              <a:buNone/>
            </a:pPr>
            <a:r>
              <a:rPr lang="en-US" sz="1300">
                <a:solidFill>
                  <a:srgbClr val="D8D6CE"/>
                </a:solidFill>
                <a:latin typeface="Calibri" pitchFamily="34" charset="0"/>
                <a:ea typeface="Calibri" pitchFamily="34" charset="-122"/>
                <a:cs typeface="Calibri" pitchFamily="34" charset="-120"/>
              </a:rPr>
              <a:t>6 equally likely outcomes</a:t>
            </a:r>
            <a:endParaRPr lang="en-US" sz="1300"/>
          </a:p>
        </p:txBody>
      </p:sp>
      <p:sp>
        <p:nvSpPr>
          <p:cNvPr id="12" name="Text 10">
            <a:extLst>
              <a:ext uri="{FF2B5EF4-FFF2-40B4-BE49-F238E27FC236}">
                <a16:creationId xmlns:a16="http://schemas.microsoft.com/office/drawing/2014/main" id="{22537232-5054-5669-2840-EF5FAF22A6E1}"/>
              </a:ext>
            </a:extLst>
          </p:cNvPr>
          <p:cNvSpPr/>
          <p:nvPr/>
        </p:nvSpPr>
        <p:spPr>
          <a:xfrm>
            <a:off x="4937760" y="3289182"/>
            <a:ext cx="3657600" cy="731520"/>
          </a:xfrm>
          <a:prstGeom prst="rect">
            <a:avLst/>
          </a:prstGeom>
          <a:noFill/>
          <a:ln/>
        </p:spPr>
        <p:txBody>
          <a:bodyPr wrap="square" lIns="0" tIns="0" rIns="0" bIns="0" rtlCol="0" anchor="ctr"/>
          <a:lstStyle/>
          <a:p>
            <a:pPr marL="0" indent="0" algn="ctr">
              <a:buNone/>
            </a:pPr>
            <a:r>
              <a:rPr lang="en-US" sz="4800" b="1">
                <a:solidFill>
                  <a:schemeClr val="accent1">
                    <a:lumMod val="60000"/>
                    <a:lumOff val="40000"/>
                  </a:schemeClr>
                </a:solidFill>
                <a:latin typeface="Georgia" pitchFamily="34" charset="0"/>
                <a:ea typeface="Georgia" pitchFamily="34" charset="-122"/>
                <a:cs typeface="Georgia" pitchFamily="34" charset="-120"/>
              </a:rPr>
              <a:t>1/6</a:t>
            </a:r>
            <a:endParaRPr lang="en-US" sz="4800">
              <a:solidFill>
                <a:schemeClr val="accent1">
                  <a:lumMod val="60000"/>
                  <a:lumOff val="40000"/>
                </a:schemeClr>
              </a:solidFill>
            </a:endParaRPr>
          </a:p>
        </p:txBody>
      </p:sp>
      <p:sp>
        <p:nvSpPr>
          <p:cNvPr id="19" name="Text 0">
            <a:extLst>
              <a:ext uri="{FF2B5EF4-FFF2-40B4-BE49-F238E27FC236}">
                <a16:creationId xmlns:a16="http://schemas.microsoft.com/office/drawing/2014/main" id="{0E5B3A8D-B239-947F-AF2E-78B96C9127A5}"/>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sp>
        <p:nvSpPr>
          <p:cNvPr id="16" name="Text 1">
            <a:extLst>
              <a:ext uri="{FF2B5EF4-FFF2-40B4-BE49-F238E27FC236}">
                <a16:creationId xmlns:a16="http://schemas.microsoft.com/office/drawing/2014/main" id="{D41C48B1-BD2D-A5A1-F0CF-1454657C0092}"/>
              </a:ext>
            </a:extLst>
          </p:cNvPr>
          <p:cNvSpPr/>
          <p:nvPr/>
        </p:nvSpPr>
        <p:spPr>
          <a:xfrm>
            <a:off x="548640" y="640080"/>
            <a:ext cx="8229600" cy="640080"/>
          </a:xfrm>
          <a:prstGeom prst="rect">
            <a:avLst/>
          </a:prstGeom>
          <a:noFill/>
          <a:ln/>
        </p:spPr>
        <p:txBody>
          <a:bodyPr wrap="square" lIns="0" tIns="0" rIns="0" bIns="0" rtlCol="0" anchor="ctr"/>
          <a:lstStyle/>
          <a:p>
            <a:r>
              <a:rPr lang="en-US" sz="3600" b="1">
                <a:solidFill>
                  <a:srgbClr val="F1F0EA"/>
                </a:solidFill>
                <a:latin typeface="Georgia" pitchFamily="34" charset="0"/>
                <a:ea typeface="Georgia" pitchFamily="34" charset="-122"/>
                <a:cs typeface="Georgia" pitchFamily="34" charset="-120"/>
              </a:rPr>
              <a:t>What is information?</a:t>
            </a:r>
            <a:endParaRPr lang="en-US" sz="3600"/>
          </a:p>
        </p:txBody>
      </p:sp>
    </p:spTree>
    <p:extLst>
      <p:ext uri="{BB962C8B-B14F-4D97-AF65-F5344CB8AC3E}">
        <p14:creationId xmlns:p14="http://schemas.microsoft.com/office/powerpoint/2010/main" val="2280232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9E0C60C8-2823-7CAA-1E53-03C3085EAF43}"/>
            </a:ext>
          </a:extLst>
        </p:cNvPr>
        <p:cNvGrpSpPr/>
        <p:nvPr/>
      </p:nvGrpSpPr>
      <p:grpSpPr>
        <a:xfrm>
          <a:off x="0" y="0"/>
          <a:ext cx="0" cy="0"/>
          <a:chOff x="0" y="0"/>
          <a:chExt cx="0" cy="0"/>
        </a:xfrm>
      </p:grpSpPr>
      <p:sp>
        <p:nvSpPr>
          <p:cNvPr id="14" name="Shape 2">
            <a:extLst>
              <a:ext uri="{FF2B5EF4-FFF2-40B4-BE49-F238E27FC236}">
                <a16:creationId xmlns:a16="http://schemas.microsoft.com/office/drawing/2014/main" id="{F8E82BF3-5F37-9E2C-8276-3484B4BECA6E}"/>
              </a:ext>
            </a:extLst>
          </p:cNvPr>
          <p:cNvSpPr/>
          <p:nvPr/>
        </p:nvSpPr>
        <p:spPr>
          <a:xfrm>
            <a:off x="548640" y="1554480"/>
            <a:ext cx="3657600" cy="2834640"/>
          </a:xfrm>
          <a:prstGeom prst="rect">
            <a:avLst/>
          </a:prstGeom>
          <a:solidFill>
            <a:srgbClr val="222731"/>
          </a:solidFill>
          <a:ln>
            <a:solidFill>
              <a:schemeClr val="accent2">
                <a:lumMod val="40000"/>
                <a:lumOff val="60000"/>
              </a:schemeClr>
            </a:solidFill>
          </a:ln>
        </p:spPr>
        <p:txBody>
          <a:bodyPr/>
          <a:lstStyle/>
          <a:p>
            <a:endParaRPr lang="en-US"/>
          </a:p>
        </p:txBody>
      </p:sp>
      <p:sp>
        <p:nvSpPr>
          <p:cNvPr id="2" name="Text 0">
            <a:extLst>
              <a:ext uri="{FF2B5EF4-FFF2-40B4-BE49-F238E27FC236}">
                <a16:creationId xmlns:a16="http://schemas.microsoft.com/office/drawing/2014/main" id="{C3496403-8A89-D761-D0D7-AED8469F6E30}"/>
              </a:ext>
            </a:extLst>
          </p:cNvPr>
          <p:cNvSpPr/>
          <p:nvPr/>
        </p:nvSpPr>
        <p:spPr>
          <a:xfrm>
            <a:off x="548640" y="502920"/>
            <a:ext cx="8229600" cy="640080"/>
          </a:xfrm>
          <a:prstGeom prst="rect">
            <a:avLst/>
          </a:prstGeom>
          <a:noFill/>
          <a:ln/>
        </p:spPr>
        <p:txBody>
          <a:bodyPr wrap="square" lIns="0" tIns="0" rIns="0" bIns="0" rtlCol="0" anchor="ctr"/>
          <a:lstStyle/>
          <a:p>
            <a:pPr marL="0" indent="0">
              <a:buNone/>
            </a:pPr>
            <a:endParaRPr lang="en-US" sz="3200"/>
          </a:p>
        </p:txBody>
      </p:sp>
      <p:sp>
        <p:nvSpPr>
          <p:cNvPr id="4" name="Text 2">
            <a:extLst>
              <a:ext uri="{FF2B5EF4-FFF2-40B4-BE49-F238E27FC236}">
                <a16:creationId xmlns:a16="http://schemas.microsoft.com/office/drawing/2014/main" id="{51E1A4B0-CF83-1ED1-411F-74F93422AF85}"/>
              </a:ext>
            </a:extLst>
          </p:cNvPr>
          <p:cNvSpPr/>
          <p:nvPr/>
        </p:nvSpPr>
        <p:spPr>
          <a:xfrm>
            <a:off x="548640" y="1735367"/>
            <a:ext cx="3657600" cy="457200"/>
          </a:xfrm>
          <a:prstGeom prst="rect">
            <a:avLst/>
          </a:prstGeom>
          <a:noFill/>
          <a:ln/>
        </p:spPr>
        <p:txBody>
          <a:bodyPr wrap="square" lIns="0" tIns="0" rIns="0" bIns="0" rtlCol="0" anchor="ctr"/>
          <a:lstStyle/>
          <a:p>
            <a:pPr marL="0" indent="0" algn="ctr">
              <a:buNone/>
            </a:pPr>
            <a:r>
              <a:rPr lang="en-US" sz="1800" b="1">
                <a:solidFill>
                  <a:srgbClr val="7FB69E"/>
                </a:solidFill>
                <a:latin typeface="Georgia" pitchFamily="34" charset="0"/>
                <a:ea typeface="Georgia" pitchFamily="34" charset="-122"/>
                <a:cs typeface="Georgia" pitchFamily="34" charset="-120"/>
              </a:rPr>
              <a:t>Fair coin flip</a:t>
            </a:r>
            <a:endParaRPr lang="en-US" sz="1800"/>
          </a:p>
        </p:txBody>
      </p:sp>
      <p:sp>
        <p:nvSpPr>
          <p:cNvPr id="5" name="Text 3">
            <a:extLst>
              <a:ext uri="{FF2B5EF4-FFF2-40B4-BE49-F238E27FC236}">
                <a16:creationId xmlns:a16="http://schemas.microsoft.com/office/drawing/2014/main" id="{851C7222-833E-55B6-3E0F-0DE7FE58D6A7}"/>
              </a:ext>
            </a:extLst>
          </p:cNvPr>
          <p:cNvSpPr/>
          <p:nvPr/>
        </p:nvSpPr>
        <p:spPr>
          <a:xfrm>
            <a:off x="548640" y="2251710"/>
            <a:ext cx="3657600" cy="640080"/>
          </a:xfrm>
          <a:prstGeom prst="rect">
            <a:avLst/>
          </a:prstGeom>
          <a:noFill/>
          <a:ln/>
        </p:spPr>
        <p:txBody>
          <a:bodyPr wrap="square" lIns="0" tIns="0" rIns="0" bIns="0" rtlCol="0" anchor="ctr"/>
          <a:lstStyle/>
          <a:p>
            <a:pPr algn="ctr"/>
            <a:r>
              <a:rPr lang="en-US" sz="4000">
                <a:solidFill>
                  <a:srgbClr val="E0A458"/>
                </a:solidFill>
                <a:latin typeface="Consolas" pitchFamily="34" charset="0"/>
                <a:ea typeface="Consolas" pitchFamily="34" charset="-122"/>
                <a:cs typeface="Consolas" pitchFamily="34" charset="-120"/>
              </a:rPr>
              <a:t>ⒽⓉ</a:t>
            </a:r>
            <a:endParaRPr lang="en-US" sz="4000"/>
          </a:p>
        </p:txBody>
      </p:sp>
      <p:sp>
        <p:nvSpPr>
          <p:cNvPr id="6" name="Text 4">
            <a:extLst>
              <a:ext uri="{FF2B5EF4-FFF2-40B4-BE49-F238E27FC236}">
                <a16:creationId xmlns:a16="http://schemas.microsoft.com/office/drawing/2014/main" id="{FB7144E6-280C-6639-862F-5E52660916B9}"/>
              </a:ext>
            </a:extLst>
          </p:cNvPr>
          <p:cNvSpPr/>
          <p:nvPr/>
        </p:nvSpPr>
        <p:spPr>
          <a:xfrm>
            <a:off x="548640" y="2923422"/>
            <a:ext cx="3657600" cy="365760"/>
          </a:xfrm>
          <a:prstGeom prst="rect">
            <a:avLst/>
          </a:prstGeom>
          <a:noFill/>
          <a:ln/>
        </p:spPr>
        <p:txBody>
          <a:bodyPr wrap="square" lIns="0" tIns="0" rIns="0" bIns="0" rtlCol="0" anchor="ctr"/>
          <a:lstStyle/>
          <a:p>
            <a:pPr marL="0" indent="0" algn="ctr">
              <a:buNone/>
            </a:pPr>
            <a:r>
              <a:rPr lang="en-US" sz="1300">
                <a:solidFill>
                  <a:srgbClr val="D8D6CE"/>
                </a:solidFill>
                <a:latin typeface="Calibri" pitchFamily="34" charset="0"/>
                <a:ea typeface="Calibri" pitchFamily="34" charset="-122"/>
                <a:cs typeface="Calibri" pitchFamily="34" charset="-120"/>
              </a:rPr>
              <a:t>50 / 50</a:t>
            </a:r>
            <a:endParaRPr lang="en-US" sz="1300"/>
          </a:p>
        </p:txBody>
      </p:sp>
      <p:sp>
        <p:nvSpPr>
          <p:cNvPr id="7" name="Text 5">
            <a:extLst>
              <a:ext uri="{FF2B5EF4-FFF2-40B4-BE49-F238E27FC236}">
                <a16:creationId xmlns:a16="http://schemas.microsoft.com/office/drawing/2014/main" id="{776593C2-B2EC-DCD7-AE81-674BB54EE30E}"/>
              </a:ext>
            </a:extLst>
          </p:cNvPr>
          <p:cNvSpPr/>
          <p:nvPr/>
        </p:nvSpPr>
        <p:spPr>
          <a:xfrm>
            <a:off x="548640" y="3289182"/>
            <a:ext cx="3657600" cy="731520"/>
          </a:xfrm>
          <a:prstGeom prst="rect">
            <a:avLst/>
          </a:prstGeom>
          <a:noFill/>
          <a:ln/>
        </p:spPr>
        <p:txBody>
          <a:bodyPr wrap="square" lIns="0" tIns="0" rIns="0" bIns="0" rtlCol="0" anchor="ctr"/>
          <a:lstStyle/>
          <a:p>
            <a:pPr marL="0" indent="0" algn="ctr">
              <a:buNone/>
            </a:pPr>
            <a:r>
              <a:rPr lang="en-US" sz="4800" b="1">
                <a:solidFill>
                  <a:srgbClr val="7FB69E"/>
                </a:solidFill>
                <a:latin typeface="Georgia" pitchFamily="34" charset="0"/>
                <a:ea typeface="Georgia" pitchFamily="34" charset="-122"/>
                <a:cs typeface="Georgia" pitchFamily="34" charset="-120"/>
              </a:rPr>
              <a:t>= 1 bit</a:t>
            </a:r>
            <a:endParaRPr lang="en-US" sz="4800"/>
          </a:p>
        </p:txBody>
      </p:sp>
      <p:sp>
        <p:nvSpPr>
          <p:cNvPr id="8" name="Shape 6">
            <a:extLst>
              <a:ext uri="{FF2B5EF4-FFF2-40B4-BE49-F238E27FC236}">
                <a16:creationId xmlns:a16="http://schemas.microsoft.com/office/drawing/2014/main" id="{52696D6A-C68C-4C85-253D-42079F8726E7}"/>
              </a:ext>
            </a:extLst>
          </p:cNvPr>
          <p:cNvSpPr/>
          <p:nvPr/>
        </p:nvSpPr>
        <p:spPr>
          <a:xfrm>
            <a:off x="4937760" y="1554478"/>
            <a:ext cx="3657600" cy="2834641"/>
          </a:xfrm>
          <a:prstGeom prst="rect">
            <a:avLst/>
          </a:prstGeom>
          <a:solidFill>
            <a:srgbClr val="222731"/>
          </a:solidFill>
          <a:ln/>
          <a:effectLst/>
        </p:spPr>
        <p:txBody>
          <a:bodyPr/>
          <a:lstStyle/>
          <a:p>
            <a:endParaRPr lang="en-US"/>
          </a:p>
        </p:txBody>
      </p:sp>
      <p:sp>
        <p:nvSpPr>
          <p:cNvPr id="9" name="Text 7">
            <a:extLst>
              <a:ext uri="{FF2B5EF4-FFF2-40B4-BE49-F238E27FC236}">
                <a16:creationId xmlns:a16="http://schemas.microsoft.com/office/drawing/2014/main" id="{FE5C65F2-3988-CB05-7EA6-DB3F65430953}"/>
              </a:ext>
            </a:extLst>
          </p:cNvPr>
          <p:cNvSpPr/>
          <p:nvPr/>
        </p:nvSpPr>
        <p:spPr>
          <a:xfrm>
            <a:off x="4937760" y="1729844"/>
            <a:ext cx="3657600" cy="457200"/>
          </a:xfrm>
          <a:prstGeom prst="rect">
            <a:avLst/>
          </a:prstGeom>
          <a:noFill/>
          <a:ln/>
        </p:spPr>
        <p:txBody>
          <a:bodyPr wrap="square" lIns="0" tIns="0" rIns="0" bIns="0" rtlCol="0" anchor="ctr"/>
          <a:lstStyle/>
          <a:p>
            <a:pPr marL="0" indent="0" algn="ctr">
              <a:buNone/>
            </a:pPr>
            <a:r>
              <a:rPr lang="en-US" sz="1800" b="1">
                <a:solidFill>
                  <a:schemeClr val="accent1">
                    <a:lumMod val="60000"/>
                    <a:lumOff val="40000"/>
                  </a:schemeClr>
                </a:solidFill>
                <a:latin typeface="Georgia" pitchFamily="34" charset="0"/>
                <a:ea typeface="Georgia" pitchFamily="34" charset="-122"/>
                <a:cs typeface="Georgia" pitchFamily="34" charset="-120"/>
              </a:rPr>
              <a:t>Roll of a die</a:t>
            </a:r>
            <a:endParaRPr lang="en-US" sz="1800">
              <a:solidFill>
                <a:schemeClr val="accent1">
                  <a:lumMod val="60000"/>
                  <a:lumOff val="40000"/>
                </a:schemeClr>
              </a:solidFill>
            </a:endParaRPr>
          </a:p>
        </p:txBody>
      </p:sp>
      <p:sp>
        <p:nvSpPr>
          <p:cNvPr id="10" name="Text 8">
            <a:extLst>
              <a:ext uri="{FF2B5EF4-FFF2-40B4-BE49-F238E27FC236}">
                <a16:creationId xmlns:a16="http://schemas.microsoft.com/office/drawing/2014/main" id="{A4B7A56E-5F51-56FA-E840-E2193C42235C}"/>
              </a:ext>
            </a:extLst>
          </p:cNvPr>
          <p:cNvSpPr/>
          <p:nvPr/>
        </p:nvSpPr>
        <p:spPr>
          <a:xfrm>
            <a:off x="4937760" y="2256894"/>
            <a:ext cx="3657600" cy="640080"/>
          </a:xfrm>
          <a:prstGeom prst="rect">
            <a:avLst/>
          </a:prstGeom>
          <a:noFill/>
          <a:ln/>
        </p:spPr>
        <p:txBody>
          <a:bodyPr wrap="square" lIns="0" tIns="0" rIns="0" bIns="0" rtlCol="0" anchor="ctr"/>
          <a:lstStyle/>
          <a:p>
            <a:pPr marL="0" indent="0" algn="ctr">
              <a:buNone/>
            </a:pPr>
            <a:r>
              <a:rPr lang="en-US" sz="4000">
                <a:solidFill>
                  <a:srgbClr val="E0A458"/>
                </a:solidFill>
                <a:latin typeface="Consolas" pitchFamily="34" charset="0"/>
                <a:ea typeface="Consolas" pitchFamily="34" charset="-122"/>
                <a:cs typeface="Consolas" pitchFamily="34" charset="-120"/>
              </a:rPr>
              <a:t>⚀⚁⚂⚃⚄⚅</a:t>
            </a:r>
            <a:endParaRPr lang="en-US" sz="4000"/>
          </a:p>
        </p:txBody>
      </p:sp>
      <p:sp>
        <p:nvSpPr>
          <p:cNvPr id="11" name="Text 9">
            <a:extLst>
              <a:ext uri="{FF2B5EF4-FFF2-40B4-BE49-F238E27FC236}">
                <a16:creationId xmlns:a16="http://schemas.microsoft.com/office/drawing/2014/main" id="{61732324-011D-3378-1869-448C4F1C1B10}"/>
              </a:ext>
            </a:extLst>
          </p:cNvPr>
          <p:cNvSpPr/>
          <p:nvPr/>
        </p:nvSpPr>
        <p:spPr>
          <a:xfrm>
            <a:off x="4937760" y="2923422"/>
            <a:ext cx="3657600" cy="365760"/>
          </a:xfrm>
          <a:prstGeom prst="rect">
            <a:avLst/>
          </a:prstGeom>
          <a:noFill/>
          <a:ln/>
        </p:spPr>
        <p:txBody>
          <a:bodyPr wrap="square" lIns="0" tIns="0" rIns="0" bIns="0" rtlCol="0" anchor="ctr"/>
          <a:lstStyle/>
          <a:p>
            <a:pPr marL="0" indent="0" algn="ctr">
              <a:buNone/>
            </a:pPr>
            <a:r>
              <a:rPr lang="en-US" sz="1300">
                <a:solidFill>
                  <a:srgbClr val="D8D6CE"/>
                </a:solidFill>
                <a:latin typeface="Calibri" pitchFamily="34" charset="0"/>
                <a:ea typeface="Calibri" pitchFamily="34" charset="-122"/>
                <a:cs typeface="Calibri" pitchFamily="34" charset="-120"/>
              </a:rPr>
              <a:t>6 equally likely outcomes</a:t>
            </a:r>
            <a:endParaRPr lang="en-US" sz="1300"/>
          </a:p>
        </p:txBody>
      </p:sp>
      <p:sp>
        <p:nvSpPr>
          <p:cNvPr id="12" name="Text 10">
            <a:extLst>
              <a:ext uri="{FF2B5EF4-FFF2-40B4-BE49-F238E27FC236}">
                <a16:creationId xmlns:a16="http://schemas.microsoft.com/office/drawing/2014/main" id="{EE6D8D09-0749-41D9-B9BF-AFB90E6491B7}"/>
              </a:ext>
            </a:extLst>
          </p:cNvPr>
          <p:cNvSpPr/>
          <p:nvPr/>
        </p:nvSpPr>
        <p:spPr>
          <a:xfrm>
            <a:off x="4937760" y="3289182"/>
            <a:ext cx="3657600" cy="731520"/>
          </a:xfrm>
          <a:prstGeom prst="rect">
            <a:avLst/>
          </a:prstGeom>
          <a:noFill/>
          <a:ln/>
        </p:spPr>
        <p:txBody>
          <a:bodyPr wrap="square" lIns="0" tIns="0" rIns="0" bIns="0" rtlCol="0" anchor="ctr"/>
          <a:lstStyle/>
          <a:p>
            <a:pPr marL="0" indent="0" algn="ctr">
              <a:buNone/>
            </a:pPr>
            <a:r>
              <a:rPr lang="en-US" sz="4800" b="1">
                <a:solidFill>
                  <a:schemeClr val="accent1">
                    <a:lumMod val="60000"/>
                    <a:lumOff val="40000"/>
                  </a:schemeClr>
                </a:solidFill>
                <a:latin typeface="Georgia" pitchFamily="34" charset="0"/>
                <a:ea typeface="Georgia" pitchFamily="34" charset="-122"/>
                <a:cs typeface="Georgia" pitchFamily="34" charset="-120"/>
              </a:rPr>
              <a:t>≈ 2.58 bits</a:t>
            </a:r>
            <a:endParaRPr lang="en-US" sz="4800">
              <a:solidFill>
                <a:schemeClr val="accent1">
                  <a:lumMod val="60000"/>
                  <a:lumOff val="40000"/>
                </a:schemeClr>
              </a:solidFill>
            </a:endParaRPr>
          </a:p>
        </p:txBody>
      </p:sp>
      <p:sp>
        <p:nvSpPr>
          <p:cNvPr id="13" name="Text 11">
            <a:extLst>
              <a:ext uri="{FF2B5EF4-FFF2-40B4-BE49-F238E27FC236}">
                <a16:creationId xmlns:a16="http://schemas.microsoft.com/office/drawing/2014/main" id="{DC411D5F-7C5A-B72E-83CC-DA1AEAF3D767}"/>
              </a:ext>
            </a:extLst>
          </p:cNvPr>
          <p:cNvSpPr/>
          <p:nvPr/>
        </p:nvSpPr>
        <p:spPr>
          <a:xfrm>
            <a:off x="548640" y="4572000"/>
            <a:ext cx="8229600" cy="365760"/>
          </a:xfrm>
          <a:prstGeom prst="rect">
            <a:avLst/>
          </a:prstGeom>
          <a:noFill/>
          <a:ln/>
        </p:spPr>
        <p:txBody>
          <a:bodyPr wrap="square" lIns="0" tIns="0" rIns="0" bIns="0" rtlCol="0" anchor="ctr"/>
          <a:lstStyle/>
          <a:p>
            <a:r>
              <a:rPr lang="en-US" sz="1300" b="1" i="1">
                <a:solidFill>
                  <a:srgbClr val="D8D6CE"/>
                </a:solidFill>
                <a:latin typeface="Calibri" pitchFamily="34" charset="0"/>
                <a:ea typeface="Calibri" pitchFamily="34" charset="-122"/>
                <a:cs typeface="Calibri" pitchFamily="34" charset="-120"/>
              </a:rPr>
              <a:t>The bit is the fundamental unit of uncertainty</a:t>
            </a:r>
            <a:r>
              <a:rPr lang="en-US" sz="1300" i="1">
                <a:solidFill>
                  <a:srgbClr val="9AA0A8"/>
                </a:solidFill>
                <a:latin typeface="Calibri" pitchFamily="34" charset="0"/>
                <a:ea typeface="Calibri" pitchFamily="34" charset="-122"/>
                <a:cs typeface="Calibri" pitchFamily="34" charset="-120"/>
              </a:rPr>
              <a:t>. </a:t>
            </a:r>
            <a:r>
              <a:rPr lang="en-US" sz="1300" i="1">
                <a:solidFill>
                  <a:schemeClr val="tx2">
                    <a:lumMod val="60000"/>
                    <a:lumOff val="40000"/>
                  </a:schemeClr>
                </a:solidFill>
                <a:latin typeface="Calibri" pitchFamily="34" charset="0"/>
                <a:cs typeface="Calibri" pitchFamily="34" charset="-120"/>
              </a:rPr>
              <a:t>Described in terms of bits (1 dice roll = ~2.58 coin flips)</a:t>
            </a:r>
            <a:endParaRPr lang="en-US" sz="1300" i="1">
              <a:solidFill>
                <a:schemeClr val="tx2">
                  <a:lumMod val="60000"/>
                  <a:lumOff val="40000"/>
                </a:schemeClr>
              </a:solidFill>
            </a:endParaRPr>
          </a:p>
        </p:txBody>
      </p:sp>
      <p:sp>
        <p:nvSpPr>
          <p:cNvPr id="19" name="Text 0">
            <a:extLst>
              <a:ext uri="{FF2B5EF4-FFF2-40B4-BE49-F238E27FC236}">
                <a16:creationId xmlns:a16="http://schemas.microsoft.com/office/drawing/2014/main" id="{8ADE55CF-CCA5-0AF8-1E0A-3D657767BC6B}"/>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sp>
        <p:nvSpPr>
          <p:cNvPr id="16" name="Text 1">
            <a:extLst>
              <a:ext uri="{FF2B5EF4-FFF2-40B4-BE49-F238E27FC236}">
                <a16:creationId xmlns:a16="http://schemas.microsoft.com/office/drawing/2014/main" id="{CB712B7D-7C12-263E-A04F-A07DA0EAF505}"/>
              </a:ext>
            </a:extLst>
          </p:cNvPr>
          <p:cNvSpPr/>
          <p:nvPr/>
        </p:nvSpPr>
        <p:spPr>
          <a:xfrm>
            <a:off x="548640" y="640080"/>
            <a:ext cx="8229600" cy="640080"/>
          </a:xfrm>
          <a:prstGeom prst="rect">
            <a:avLst/>
          </a:prstGeom>
          <a:noFill/>
          <a:ln/>
        </p:spPr>
        <p:txBody>
          <a:bodyPr wrap="square" lIns="0" tIns="0" rIns="0" bIns="0" rtlCol="0" anchor="ctr"/>
          <a:lstStyle/>
          <a:p>
            <a:r>
              <a:rPr lang="en-US" sz="3600" b="1">
                <a:solidFill>
                  <a:srgbClr val="F1F0EA"/>
                </a:solidFill>
                <a:latin typeface="Georgia" pitchFamily="34" charset="0"/>
                <a:ea typeface="Georgia" pitchFamily="34" charset="-122"/>
                <a:cs typeface="Georgia" pitchFamily="34" charset="-120"/>
              </a:rPr>
              <a:t>What is information?</a:t>
            </a:r>
            <a:endParaRPr lang="en-US" sz="3600"/>
          </a:p>
        </p:txBody>
      </p:sp>
      <mc:AlternateContent xmlns:mc="http://schemas.openxmlformats.org/markup-compatibility/2006">
        <mc:Choice xmlns:a14="http://schemas.microsoft.com/office/drawing/2010/main" Requires="a14">
          <p:sp>
            <p:nvSpPr>
              <p:cNvPr id="3" name="Text 9">
                <a:extLst>
                  <a:ext uri="{FF2B5EF4-FFF2-40B4-BE49-F238E27FC236}">
                    <a16:creationId xmlns:a16="http://schemas.microsoft.com/office/drawing/2014/main" id="{84772EAA-51F9-91E5-5706-A6CC6389D9E4}"/>
                  </a:ext>
                </a:extLst>
              </p:cNvPr>
              <p:cNvSpPr/>
              <p:nvPr/>
            </p:nvSpPr>
            <p:spPr>
              <a:xfrm>
                <a:off x="4937760" y="3996912"/>
                <a:ext cx="3657600" cy="3657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1200" i="1" smtClean="0">
                              <a:solidFill>
                                <a:srgbClr val="7FB69E"/>
                              </a:solidFill>
                              <a:latin typeface="Cambria Math" panose="02040503050406030204" pitchFamily="18" charset="0"/>
                              <a:ea typeface="Cambria Math" panose="02040503050406030204" pitchFamily="18" charset="0"/>
                            </a:rPr>
                          </m:ctrlPr>
                        </m:sSubPr>
                        <m:e>
                          <m:r>
                            <a:rPr lang="en-US" sz="1200" i="1">
                              <a:solidFill>
                                <a:srgbClr val="7FB69E"/>
                              </a:solidFill>
                              <a:latin typeface="Cambria Math" panose="02040503050406030204" pitchFamily="18" charset="0"/>
                              <a:ea typeface="Cambria Math" panose="02040503050406030204" pitchFamily="18" charset="0"/>
                            </a:rPr>
                            <m:t>𝑙𝑜𝑔</m:t>
                          </m:r>
                        </m:e>
                        <m:sub>
                          <m:r>
                            <a:rPr lang="en-US" sz="1200" i="1">
                              <a:solidFill>
                                <a:srgbClr val="7FB69E"/>
                              </a:solidFill>
                              <a:latin typeface="Cambria Math" panose="02040503050406030204" pitchFamily="18" charset="0"/>
                              <a:ea typeface="Cambria Math" panose="02040503050406030204" pitchFamily="18" charset="0"/>
                            </a:rPr>
                            <m:t>2</m:t>
                          </m:r>
                        </m:sub>
                      </m:sSub>
                      <m:r>
                        <a:rPr lang="en-US" sz="1200" i="1">
                          <a:solidFill>
                            <a:srgbClr val="7FB69E"/>
                          </a:solidFill>
                          <a:latin typeface="Cambria Math" panose="02040503050406030204" pitchFamily="18" charset="0"/>
                          <a:ea typeface="Cambria Math" panose="02040503050406030204" pitchFamily="18" charset="0"/>
                        </a:rPr>
                        <m:t> </m:t>
                      </m:r>
                      <m:r>
                        <a:rPr lang="en-US" sz="1200" b="0" i="1" smtClean="0">
                          <a:solidFill>
                            <a:srgbClr val="7FB69E"/>
                          </a:solidFill>
                          <a:latin typeface="Cambria Math" panose="02040503050406030204" pitchFamily="18" charset="0"/>
                          <a:ea typeface="Cambria Math" panose="02040503050406030204" pitchFamily="18" charset="0"/>
                        </a:rPr>
                        <m:t>6</m:t>
                      </m:r>
                    </m:oMath>
                  </m:oMathPara>
                </a14:m>
                <a:endParaRPr lang="en-US" sz="1300"/>
              </a:p>
            </p:txBody>
          </p:sp>
        </mc:Choice>
        <mc:Fallback>
          <p:sp>
            <p:nvSpPr>
              <p:cNvPr id="3" name="Text 9">
                <a:extLst>
                  <a:ext uri="{FF2B5EF4-FFF2-40B4-BE49-F238E27FC236}">
                    <a16:creationId xmlns:a16="http://schemas.microsoft.com/office/drawing/2014/main" id="{84772EAA-51F9-91E5-5706-A6CC6389D9E4}"/>
                  </a:ext>
                </a:extLst>
              </p:cNvPr>
              <p:cNvSpPr>
                <a:spLocks noRot="1" noChangeAspect="1" noMove="1" noResize="1" noEditPoints="1" noAdjustHandles="1" noChangeArrowheads="1" noChangeShapeType="1" noTextEdit="1"/>
              </p:cNvSpPr>
              <p:nvPr/>
            </p:nvSpPr>
            <p:spPr>
              <a:xfrm>
                <a:off x="4937760" y="3996912"/>
                <a:ext cx="3657600" cy="365760"/>
              </a:xfrm>
              <a:prstGeom prst="rect">
                <a:avLst/>
              </a:prstGeom>
              <a:blipFill>
                <a:blip r:embed="rId3"/>
                <a:stretch>
                  <a:fillRect/>
                </a:stretch>
              </a:blipFill>
              <a:ln/>
            </p:spPr>
            <p:txBody>
              <a:bodyPr/>
              <a:lstStyle/>
              <a:p>
                <a:r>
                  <a:rPr lang="en-US">
                    <a:noFill/>
                  </a:rPr>
                  <a:t> </a:t>
                </a:r>
              </a:p>
            </p:txBody>
          </p:sp>
        </mc:Fallback>
      </mc:AlternateContent>
      <p:pic>
        <p:nvPicPr>
          <p:cNvPr id="20" name="Copied Picture 20" descr="An old person looking at a computer screen&#10;&#10;AI-generated content may be incorrect.">
            <a:extLst>
              <a:ext uri="{FF2B5EF4-FFF2-40B4-BE49-F238E27FC236}">
                <a16:creationId xmlns:a16="http://schemas.microsoft.com/office/drawing/2014/main" id="{AE99EE57-EDC3-A756-D152-06E1440F3A53}"/>
              </a:ext>
            </a:extLst>
          </p:cNvPr>
          <p:cNvPicPr>
            <a:picLocks noChangeAspect="1"/>
          </p:cNvPicPr>
          <p:nvPr/>
        </p:nvPicPr>
        <p:blipFill>
          <a:blip r:embed="rId4"/>
          <a:stretch>
            <a:fillRect/>
          </a:stretch>
        </p:blipFill>
        <p:spPr>
          <a:xfrm>
            <a:off x="7645400" y="330200"/>
            <a:ext cx="1270000" cy="939800"/>
          </a:xfrm>
          <a:prstGeom prst="rect">
            <a:avLst/>
          </a:prstGeom>
        </p:spPr>
      </p:pic>
      <p:sp>
        <p:nvSpPr>
          <p:cNvPr id="15" name="TextBox 14">
            <a:extLst>
              <a:ext uri="{FF2B5EF4-FFF2-40B4-BE49-F238E27FC236}">
                <a16:creationId xmlns:a16="http://schemas.microsoft.com/office/drawing/2014/main" id="{D7808AA2-FBD3-BD44-A1CF-512D0C4414BF}"/>
              </a:ext>
            </a:extLst>
          </p:cNvPr>
          <p:cNvSpPr txBox="1"/>
          <p:nvPr/>
        </p:nvSpPr>
        <p:spPr>
          <a:xfrm>
            <a:off x="7645400" y="1041400"/>
            <a:ext cx="1270000" cy="228600"/>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computing log₂6</a:t>
            </a:r>
          </a:p>
        </p:txBody>
      </p:sp>
    </p:spTree>
    <p:extLst>
      <p:ext uri="{BB962C8B-B14F-4D97-AF65-F5344CB8AC3E}">
        <p14:creationId xmlns:p14="http://schemas.microsoft.com/office/powerpoint/2010/main" val="3529016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p:cNvGrpSpPr/>
        <p:nvPr/>
      </p:nvGrpSpPr>
      <p:grpSpPr>
        <a:xfrm>
          <a:off x="0" y="0"/>
          <a:ext cx="0" cy="0"/>
          <a:chOff x="0" y="0"/>
          <a:chExt cx="0" cy="0"/>
        </a:xfrm>
      </p:grpSpPr>
      <p:sp>
        <p:nvSpPr>
          <p:cNvPr id="3" name="Text 0"/>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sp>
        <p:nvSpPr>
          <p:cNvPr id="4" name="Text 1"/>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a:solidFill>
                  <a:srgbClr val="F1F0EA"/>
                </a:solidFill>
                <a:latin typeface="Georgia" pitchFamily="34" charset="0"/>
                <a:ea typeface="Georgia" pitchFamily="34" charset="-122"/>
                <a:cs typeface="Georgia" pitchFamily="34" charset="-120"/>
              </a:rPr>
              <a:t>The </a:t>
            </a:r>
            <a:r>
              <a:rPr lang="en-US" sz="3400" b="1">
                <a:solidFill>
                  <a:srgbClr val="3BFDB2"/>
                </a:solidFill>
                <a:latin typeface="Georgia" pitchFamily="34" charset="0"/>
                <a:ea typeface="Georgia" pitchFamily="34" charset="-122"/>
                <a:cs typeface="Georgia" pitchFamily="34" charset="-120"/>
              </a:rPr>
              <a:t>Bit</a:t>
            </a:r>
            <a:r>
              <a:rPr lang="en-US" sz="3400" b="1">
                <a:solidFill>
                  <a:srgbClr val="F1F0EA"/>
                </a:solidFill>
                <a:latin typeface="Georgia" pitchFamily="34" charset="0"/>
                <a:ea typeface="Georgia" pitchFamily="34" charset="-122"/>
                <a:cs typeface="Georgia" pitchFamily="34" charset="-120"/>
              </a:rPr>
              <a:t>: A Unit of Surprise</a:t>
            </a:r>
            <a:endParaRPr lang="en-US" sz="3400"/>
          </a:p>
        </p:txBody>
      </p:sp>
      <p:sp>
        <p:nvSpPr>
          <p:cNvPr id="5" name="Shape 2"/>
          <p:cNvSpPr/>
          <p:nvPr/>
        </p:nvSpPr>
        <p:spPr>
          <a:xfrm>
            <a:off x="548640" y="1554480"/>
            <a:ext cx="3657600" cy="2286000"/>
          </a:xfrm>
          <a:prstGeom prst="rect">
            <a:avLst/>
          </a:prstGeom>
          <a:solidFill>
            <a:srgbClr val="222731"/>
          </a:solidFill>
          <a:ln/>
        </p:spPr>
        <p:txBody>
          <a:bodyPr/>
          <a:lstStyle/>
          <a:p>
            <a:endParaRPr lang="en-US"/>
          </a:p>
        </p:txBody>
      </p:sp>
      <p:sp>
        <p:nvSpPr>
          <p:cNvPr id="6" name="Text 3"/>
          <p:cNvSpPr/>
          <p:nvPr/>
        </p:nvSpPr>
        <p:spPr>
          <a:xfrm>
            <a:off x="822960" y="1691640"/>
            <a:ext cx="3108960" cy="320040"/>
          </a:xfrm>
          <a:prstGeom prst="rect">
            <a:avLst/>
          </a:prstGeom>
          <a:noFill/>
          <a:ln/>
        </p:spPr>
        <p:txBody>
          <a:bodyPr wrap="square" lIns="0" tIns="0" rIns="0" bIns="0" rtlCol="0" anchor="ctr"/>
          <a:lstStyle/>
          <a:p>
            <a:pPr marL="0" indent="0">
              <a:buNone/>
            </a:pPr>
            <a:r>
              <a:rPr lang="en-US" sz="1600" b="1" dirty="0">
                <a:solidFill>
                  <a:srgbClr val="7FB69E"/>
                </a:solidFill>
                <a:latin typeface="Georgia" pitchFamily="34" charset="0"/>
                <a:ea typeface="Georgia" pitchFamily="34" charset="-122"/>
                <a:cs typeface="Georgia" pitchFamily="34" charset="-120"/>
              </a:rPr>
              <a:t>Fair Coin </a:t>
            </a:r>
            <a:r>
              <a:rPr lang="en-US" sz="1600" b="1" dirty="0">
                <a:solidFill>
                  <a:schemeClr val="bg1"/>
                </a:solidFill>
                <a:latin typeface="Georgia" pitchFamily="34" charset="0"/>
                <a:ea typeface="Georgia" pitchFamily="34" charset="-122"/>
                <a:cs typeface="Georgia" pitchFamily="34" charset="-120"/>
              </a:rPr>
              <a:t>Flip</a:t>
            </a:r>
            <a:endParaRPr lang="en-US" sz="1600" dirty="0">
              <a:solidFill>
                <a:schemeClr val="bg1"/>
              </a:solidFill>
            </a:endParaRPr>
          </a:p>
        </p:txBody>
      </p:sp>
      <p:sp>
        <p:nvSpPr>
          <p:cNvPr id="7" name="Text 4"/>
          <p:cNvSpPr/>
          <p:nvPr/>
        </p:nvSpPr>
        <p:spPr>
          <a:xfrm>
            <a:off x="822960" y="2103120"/>
            <a:ext cx="3108960" cy="274320"/>
          </a:xfrm>
          <a:prstGeom prst="rect">
            <a:avLst/>
          </a:prstGeom>
          <a:noFill/>
          <a:ln/>
        </p:spPr>
        <p:txBody>
          <a:bodyPr wrap="square" lIns="0" tIns="0" rIns="0" bIns="0" rtlCol="0" anchor="ctr"/>
          <a:lstStyle/>
          <a:p>
            <a:pPr marL="0" indent="0">
              <a:buNone/>
            </a:pPr>
            <a:r>
              <a:rPr lang="en-US" sz="1300">
                <a:solidFill>
                  <a:srgbClr val="90969E"/>
                </a:solidFill>
                <a:latin typeface="Calibri" pitchFamily="34" charset="0"/>
                <a:ea typeface="Calibri" pitchFamily="34" charset="-122"/>
                <a:cs typeface="Calibri" pitchFamily="34" charset="-120"/>
              </a:rPr>
              <a:t>P(heads) = P(tails) = 0.5</a:t>
            </a:r>
            <a:endParaRPr lang="en-US" sz="1300"/>
          </a:p>
        </p:txBody>
      </p:sp>
      <p:sp>
        <p:nvSpPr>
          <p:cNvPr id="8" name="Text 5"/>
          <p:cNvSpPr/>
          <p:nvPr/>
        </p:nvSpPr>
        <p:spPr>
          <a:xfrm>
            <a:off x="822960" y="2560320"/>
            <a:ext cx="3108960" cy="548640"/>
          </a:xfrm>
          <a:prstGeom prst="rect">
            <a:avLst/>
          </a:prstGeom>
          <a:noFill/>
          <a:ln/>
        </p:spPr>
        <p:txBody>
          <a:bodyPr wrap="square" lIns="0" tIns="0" rIns="0" bIns="0" rtlCol="0" anchor="ctr"/>
          <a:lstStyle/>
          <a:p>
            <a:pPr marL="0" indent="0">
              <a:buNone/>
            </a:pPr>
            <a:r>
              <a:rPr lang="en-US" sz="4200" b="1">
                <a:solidFill>
                  <a:srgbClr val="F1F0EA"/>
                </a:solidFill>
                <a:latin typeface="Georgia" pitchFamily="34" charset="0"/>
                <a:ea typeface="Georgia" pitchFamily="34" charset="-122"/>
                <a:cs typeface="Georgia" pitchFamily="34" charset="-120"/>
              </a:rPr>
              <a:t>1 bit</a:t>
            </a:r>
            <a:endParaRPr lang="en-US" sz="4200"/>
          </a:p>
        </p:txBody>
      </p:sp>
      <p:sp>
        <p:nvSpPr>
          <p:cNvPr id="9" name="Text 6"/>
          <p:cNvSpPr/>
          <p:nvPr/>
        </p:nvSpPr>
        <p:spPr>
          <a:xfrm>
            <a:off x="822960" y="3108960"/>
            <a:ext cx="3108960" cy="274320"/>
          </a:xfrm>
          <a:prstGeom prst="rect">
            <a:avLst/>
          </a:prstGeom>
          <a:noFill/>
          <a:ln/>
        </p:spPr>
        <p:txBody>
          <a:bodyPr wrap="square" lIns="0" tIns="0" rIns="0" bIns="0" rtlCol="0" anchor="ctr"/>
          <a:lstStyle/>
          <a:p>
            <a:pPr marL="0" indent="0">
              <a:buNone/>
            </a:pPr>
            <a:r>
              <a:rPr lang="en-US" sz="1300">
                <a:solidFill>
                  <a:srgbClr val="90969E"/>
                </a:solidFill>
                <a:latin typeface="Calibri" pitchFamily="34" charset="0"/>
                <a:ea typeface="Calibri" pitchFamily="34" charset="-122"/>
                <a:cs typeface="Calibri" pitchFamily="34" charset="-120"/>
              </a:rPr>
              <a:t>of information per flip</a:t>
            </a:r>
            <a:endParaRPr lang="en-US" sz="1300"/>
          </a:p>
        </p:txBody>
      </p:sp>
      <p:sp>
        <p:nvSpPr>
          <p:cNvPr id="10" name="Shape 7"/>
          <p:cNvSpPr/>
          <p:nvPr/>
        </p:nvSpPr>
        <p:spPr>
          <a:xfrm>
            <a:off x="4937760" y="1554480"/>
            <a:ext cx="3657600" cy="2286000"/>
          </a:xfrm>
          <a:prstGeom prst="rect">
            <a:avLst/>
          </a:prstGeom>
          <a:solidFill>
            <a:srgbClr val="222731"/>
          </a:solidFill>
          <a:ln/>
        </p:spPr>
        <p:txBody>
          <a:bodyPr/>
          <a:lstStyle/>
          <a:p>
            <a:endParaRPr lang="en-US"/>
          </a:p>
        </p:txBody>
      </p:sp>
      <p:sp>
        <p:nvSpPr>
          <p:cNvPr id="11" name="Text 8"/>
          <p:cNvSpPr/>
          <p:nvPr/>
        </p:nvSpPr>
        <p:spPr>
          <a:xfrm>
            <a:off x="4937760" y="1691640"/>
            <a:ext cx="3383280" cy="320040"/>
          </a:xfrm>
          <a:prstGeom prst="rect">
            <a:avLst/>
          </a:prstGeom>
          <a:noFill/>
          <a:ln/>
        </p:spPr>
        <p:txBody>
          <a:bodyPr wrap="square" lIns="0" tIns="0" rIns="0" bIns="0" rtlCol="0" anchor="ctr"/>
          <a:lstStyle/>
          <a:p>
            <a:pPr marL="0" indent="0" algn="r">
              <a:buNone/>
            </a:pPr>
            <a:r>
              <a:rPr lang="en-US" sz="1600" b="1" dirty="0">
                <a:solidFill>
                  <a:srgbClr val="C75D5D"/>
                </a:solidFill>
                <a:latin typeface="Georgia" pitchFamily="34" charset="0"/>
                <a:ea typeface="Georgia" pitchFamily="34" charset="-122"/>
                <a:cs typeface="Georgia" pitchFamily="34" charset="-120"/>
              </a:rPr>
              <a:t>Biased Coin </a:t>
            </a:r>
            <a:r>
              <a:rPr lang="en-US" sz="1600" b="1" dirty="0">
                <a:solidFill>
                  <a:schemeClr val="bg1"/>
                </a:solidFill>
                <a:latin typeface="Georgia" pitchFamily="34" charset="0"/>
                <a:ea typeface="Georgia" pitchFamily="34" charset="-122"/>
                <a:cs typeface="Georgia" pitchFamily="34" charset="-120"/>
              </a:rPr>
              <a:t>Flip</a:t>
            </a:r>
            <a:r>
              <a:rPr lang="en-US" sz="1600" b="1" dirty="0">
                <a:solidFill>
                  <a:srgbClr val="C75D5D"/>
                </a:solidFill>
                <a:latin typeface="Georgia" pitchFamily="34" charset="0"/>
                <a:ea typeface="Georgia" pitchFamily="34" charset="-122"/>
                <a:cs typeface="Georgia" pitchFamily="34" charset="-120"/>
              </a:rPr>
              <a:t> (99% heads)</a:t>
            </a:r>
            <a:endParaRPr lang="en-US" sz="1600" dirty="0"/>
          </a:p>
        </p:txBody>
      </p:sp>
      <p:sp>
        <p:nvSpPr>
          <p:cNvPr id="12" name="Text 9"/>
          <p:cNvSpPr/>
          <p:nvPr/>
        </p:nvSpPr>
        <p:spPr>
          <a:xfrm>
            <a:off x="4937760" y="2103120"/>
            <a:ext cx="3383280" cy="274320"/>
          </a:xfrm>
          <a:prstGeom prst="rect">
            <a:avLst/>
          </a:prstGeom>
          <a:noFill/>
          <a:ln/>
        </p:spPr>
        <p:txBody>
          <a:bodyPr wrap="square" lIns="0" tIns="0" rIns="0" bIns="0" rtlCol="0" anchor="ctr"/>
          <a:lstStyle/>
          <a:p>
            <a:pPr marL="0" indent="0" algn="r">
              <a:buNone/>
            </a:pPr>
            <a:r>
              <a:rPr lang="en-US" sz="1300" dirty="0">
                <a:solidFill>
                  <a:srgbClr val="90969E"/>
                </a:solidFill>
                <a:latin typeface="Calibri" pitchFamily="34" charset="0"/>
                <a:ea typeface="Calibri" pitchFamily="34" charset="-122"/>
                <a:cs typeface="Calibri" pitchFamily="34" charset="-120"/>
              </a:rPr>
              <a:t>P(heads) = 0.99, P(tails) = 0.01</a:t>
            </a:r>
            <a:endParaRPr lang="en-US" sz="1300" dirty="0"/>
          </a:p>
        </p:txBody>
      </p:sp>
      <p:sp>
        <p:nvSpPr>
          <p:cNvPr id="13" name="Text 10"/>
          <p:cNvSpPr/>
          <p:nvPr/>
        </p:nvSpPr>
        <p:spPr>
          <a:xfrm>
            <a:off x="4937760" y="2560320"/>
            <a:ext cx="3383280" cy="548640"/>
          </a:xfrm>
          <a:prstGeom prst="rect">
            <a:avLst/>
          </a:prstGeom>
          <a:noFill/>
          <a:ln/>
        </p:spPr>
        <p:txBody>
          <a:bodyPr wrap="square" lIns="0" tIns="0" rIns="0" bIns="0" rtlCol="0" anchor="ctr"/>
          <a:lstStyle/>
          <a:p>
            <a:pPr marL="0" indent="0" algn="r">
              <a:buNone/>
            </a:pPr>
            <a:r>
              <a:rPr lang="en-US" sz="4200" b="1" dirty="0">
                <a:solidFill>
                  <a:srgbClr val="F1F0EA"/>
                </a:solidFill>
                <a:latin typeface="Georgia" pitchFamily="34" charset="0"/>
                <a:ea typeface="Georgia" pitchFamily="34" charset="-122"/>
                <a:cs typeface="Georgia" pitchFamily="34" charset="-120"/>
              </a:rPr>
              <a:t>0.08 bits</a:t>
            </a:r>
            <a:endParaRPr lang="en-US" sz="4200" dirty="0"/>
          </a:p>
        </p:txBody>
      </p:sp>
      <p:sp>
        <p:nvSpPr>
          <p:cNvPr id="14" name="Text 11"/>
          <p:cNvSpPr/>
          <p:nvPr/>
        </p:nvSpPr>
        <p:spPr>
          <a:xfrm>
            <a:off x="4937760" y="3108960"/>
            <a:ext cx="3383280" cy="274320"/>
          </a:xfrm>
          <a:prstGeom prst="rect">
            <a:avLst/>
          </a:prstGeom>
          <a:noFill/>
          <a:ln/>
        </p:spPr>
        <p:txBody>
          <a:bodyPr wrap="square" lIns="0" tIns="0" rIns="0" bIns="0" rtlCol="0" anchor="ctr"/>
          <a:lstStyle/>
          <a:p>
            <a:pPr marL="0" indent="0" algn="r">
              <a:buNone/>
            </a:pPr>
            <a:r>
              <a:rPr lang="en-US" sz="1300" dirty="0">
                <a:solidFill>
                  <a:srgbClr val="90969E"/>
                </a:solidFill>
                <a:latin typeface="Calibri" pitchFamily="34" charset="0"/>
                <a:ea typeface="Calibri" pitchFamily="34" charset="-122"/>
                <a:cs typeface="Calibri" pitchFamily="34" charset="-120"/>
              </a:rPr>
              <a:t>almost no surprise per flip</a:t>
            </a:r>
            <a:endParaRPr lang="en-US" sz="1300" dirty="0"/>
          </a:p>
        </p:txBody>
      </p:sp>
      <p:sp>
        <p:nvSpPr>
          <p:cNvPr id="15" name="Shape 12"/>
          <p:cNvSpPr/>
          <p:nvPr/>
        </p:nvSpPr>
        <p:spPr>
          <a:xfrm>
            <a:off x="548640" y="4114800"/>
            <a:ext cx="8046720" cy="594360"/>
          </a:xfrm>
          <a:prstGeom prst="rect">
            <a:avLst/>
          </a:prstGeom>
          <a:solidFill>
            <a:srgbClr val="222731"/>
          </a:solidFill>
          <a:ln/>
        </p:spPr>
        <p:txBody>
          <a:bodyPr/>
          <a:lstStyle/>
          <a:p>
            <a:endParaRPr lang="en-US"/>
          </a:p>
        </p:txBody>
      </p:sp>
      <mc:AlternateContent xmlns:mc="http://schemas.openxmlformats.org/markup-compatibility/2006">
        <mc:Choice xmlns:a14="http://schemas.microsoft.com/office/drawing/2010/main" Requires="a14">
          <p:sp>
            <p:nvSpPr>
              <p:cNvPr id="16" name="Text 13"/>
              <p:cNvSpPr/>
              <p:nvPr/>
            </p:nvSpPr>
            <p:spPr>
              <a:xfrm>
                <a:off x="822960" y="4114800"/>
                <a:ext cx="7498080" cy="594360"/>
              </a:xfrm>
              <a:prstGeom prst="rect">
                <a:avLst/>
              </a:prstGeom>
              <a:noFill/>
              <a:ln/>
            </p:spPr>
            <p:txBody>
              <a:bodyPr wrap="square" lIns="0" tIns="0" rIns="0" bIns="0" rtlCol="0" anchor="ctr"/>
              <a:lstStyle/>
              <a:p>
                <a:r>
                  <a:rPr lang="en-US" sz="1300" dirty="0">
                    <a:solidFill>
                      <a:srgbClr val="90969E"/>
                    </a:solidFill>
                    <a:latin typeface="Calibri" pitchFamily="34" charset="0"/>
                    <a:ea typeface="Calibri" pitchFamily="34" charset="-122"/>
                    <a:cs typeface="Calibri" pitchFamily="34" charset="-120"/>
                  </a:rPr>
                  <a:t>Information of event x:   </a:t>
                </a:r>
                <a14:m>
                  <m:oMath xmlns:m="http://schemas.openxmlformats.org/officeDocument/2006/math">
                    <m:r>
                      <a:rPr lang="en-US" sz="1500" b="1" i="0" smtClean="0">
                        <a:solidFill>
                          <a:srgbClr val="7FB69E"/>
                        </a:solidFill>
                        <a:latin typeface="Cambria Math" panose="02040503050406030204" pitchFamily="18" charset="0"/>
                        <a:ea typeface="Cambria Math" panose="02040503050406030204" pitchFamily="18" charset="0"/>
                        <a:cs typeface="Calibri" pitchFamily="34" charset="-120"/>
                      </a:rPr>
                      <m:t>𝐈</m:t>
                    </m:r>
                    <m:r>
                      <a:rPr lang="en-US" sz="1500" b="1" i="0" smtClean="0">
                        <a:solidFill>
                          <a:srgbClr val="7FB69E"/>
                        </a:solidFill>
                        <a:latin typeface="Cambria Math" panose="02040503050406030204" pitchFamily="18" charset="0"/>
                        <a:ea typeface="Cambria Math" panose="02040503050406030204" pitchFamily="18" charset="0"/>
                        <a:cs typeface="Calibri" pitchFamily="34" charset="-120"/>
                      </a:rPr>
                      <m:t>(</m:t>
                    </m:r>
                    <m:r>
                      <a:rPr lang="en-US" sz="1600" i="1">
                        <a:solidFill>
                          <a:srgbClr val="7FB69E"/>
                        </a:solidFill>
                        <a:latin typeface="Cambria Math" panose="02040503050406030204" pitchFamily="18" charset="0"/>
                        <a:ea typeface="Cambria Math" panose="02040503050406030204" pitchFamily="18" charset="0"/>
                      </a:rPr>
                      <m:t>𝑥</m:t>
                    </m:r>
                    <m:r>
                      <a:rPr lang="en-US" sz="1500" b="1" i="0" smtClean="0">
                        <a:solidFill>
                          <a:srgbClr val="7FB69E"/>
                        </a:solidFill>
                        <a:latin typeface="Cambria Math" panose="02040503050406030204" pitchFamily="18" charset="0"/>
                        <a:ea typeface="Cambria Math" panose="02040503050406030204" pitchFamily="18" charset="0"/>
                        <a:cs typeface="Calibri" pitchFamily="34" charset="-120"/>
                      </a:rPr>
                      <m:t>)</m:t>
                    </m:r>
                    <m:r>
                      <a:rPr lang="en-US" sz="1500" b="1" i="1" smtClean="0">
                        <a:solidFill>
                          <a:srgbClr val="7FB69E"/>
                        </a:solidFill>
                        <a:latin typeface="Cambria Math" panose="02040503050406030204" pitchFamily="18" charset="0"/>
                        <a:ea typeface="Cambria Math" panose="02040503050406030204" pitchFamily="18" charset="0"/>
                        <a:cs typeface="Calibri" pitchFamily="34" charset="-120"/>
                      </a:rPr>
                      <m:t>=</m:t>
                    </m:r>
                    <m:r>
                      <m:rPr>
                        <m:nor/>
                      </m:rPr>
                      <a:rPr lang="en-US" sz="1400" b="1">
                        <a:solidFill>
                          <a:srgbClr val="7FB69E"/>
                        </a:solidFill>
                        <a:latin typeface="Calibri" pitchFamily="34" charset="0"/>
                        <a:ea typeface="Calibri" pitchFamily="34" charset="-122"/>
                        <a:cs typeface="Calibri" pitchFamily="34" charset="-120"/>
                      </a:rPr>
                      <m:t>−</m:t>
                    </m:r>
                    <m:sSub>
                      <m:sSubPr>
                        <m:ctrlPr>
                          <a:rPr lang="en-US" sz="1400" i="1">
                            <a:solidFill>
                              <a:srgbClr val="7FB69E"/>
                            </a:solidFill>
                            <a:latin typeface="Cambria Math" panose="02040503050406030204" pitchFamily="18" charset="0"/>
                            <a:ea typeface="Cambria Math" panose="02040503050406030204" pitchFamily="18" charset="0"/>
                          </a:rPr>
                        </m:ctrlPr>
                      </m:sSubPr>
                      <m:e>
                        <m:r>
                          <a:rPr lang="en-US" sz="1400" i="1">
                            <a:solidFill>
                              <a:srgbClr val="7FB69E"/>
                            </a:solidFill>
                            <a:latin typeface="Cambria Math" panose="02040503050406030204" pitchFamily="18" charset="0"/>
                            <a:ea typeface="Cambria Math" panose="02040503050406030204" pitchFamily="18" charset="0"/>
                          </a:rPr>
                          <m:t>𝑙𝑜𝑔</m:t>
                        </m:r>
                      </m:e>
                      <m:sub>
                        <m:r>
                          <a:rPr lang="en-US" sz="1400" i="1">
                            <a:solidFill>
                              <a:srgbClr val="7FB69E"/>
                            </a:solidFill>
                            <a:latin typeface="Cambria Math" panose="02040503050406030204" pitchFamily="18" charset="0"/>
                            <a:ea typeface="Cambria Math" panose="02040503050406030204" pitchFamily="18" charset="0"/>
                          </a:rPr>
                          <m:t>2</m:t>
                        </m:r>
                      </m:sub>
                    </m:sSub>
                    <m:r>
                      <a:rPr lang="en-US" sz="1400" i="1">
                        <a:solidFill>
                          <a:srgbClr val="7FB69E"/>
                        </a:solidFill>
                        <a:latin typeface="Cambria Math" panose="02040503050406030204" pitchFamily="18" charset="0"/>
                        <a:ea typeface="Cambria Math" panose="02040503050406030204" pitchFamily="18" charset="0"/>
                      </a:rPr>
                      <m:t> </m:t>
                    </m:r>
                    <m:r>
                      <a:rPr lang="en-US" sz="1400" i="1">
                        <a:solidFill>
                          <a:srgbClr val="7FB69E"/>
                        </a:solidFill>
                        <a:latin typeface="Cambria Math" panose="02040503050406030204" pitchFamily="18" charset="0"/>
                        <a:ea typeface="Cambria Math" panose="02040503050406030204" pitchFamily="18" charset="0"/>
                      </a:rPr>
                      <m:t>𝑝</m:t>
                    </m:r>
                    <m:r>
                      <a:rPr lang="en-US" sz="1400" i="1">
                        <a:solidFill>
                          <a:srgbClr val="7FB69E"/>
                        </a:solidFill>
                        <a:latin typeface="Cambria Math" panose="02040503050406030204" pitchFamily="18" charset="0"/>
                        <a:ea typeface="Cambria Math" panose="02040503050406030204" pitchFamily="18" charset="0"/>
                      </a:rPr>
                      <m:t>(</m:t>
                    </m:r>
                    <m:r>
                      <a:rPr lang="en-US" sz="1400" i="1">
                        <a:solidFill>
                          <a:srgbClr val="7FB69E"/>
                        </a:solidFill>
                        <a:latin typeface="Cambria Math" panose="02040503050406030204" pitchFamily="18" charset="0"/>
                        <a:ea typeface="Cambria Math" panose="02040503050406030204" pitchFamily="18" charset="0"/>
                      </a:rPr>
                      <m:t>𝑥</m:t>
                    </m:r>
                    <m:r>
                      <a:rPr lang="en-US" sz="1400" i="1">
                        <a:solidFill>
                          <a:srgbClr val="7FB69E"/>
                        </a:solidFill>
                        <a:latin typeface="Cambria Math" panose="02040503050406030204" pitchFamily="18" charset="0"/>
                        <a:ea typeface="Cambria Math" panose="02040503050406030204" pitchFamily="18" charset="0"/>
                      </a:rPr>
                      <m:t>)</m:t>
                    </m:r>
                  </m:oMath>
                </a14:m>
                <a:r>
                  <a:rPr lang="en-US" sz="1300" dirty="0">
                    <a:solidFill>
                      <a:srgbClr val="90969E"/>
                    </a:solidFill>
                    <a:latin typeface="Calibri" pitchFamily="34" charset="0"/>
                    <a:ea typeface="Calibri" pitchFamily="34" charset="-122"/>
                    <a:cs typeface="Calibri" pitchFamily="34" charset="-120"/>
                  </a:rPr>
                  <a:t>  →  rarer events carry more information</a:t>
                </a:r>
                <a:endParaRPr lang="en-US" sz="1300" dirty="0"/>
              </a:p>
            </p:txBody>
          </p:sp>
        </mc:Choice>
        <mc:Fallback>
          <p:sp>
            <p:nvSpPr>
              <p:cNvPr id="16" name="Text 13"/>
              <p:cNvSpPr>
                <a:spLocks noRot="1" noChangeAspect="1" noMove="1" noResize="1" noEditPoints="1" noAdjustHandles="1" noChangeArrowheads="1" noChangeShapeType="1" noTextEdit="1"/>
              </p:cNvSpPr>
              <p:nvPr/>
            </p:nvSpPr>
            <p:spPr>
              <a:xfrm>
                <a:off x="822960" y="4114800"/>
                <a:ext cx="7498080" cy="594360"/>
              </a:xfrm>
              <a:prstGeom prst="rect">
                <a:avLst/>
              </a:prstGeom>
              <a:blipFill>
                <a:blip r:embed="rId3"/>
                <a:stretch>
                  <a:fillRect l="-1351"/>
                </a:stretch>
              </a:blipFill>
              <a:ln/>
            </p:spPr>
            <p:txBody>
              <a:bodyPr/>
              <a:lstStyle/>
              <a:p>
                <a:r>
                  <a:rPr lang="en-US">
                    <a:noFill/>
                  </a:rPr>
                  <a:t> </a:t>
                </a:r>
              </a:p>
            </p:txBody>
          </p:sp>
        </mc:Fallback>
      </mc:AlternateContent>
      <p:pic>
        <p:nvPicPr>
          <p:cNvPr id="17" name="Copied Picture 17" descr="A person sitting at a desk with a computer and a mug&#10;&#10;AI-generated content may be incorrect.">
            <a:extLst>
              <a:ext uri="{FF2B5EF4-FFF2-40B4-BE49-F238E27FC236}">
                <a16:creationId xmlns:a16="http://schemas.microsoft.com/office/drawing/2014/main" id="{367D31F9-6352-7B5B-9BB3-2426BD9C0DE3}"/>
              </a:ext>
            </a:extLst>
          </p:cNvPr>
          <p:cNvPicPr>
            <a:picLocks noChangeAspect="1"/>
          </p:cNvPicPr>
          <p:nvPr/>
        </p:nvPicPr>
        <p:blipFill>
          <a:blip r:embed="rId4"/>
          <a:stretch>
            <a:fillRect/>
          </a:stretch>
        </p:blipFill>
        <p:spPr>
          <a:xfrm>
            <a:off x="7772400" y="254000"/>
            <a:ext cx="1066800" cy="1333500"/>
          </a:xfrm>
          <a:prstGeom prst="rect">
            <a:avLst/>
          </a:prstGeom>
        </p:spPr>
      </p:pic>
      <p:sp>
        <p:nvSpPr>
          <p:cNvPr id="2" name="TextBox 1">
            <a:extLst>
              <a:ext uri="{FF2B5EF4-FFF2-40B4-BE49-F238E27FC236}">
                <a16:creationId xmlns:a16="http://schemas.microsoft.com/office/drawing/2014/main" id="{B038217B-0C20-E345-A028-A8BBCB68FA00}"/>
              </a:ext>
            </a:extLst>
          </p:cNvPr>
          <p:cNvSpPr txBox="1"/>
          <p:nvPr/>
        </p:nvSpPr>
        <p:spPr>
          <a:xfrm>
            <a:off x="7620000" y="1371600"/>
            <a:ext cx="1371600" cy="2286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0.08 bits of surprise</a:t>
            </a:r>
          </a:p>
        </p:txBody>
      </p:sp>
    </p:spTree>
    <p:extLst>
      <p:ext uri="{BB962C8B-B14F-4D97-AF65-F5344CB8AC3E}">
        <p14:creationId xmlns:p14="http://schemas.microsoft.com/office/powerpoint/2010/main" val="4242519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384364FD-BD6B-181B-D220-83A67610B70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21DB0C-56B8-89C8-3471-1508F2B26A39}"/>
              </a:ext>
            </a:extLst>
          </p:cNvPr>
          <p:cNvSpPr/>
          <p:nvPr/>
        </p:nvSpPr>
        <p:spPr>
          <a:xfrm>
            <a:off x="548640" y="502920"/>
            <a:ext cx="8229600" cy="640080"/>
          </a:xfrm>
          <a:prstGeom prst="rect">
            <a:avLst/>
          </a:prstGeom>
          <a:noFill/>
          <a:ln/>
        </p:spPr>
        <p:txBody>
          <a:bodyPr wrap="square" lIns="0" tIns="0" rIns="0" bIns="0" rtlCol="0" anchor="ctr"/>
          <a:lstStyle/>
          <a:p>
            <a:pPr marL="0" indent="0">
              <a:buNone/>
            </a:pPr>
            <a:endParaRPr lang="en-US" sz="3200"/>
          </a:p>
        </p:txBody>
      </p:sp>
      <p:sp>
        <p:nvSpPr>
          <p:cNvPr id="19" name="Text 0">
            <a:extLst>
              <a:ext uri="{FF2B5EF4-FFF2-40B4-BE49-F238E27FC236}">
                <a16:creationId xmlns:a16="http://schemas.microsoft.com/office/drawing/2014/main" id="{DF9402BC-E248-910E-3B8A-EA1668EFCE12}"/>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sp>
        <p:nvSpPr>
          <p:cNvPr id="3" name="Text 1">
            <a:extLst>
              <a:ext uri="{FF2B5EF4-FFF2-40B4-BE49-F238E27FC236}">
                <a16:creationId xmlns:a16="http://schemas.microsoft.com/office/drawing/2014/main" id="{EF67587A-F958-F0FD-D74B-D6DA3FF7890D}"/>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a:solidFill>
                  <a:srgbClr val="FFFFFF"/>
                </a:solidFill>
                <a:latin typeface="Georgia" pitchFamily="34" charset="0"/>
                <a:ea typeface="Georgia" pitchFamily="34" charset="-122"/>
                <a:cs typeface="Georgia" pitchFamily="34" charset="-120"/>
              </a:rPr>
              <a:t>The core intuition </a:t>
            </a:r>
            <a:r>
              <a:rPr lang="en-US" sz="3400" b="1" u="sng">
                <a:solidFill>
                  <a:srgbClr val="FFFFFF"/>
                </a:solidFill>
                <a:latin typeface="Georgia" pitchFamily="34" charset="0"/>
                <a:ea typeface="Georgia" pitchFamily="34" charset="-122"/>
                <a:cs typeface="Georgia" pitchFamily="34" charset="-120"/>
              </a:rPr>
              <a:t>can be measured</a:t>
            </a:r>
            <a:endParaRPr lang="en-US" sz="3400" u="sng"/>
          </a:p>
        </p:txBody>
      </p:sp>
      <p:sp>
        <p:nvSpPr>
          <p:cNvPr id="15" name="Shape 2">
            <a:extLst>
              <a:ext uri="{FF2B5EF4-FFF2-40B4-BE49-F238E27FC236}">
                <a16:creationId xmlns:a16="http://schemas.microsoft.com/office/drawing/2014/main" id="{0F774B1F-7D06-6417-2B87-B87843313398}"/>
              </a:ext>
            </a:extLst>
          </p:cNvPr>
          <p:cNvSpPr/>
          <p:nvPr/>
        </p:nvSpPr>
        <p:spPr>
          <a:xfrm>
            <a:off x="548640" y="1554480"/>
            <a:ext cx="2468880" cy="2011680"/>
          </a:xfrm>
          <a:prstGeom prst="rect">
            <a:avLst/>
          </a:prstGeom>
          <a:solidFill>
            <a:srgbClr val="1A3A1A"/>
          </a:solidFill>
          <a:ln/>
        </p:spPr>
        <p:txBody>
          <a:bodyPr/>
          <a:lstStyle/>
          <a:p>
            <a:endParaRPr lang="en-US"/>
          </a:p>
        </p:txBody>
      </p:sp>
      <p:sp>
        <p:nvSpPr>
          <p:cNvPr id="17" name="Text 3">
            <a:extLst>
              <a:ext uri="{FF2B5EF4-FFF2-40B4-BE49-F238E27FC236}">
                <a16:creationId xmlns:a16="http://schemas.microsoft.com/office/drawing/2014/main" id="{57EFD87C-FD84-B017-3416-90CEAC214CE6}"/>
              </a:ext>
            </a:extLst>
          </p:cNvPr>
          <p:cNvSpPr/>
          <p:nvPr/>
        </p:nvSpPr>
        <p:spPr>
          <a:xfrm>
            <a:off x="731520" y="1691640"/>
            <a:ext cx="2103120" cy="365760"/>
          </a:xfrm>
          <a:prstGeom prst="rect">
            <a:avLst/>
          </a:prstGeom>
          <a:noFill/>
          <a:ln/>
        </p:spPr>
        <p:txBody>
          <a:bodyPr wrap="square" lIns="0" tIns="0" rIns="0" bIns="0" rtlCol="0" anchor="ctr"/>
          <a:lstStyle/>
          <a:p>
            <a:pPr marL="0" indent="0">
              <a:buNone/>
            </a:pPr>
            <a:r>
              <a:rPr lang="en-US" sz="1800" b="1">
                <a:solidFill>
                  <a:srgbClr val="FFFFFF"/>
                </a:solidFill>
                <a:latin typeface="Consolas" pitchFamily="34" charset="0"/>
                <a:ea typeface="Consolas" pitchFamily="34" charset="-122"/>
                <a:cs typeface="Consolas" pitchFamily="34" charset="-120"/>
              </a:rPr>
              <a:t>AAAAAAA...</a:t>
            </a:r>
            <a:endParaRPr lang="en-US" sz="1800"/>
          </a:p>
        </p:txBody>
      </p:sp>
      <p:sp>
        <p:nvSpPr>
          <p:cNvPr id="18" name="Text 4">
            <a:extLst>
              <a:ext uri="{FF2B5EF4-FFF2-40B4-BE49-F238E27FC236}">
                <a16:creationId xmlns:a16="http://schemas.microsoft.com/office/drawing/2014/main" id="{E55138D9-8351-E320-DC47-BE253563E5C8}"/>
              </a:ext>
            </a:extLst>
          </p:cNvPr>
          <p:cNvSpPr/>
          <p:nvPr/>
        </p:nvSpPr>
        <p:spPr>
          <a:xfrm>
            <a:off x="731520" y="2148840"/>
            <a:ext cx="2103120" cy="274320"/>
          </a:xfrm>
          <a:prstGeom prst="rect">
            <a:avLst/>
          </a:prstGeom>
          <a:noFill/>
          <a:ln/>
        </p:spPr>
        <p:txBody>
          <a:bodyPr wrap="square" lIns="0" tIns="0" rIns="0" bIns="0" rtlCol="0" anchor="ctr"/>
          <a:lstStyle/>
          <a:p>
            <a:pPr marL="0" indent="0">
              <a:buNone/>
            </a:pPr>
            <a:r>
              <a:rPr lang="en-US" sz="1200">
                <a:solidFill>
                  <a:srgbClr val="7B8FB0"/>
                </a:solidFill>
                <a:latin typeface="Calibri" pitchFamily="34" charset="0"/>
                <a:ea typeface="Calibri" pitchFamily="34" charset="-122"/>
                <a:cs typeface="Calibri" pitchFamily="34" charset="-120"/>
              </a:rPr>
              <a:t>Perfectly predictable</a:t>
            </a:r>
            <a:endParaRPr lang="en-US" sz="1200"/>
          </a:p>
        </p:txBody>
      </p:sp>
      <p:sp>
        <p:nvSpPr>
          <p:cNvPr id="20" name="Text 5">
            <a:extLst>
              <a:ext uri="{FF2B5EF4-FFF2-40B4-BE49-F238E27FC236}">
                <a16:creationId xmlns:a16="http://schemas.microsoft.com/office/drawing/2014/main" id="{99D1E81C-2E96-6668-7C2D-5DBE5B0A3230}"/>
              </a:ext>
            </a:extLst>
          </p:cNvPr>
          <p:cNvSpPr/>
          <p:nvPr/>
        </p:nvSpPr>
        <p:spPr>
          <a:xfrm>
            <a:off x="731520" y="2788920"/>
            <a:ext cx="2103120" cy="457200"/>
          </a:xfrm>
          <a:prstGeom prst="rect">
            <a:avLst/>
          </a:prstGeom>
          <a:noFill/>
          <a:ln/>
        </p:spPr>
        <p:txBody>
          <a:bodyPr wrap="square" lIns="0" tIns="0" rIns="0" bIns="0" rtlCol="0" anchor="ctr"/>
          <a:lstStyle/>
          <a:p>
            <a:pPr marL="0" indent="0">
              <a:buNone/>
            </a:pPr>
            <a:r>
              <a:rPr lang="en-US" sz="2200" b="1">
                <a:solidFill>
                  <a:srgbClr val="00D4AA"/>
                </a:solidFill>
                <a:latin typeface="Georgia" pitchFamily="34" charset="0"/>
                <a:ea typeface="Georgia" pitchFamily="34" charset="-122"/>
                <a:cs typeface="Georgia" pitchFamily="34" charset="-120"/>
              </a:rPr>
              <a:t>0 bits/char</a:t>
            </a:r>
            <a:endParaRPr lang="en-US" sz="2200"/>
          </a:p>
        </p:txBody>
      </p:sp>
      <p:sp>
        <p:nvSpPr>
          <p:cNvPr id="21" name="Shape 6">
            <a:extLst>
              <a:ext uri="{FF2B5EF4-FFF2-40B4-BE49-F238E27FC236}">
                <a16:creationId xmlns:a16="http://schemas.microsoft.com/office/drawing/2014/main" id="{D07C327C-2860-56DD-7AEE-703E7806E062}"/>
              </a:ext>
            </a:extLst>
          </p:cNvPr>
          <p:cNvSpPr/>
          <p:nvPr/>
        </p:nvSpPr>
        <p:spPr>
          <a:xfrm>
            <a:off x="3200400" y="1554480"/>
            <a:ext cx="2468880" cy="2011680"/>
          </a:xfrm>
          <a:prstGeom prst="rect">
            <a:avLst/>
          </a:prstGeom>
          <a:solidFill>
            <a:srgbClr val="1A2A4A"/>
          </a:solidFill>
          <a:ln/>
        </p:spPr>
        <p:txBody>
          <a:bodyPr/>
          <a:lstStyle/>
          <a:p>
            <a:endParaRPr lang="en-US"/>
          </a:p>
        </p:txBody>
      </p:sp>
      <p:sp>
        <p:nvSpPr>
          <p:cNvPr id="22" name="Text 7">
            <a:extLst>
              <a:ext uri="{FF2B5EF4-FFF2-40B4-BE49-F238E27FC236}">
                <a16:creationId xmlns:a16="http://schemas.microsoft.com/office/drawing/2014/main" id="{A8D380A0-74EE-3F2E-BA07-6B1858DD3133}"/>
              </a:ext>
            </a:extLst>
          </p:cNvPr>
          <p:cNvSpPr/>
          <p:nvPr/>
        </p:nvSpPr>
        <p:spPr>
          <a:xfrm>
            <a:off x="3383280" y="1691640"/>
            <a:ext cx="2103120" cy="365760"/>
          </a:xfrm>
          <a:prstGeom prst="rect">
            <a:avLst/>
          </a:prstGeom>
          <a:noFill/>
          <a:ln/>
        </p:spPr>
        <p:txBody>
          <a:bodyPr wrap="square" lIns="0" tIns="0" rIns="0" bIns="0" rtlCol="0" anchor="ctr"/>
          <a:lstStyle/>
          <a:p>
            <a:pPr marL="0" indent="0">
              <a:buNone/>
            </a:pPr>
            <a:r>
              <a:rPr lang="en-US" sz="1800" b="1">
                <a:solidFill>
                  <a:srgbClr val="FFFFFF"/>
                </a:solidFill>
                <a:latin typeface="Consolas" pitchFamily="34" charset="0"/>
                <a:ea typeface="Consolas" pitchFamily="34" charset="-122"/>
                <a:cs typeface="Consolas" pitchFamily="34" charset="-120"/>
              </a:rPr>
              <a:t>English text</a:t>
            </a:r>
            <a:endParaRPr lang="en-US" sz="1800"/>
          </a:p>
        </p:txBody>
      </p:sp>
      <p:sp>
        <p:nvSpPr>
          <p:cNvPr id="23" name="Text 8">
            <a:extLst>
              <a:ext uri="{FF2B5EF4-FFF2-40B4-BE49-F238E27FC236}">
                <a16:creationId xmlns:a16="http://schemas.microsoft.com/office/drawing/2014/main" id="{ECC561FA-B1ED-FF8F-3F09-FC996CFD60DD}"/>
              </a:ext>
            </a:extLst>
          </p:cNvPr>
          <p:cNvSpPr/>
          <p:nvPr/>
        </p:nvSpPr>
        <p:spPr>
          <a:xfrm>
            <a:off x="3383280" y="2148840"/>
            <a:ext cx="2103120" cy="274320"/>
          </a:xfrm>
          <a:prstGeom prst="rect">
            <a:avLst/>
          </a:prstGeom>
          <a:noFill/>
          <a:ln/>
        </p:spPr>
        <p:txBody>
          <a:bodyPr wrap="square" lIns="0" tIns="0" rIns="0" bIns="0" rtlCol="0" anchor="ctr"/>
          <a:lstStyle/>
          <a:p>
            <a:pPr marL="0" indent="0">
              <a:buNone/>
            </a:pPr>
            <a:r>
              <a:rPr lang="en-US" sz="1200">
                <a:solidFill>
                  <a:srgbClr val="7B8FB0"/>
                </a:solidFill>
                <a:latin typeface="Calibri" pitchFamily="34" charset="0"/>
                <a:ea typeface="Calibri" pitchFamily="34" charset="-122"/>
                <a:cs typeface="Calibri" pitchFamily="34" charset="-120"/>
              </a:rPr>
              <a:t>Partially predictable</a:t>
            </a:r>
            <a:endParaRPr lang="en-US" sz="1200"/>
          </a:p>
        </p:txBody>
      </p:sp>
      <p:sp>
        <p:nvSpPr>
          <p:cNvPr id="24" name="Text 9">
            <a:extLst>
              <a:ext uri="{FF2B5EF4-FFF2-40B4-BE49-F238E27FC236}">
                <a16:creationId xmlns:a16="http://schemas.microsoft.com/office/drawing/2014/main" id="{C5E0E1C6-B2C9-2518-4A4C-376DEA5832E1}"/>
              </a:ext>
            </a:extLst>
          </p:cNvPr>
          <p:cNvSpPr/>
          <p:nvPr/>
        </p:nvSpPr>
        <p:spPr>
          <a:xfrm>
            <a:off x="3383280" y="2788920"/>
            <a:ext cx="2103120" cy="457200"/>
          </a:xfrm>
          <a:prstGeom prst="rect">
            <a:avLst/>
          </a:prstGeom>
          <a:noFill/>
          <a:ln/>
        </p:spPr>
        <p:txBody>
          <a:bodyPr wrap="square" lIns="0" tIns="0" rIns="0" bIns="0" rtlCol="0" anchor="ctr"/>
          <a:lstStyle/>
          <a:p>
            <a:pPr marL="0" indent="0">
              <a:buNone/>
            </a:pPr>
            <a:r>
              <a:rPr lang="en-US" sz="2200" b="1">
                <a:solidFill>
                  <a:srgbClr val="00D4AA"/>
                </a:solidFill>
                <a:latin typeface="Georgia" pitchFamily="34" charset="0"/>
                <a:ea typeface="Georgia" pitchFamily="34" charset="-122"/>
                <a:cs typeface="Georgia" pitchFamily="34" charset="-120"/>
              </a:rPr>
              <a:t>~1.0 bit/char</a:t>
            </a:r>
            <a:endParaRPr lang="en-US" sz="2200"/>
          </a:p>
        </p:txBody>
      </p:sp>
      <p:sp>
        <p:nvSpPr>
          <p:cNvPr id="25" name="Shape 10">
            <a:extLst>
              <a:ext uri="{FF2B5EF4-FFF2-40B4-BE49-F238E27FC236}">
                <a16:creationId xmlns:a16="http://schemas.microsoft.com/office/drawing/2014/main" id="{797E8BF7-814E-AB6B-B5AC-DAF4B478B916}"/>
              </a:ext>
            </a:extLst>
          </p:cNvPr>
          <p:cNvSpPr/>
          <p:nvPr/>
        </p:nvSpPr>
        <p:spPr>
          <a:xfrm>
            <a:off x="5852160" y="1554480"/>
            <a:ext cx="2468880" cy="2011680"/>
          </a:xfrm>
          <a:prstGeom prst="rect">
            <a:avLst/>
          </a:prstGeom>
          <a:solidFill>
            <a:srgbClr val="4A1A1A"/>
          </a:solidFill>
          <a:ln/>
        </p:spPr>
        <p:txBody>
          <a:bodyPr/>
          <a:lstStyle/>
          <a:p>
            <a:endParaRPr lang="en-US"/>
          </a:p>
        </p:txBody>
      </p:sp>
      <p:sp>
        <p:nvSpPr>
          <p:cNvPr id="26" name="Text 11">
            <a:extLst>
              <a:ext uri="{FF2B5EF4-FFF2-40B4-BE49-F238E27FC236}">
                <a16:creationId xmlns:a16="http://schemas.microsoft.com/office/drawing/2014/main" id="{23939437-05DB-392B-6C60-EFED9DA44CA9}"/>
              </a:ext>
            </a:extLst>
          </p:cNvPr>
          <p:cNvSpPr/>
          <p:nvPr/>
        </p:nvSpPr>
        <p:spPr>
          <a:xfrm>
            <a:off x="6035040" y="1691640"/>
            <a:ext cx="2103120" cy="365760"/>
          </a:xfrm>
          <a:prstGeom prst="rect">
            <a:avLst/>
          </a:prstGeom>
          <a:noFill/>
          <a:ln/>
        </p:spPr>
        <p:txBody>
          <a:bodyPr wrap="square" lIns="0" tIns="0" rIns="0" bIns="0" rtlCol="0" anchor="ctr"/>
          <a:lstStyle/>
          <a:p>
            <a:pPr marL="0" indent="0">
              <a:buNone/>
            </a:pPr>
            <a:r>
              <a:rPr lang="en-US" sz="1800" b="1">
                <a:solidFill>
                  <a:srgbClr val="FFFFFF"/>
                </a:solidFill>
                <a:latin typeface="Consolas" pitchFamily="34" charset="0"/>
                <a:ea typeface="Consolas" pitchFamily="34" charset="-122"/>
                <a:cs typeface="Consolas" pitchFamily="34" charset="-120"/>
              </a:rPr>
              <a:t>jK8#mQ2...</a:t>
            </a:r>
            <a:endParaRPr lang="en-US" sz="1800"/>
          </a:p>
        </p:txBody>
      </p:sp>
      <p:sp>
        <p:nvSpPr>
          <p:cNvPr id="27" name="Text 12">
            <a:extLst>
              <a:ext uri="{FF2B5EF4-FFF2-40B4-BE49-F238E27FC236}">
                <a16:creationId xmlns:a16="http://schemas.microsoft.com/office/drawing/2014/main" id="{8270CE91-1AD1-F37F-7448-CABC920BB4D4}"/>
              </a:ext>
            </a:extLst>
          </p:cNvPr>
          <p:cNvSpPr/>
          <p:nvPr/>
        </p:nvSpPr>
        <p:spPr>
          <a:xfrm>
            <a:off x="6035040" y="2148840"/>
            <a:ext cx="2103120" cy="274320"/>
          </a:xfrm>
          <a:prstGeom prst="rect">
            <a:avLst/>
          </a:prstGeom>
          <a:noFill/>
          <a:ln/>
        </p:spPr>
        <p:txBody>
          <a:bodyPr wrap="square" lIns="0" tIns="0" rIns="0" bIns="0" rtlCol="0" anchor="ctr"/>
          <a:lstStyle/>
          <a:p>
            <a:pPr marL="0" indent="0">
              <a:buNone/>
            </a:pPr>
            <a:r>
              <a:rPr lang="en-US" sz="1200">
                <a:solidFill>
                  <a:srgbClr val="7B8FB0"/>
                </a:solidFill>
                <a:latin typeface="Calibri" pitchFamily="34" charset="0"/>
                <a:ea typeface="Calibri" pitchFamily="34" charset="-122"/>
                <a:cs typeface="Calibri" pitchFamily="34" charset="-120"/>
              </a:rPr>
              <a:t>Completely random</a:t>
            </a:r>
            <a:r>
              <a:rPr lang="en-US" sz="1200">
                <a:solidFill>
                  <a:schemeClr val="bg1"/>
                </a:solidFill>
                <a:latin typeface="Calibri" pitchFamily="34" charset="0"/>
                <a:ea typeface="Calibri" pitchFamily="34" charset="-122"/>
                <a:cs typeface="Calibri" pitchFamily="34" charset="-120"/>
              </a:rPr>
              <a:t>*</a:t>
            </a:r>
            <a:endParaRPr lang="en-US" sz="1200">
              <a:solidFill>
                <a:schemeClr val="bg1"/>
              </a:solidFill>
            </a:endParaRPr>
          </a:p>
        </p:txBody>
      </p:sp>
      <p:sp>
        <p:nvSpPr>
          <p:cNvPr id="28" name="Text 13">
            <a:extLst>
              <a:ext uri="{FF2B5EF4-FFF2-40B4-BE49-F238E27FC236}">
                <a16:creationId xmlns:a16="http://schemas.microsoft.com/office/drawing/2014/main" id="{2D80E11D-35FE-EA97-6C4D-F6B97B4665D7}"/>
              </a:ext>
            </a:extLst>
          </p:cNvPr>
          <p:cNvSpPr/>
          <p:nvPr/>
        </p:nvSpPr>
        <p:spPr>
          <a:xfrm>
            <a:off x="6035040" y="2788920"/>
            <a:ext cx="2103120" cy="457200"/>
          </a:xfrm>
          <a:prstGeom prst="rect">
            <a:avLst/>
          </a:prstGeom>
          <a:noFill/>
          <a:ln/>
        </p:spPr>
        <p:txBody>
          <a:bodyPr wrap="square" lIns="0" tIns="0" rIns="0" bIns="0" rtlCol="0" anchor="ctr"/>
          <a:lstStyle/>
          <a:p>
            <a:pPr marL="0" indent="0">
              <a:buNone/>
            </a:pPr>
            <a:r>
              <a:rPr lang="en-US" sz="2200" b="1">
                <a:solidFill>
                  <a:srgbClr val="00D4AA"/>
                </a:solidFill>
                <a:latin typeface="Georgia" pitchFamily="34" charset="0"/>
                <a:ea typeface="Georgia" pitchFamily="34" charset="-122"/>
                <a:cs typeface="Georgia" pitchFamily="34" charset="-120"/>
              </a:rPr>
              <a:t>~6.5 bits/char</a:t>
            </a:r>
            <a:endParaRPr lang="en-US" sz="2200"/>
          </a:p>
        </p:txBody>
      </p:sp>
      <p:sp>
        <p:nvSpPr>
          <p:cNvPr id="29" name="Shape 14">
            <a:extLst>
              <a:ext uri="{FF2B5EF4-FFF2-40B4-BE49-F238E27FC236}">
                <a16:creationId xmlns:a16="http://schemas.microsoft.com/office/drawing/2014/main" id="{4CF11D77-9CE1-27F9-1644-0A6B9AEF814E}"/>
              </a:ext>
            </a:extLst>
          </p:cNvPr>
          <p:cNvSpPr/>
          <p:nvPr/>
        </p:nvSpPr>
        <p:spPr>
          <a:xfrm>
            <a:off x="548640" y="3840480"/>
            <a:ext cx="7772400" cy="36576"/>
          </a:xfrm>
          <a:prstGeom prst="rect">
            <a:avLst/>
          </a:prstGeom>
          <a:gradFill flip="none" rotWithShape="1">
            <a:gsLst>
              <a:gs pos="15000">
                <a:schemeClr val="accent6"/>
              </a:gs>
              <a:gs pos="99000">
                <a:schemeClr val="accent2"/>
              </a:gs>
            </a:gsLst>
            <a:lin ang="0" scaled="1"/>
            <a:tileRect/>
          </a:gradFill>
          <a:ln/>
        </p:spPr>
        <p:txBody>
          <a:bodyPr/>
          <a:lstStyle/>
          <a:p>
            <a:endParaRPr lang="en-US"/>
          </a:p>
        </p:txBody>
      </p:sp>
      <p:sp>
        <p:nvSpPr>
          <p:cNvPr id="30" name="Text 15">
            <a:extLst>
              <a:ext uri="{FF2B5EF4-FFF2-40B4-BE49-F238E27FC236}">
                <a16:creationId xmlns:a16="http://schemas.microsoft.com/office/drawing/2014/main" id="{3773B38C-C9B1-4A8D-F2E5-E1CF01A31DE6}"/>
              </a:ext>
            </a:extLst>
          </p:cNvPr>
          <p:cNvSpPr/>
          <p:nvPr/>
        </p:nvSpPr>
        <p:spPr>
          <a:xfrm>
            <a:off x="548640" y="3977640"/>
            <a:ext cx="1881945" cy="274320"/>
          </a:xfrm>
          <a:prstGeom prst="rect">
            <a:avLst/>
          </a:prstGeom>
          <a:noFill/>
          <a:ln/>
        </p:spPr>
        <p:txBody>
          <a:bodyPr wrap="square" lIns="0" tIns="0" rIns="0" bIns="0" rtlCol="0" anchor="ctr"/>
          <a:lstStyle/>
          <a:p>
            <a:pPr marL="0" indent="0">
              <a:buNone/>
            </a:pPr>
            <a:r>
              <a:rPr lang="en-US" sz="1100">
                <a:solidFill>
                  <a:srgbClr val="7B8FB0"/>
                </a:solidFill>
                <a:latin typeface="Calibri" pitchFamily="34" charset="0"/>
                <a:ea typeface="Calibri" pitchFamily="34" charset="-122"/>
                <a:cs typeface="Calibri" pitchFamily="34" charset="-120"/>
              </a:rPr>
              <a:t>Low entropy</a:t>
            </a:r>
            <a:endParaRPr lang="en-US" sz="1100"/>
          </a:p>
        </p:txBody>
      </p:sp>
      <p:sp>
        <p:nvSpPr>
          <p:cNvPr id="33" name="Text 15">
            <a:extLst>
              <a:ext uri="{FF2B5EF4-FFF2-40B4-BE49-F238E27FC236}">
                <a16:creationId xmlns:a16="http://schemas.microsoft.com/office/drawing/2014/main" id="{4EDFEF37-807C-6288-575B-8F384BFB888E}"/>
              </a:ext>
            </a:extLst>
          </p:cNvPr>
          <p:cNvSpPr/>
          <p:nvPr/>
        </p:nvSpPr>
        <p:spPr>
          <a:xfrm>
            <a:off x="6081933" y="3977640"/>
            <a:ext cx="2239107" cy="274320"/>
          </a:xfrm>
          <a:prstGeom prst="rect">
            <a:avLst/>
          </a:prstGeom>
          <a:noFill/>
          <a:ln/>
        </p:spPr>
        <p:txBody>
          <a:bodyPr wrap="square" lIns="0" tIns="0" rIns="0" bIns="0" rtlCol="0" anchor="ctr"/>
          <a:lstStyle/>
          <a:p>
            <a:pPr marL="0" indent="0" algn="r">
              <a:buNone/>
            </a:pPr>
            <a:r>
              <a:rPr lang="en-US" sz="1100">
                <a:solidFill>
                  <a:srgbClr val="7B8FB0"/>
                </a:solidFill>
                <a:latin typeface="Calibri" pitchFamily="34" charset="0"/>
                <a:ea typeface="Calibri" pitchFamily="34" charset="-122"/>
                <a:cs typeface="Calibri" pitchFamily="34" charset="-120"/>
              </a:rPr>
              <a:t>High entropy</a:t>
            </a:r>
            <a:endParaRPr lang="en-US" sz="1100"/>
          </a:p>
        </p:txBody>
      </p:sp>
      <p:sp>
        <p:nvSpPr>
          <p:cNvPr id="5" name="Text 11">
            <a:extLst>
              <a:ext uri="{FF2B5EF4-FFF2-40B4-BE49-F238E27FC236}">
                <a16:creationId xmlns:a16="http://schemas.microsoft.com/office/drawing/2014/main" id="{6F74F320-6E79-1615-33BC-82F987B339C8}"/>
              </a:ext>
            </a:extLst>
          </p:cNvPr>
          <p:cNvSpPr/>
          <p:nvPr/>
        </p:nvSpPr>
        <p:spPr>
          <a:xfrm>
            <a:off x="548640" y="4572000"/>
            <a:ext cx="8229600" cy="365760"/>
          </a:xfrm>
          <a:prstGeom prst="rect">
            <a:avLst/>
          </a:prstGeom>
          <a:noFill/>
          <a:ln/>
        </p:spPr>
        <p:txBody>
          <a:bodyPr wrap="square" lIns="0" tIns="0" rIns="0" bIns="0" rtlCol="0" anchor="ctr"/>
          <a:lstStyle/>
          <a:p>
            <a:r>
              <a:rPr lang="en-US" sz="1300" b="1" i="1">
                <a:solidFill>
                  <a:srgbClr val="D8D6CE"/>
                </a:solidFill>
                <a:latin typeface="Calibri" pitchFamily="34" charset="0"/>
                <a:ea typeface="Calibri" pitchFamily="34" charset="-122"/>
                <a:cs typeface="Calibri" pitchFamily="34" charset="-120"/>
              </a:rPr>
              <a:t>*</a:t>
            </a:r>
            <a:r>
              <a:rPr lang="en-US" sz="1300" i="1">
                <a:solidFill>
                  <a:srgbClr val="9AA0A8"/>
                </a:solidFill>
                <a:latin typeface="Calibri" pitchFamily="34" charset="0"/>
                <a:ea typeface="Calibri" pitchFamily="34" charset="-122"/>
                <a:cs typeface="Calibri" pitchFamily="34" charset="-120"/>
              </a:rPr>
              <a:t> ~</a:t>
            </a:r>
            <a:r>
              <a:rPr lang="en-US" sz="1300" i="1">
                <a:solidFill>
                  <a:schemeClr val="tx2">
                    <a:lumMod val="60000"/>
                    <a:lumOff val="40000"/>
                  </a:schemeClr>
                </a:solidFill>
                <a:latin typeface="Calibri" pitchFamily="34" charset="0"/>
                <a:cs typeface="Calibri" pitchFamily="34" charset="-120"/>
              </a:rPr>
              <a:t>6.5 bits if we choose randomly from the set of (95) printable ASCII character</a:t>
            </a:r>
            <a:endParaRPr lang="en-US" sz="1300" i="1">
              <a:solidFill>
                <a:schemeClr val="tx2">
                  <a:lumMod val="60000"/>
                  <a:lumOff val="40000"/>
                </a:schemeClr>
              </a:solidFill>
            </a:endParaRPr>
          </a:p>
        </p:txBody>
      </p:sp>
    </p:spTree>
    <p:extLst>
      <p:ext uri="{BB962C8B-B14F-4D97-AF65-F5344CB8AC3E}">
        <p14:creationId xmlns:p14="http://schemas.microsoft.com/office/powerpoint/2010/main" val="3242303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914400" y="914400"/>
            <a:ext cx="7315200" cy="1463040"/>
          </a:xfrm>
          <a:prstGeom prst="rect">
            <a:avLst/>
          </a:prstGeom>
          <a:solidFill>
            <a:srgbClr val="222731"/>
          </a:solidFill>
          <a:ln>
            <a:solidFill>
              <a:srgbClr val="888888"/>
            </a:solidFill>
          </a:ln>
          <a:effectLst/>
        </p:spPr>
        <p:txBody>
          <a:bodyPr/>
          <a:lstStyle/>
          <a:p>
            <a:endParaRPr lang="en-US"/>
          </a:p>
        </p:txBody>
      </p:sp>
      <p:sp>
        <p:nvSpPr>
          <p:cNvPr id="4" name="Text 2"/>
          <p:cNvSpPr/>
          <p:nvPr/>
        </p:nvSpPr>
        <p:spPr>
          <a:xfrm>
            <a:off x="914400" y="1188720"/>
            <a:ext cx="7315200" cy="1463040"/>
          </a:xfrm>
          <a:prstGeom prst="rect">
            <a:avLst/>
          </a:prstGeom>
          <a:noFill/>
          <a:ln/>
        </p:spPr>
        <p:txBody>
          <a:bodyPr wrap="square" lIns="0" tIns="0" rIns="0" bIns="0" rtlCol="0" anchor="ctr"/>
          <a:lstStyle/>
          <a:p>
            <a:pPr marL="0" indent="0" algn="ctr">
              <a:buNone/>
            </a:pPr>
            <a:endParaRPr lang="en-US" sz="3600"/>
          </a:p>
        </p:txBody>
      </p:sp>
      <p:sp>
        <p:nvSpPr>
          <p:cNvPr id="5" name="Shape 3"/>
          <p:cNvSpPr/>
          <p:nvPr/>
        </p:nvSpPr>
        <p:spPr>
          <a:xfrm>
            <a:off x="914400" y="3017520"/>
            <a:ext cx="2194560" cy="1417320"/>
          </a:xfrm>
          <a:prstGeom prst="rect">
            <a:avLst/>
          </a:prstGeom>
          <a:solidFill>
            <a:srgbClr val="222731"/>
          </a:solidFill>
          <a:ln/>
          <a:effectLst/>
        </p:spPr>
        <p:txBody>
          <a:bodyPr/>
          <a:lstStyle/>
          <a:p>
            <a:endParaRPr lang="en-US"/>
          </a:p>
        </p:txBody>
      </p:sp>
      <mc:AlternateContent xmlns:mc="http://schemas.openxmlformats.org/markup-compatibility/2006">
        <mc:Choice xmlns:a14="http://schemas.microsoft.com/office/drawing/2010/main" Requires="a14">
          <p:sp>
            <p:nvSpPr>
              <p:cNvPr id="6" name="Text 4"/>
              <p:cNvSpPr/>
              <p:nvPr/>
            </p:nvSpPr>
            <p:spPr>
              <a:xfrm>
                <a:off x="914400" y="3154680"/>
                <a:ext cx="219456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400" b="0" i="1" smtClean="0">
                          <a:solidFill>
                            <a:schemeClr val="accent4">
                              <a:lumMod val="40000"/>
                              <a:lumOff val="60000"/>
                            </a:schemeClr>
                          </a:solidFill>
                          <a:latin typeface="Cambria Math" panose="02040503050406030204" pitchFamily="18" charset="0"/>
                          <a:ea typeface="Cambria Math" panose="02040503050406030204" pitchFamily="18" charset="0"/>
                        </a:rPr>
                        <m:t>𝐻</m:t>
                      </m:r>
                      <m:d>
                        <m:dPr>
                          <m:ctrlPr>
                            <a:rPr lang="en-US" sz="2400" i="1">
                              <a:solidFill>
                                <a:schemeClr val="accent4">
                                  <a:lumMod val="40000"/>
                                  <a:lumOff val="60000"/>
                                </a:schemeClr>
                              </a:solidFill>
                              <a:latin typeface="Cambria Math" panose="02040503050406030204" pitchFamily="18" charset="0"/>
                              <a:ea typeface="Cambria Math" panose="02040503050406030204" pitchFamily="18" charset="0"/>
                            </a:rPr>
                          </m:ctrlPr>
                        </m:dPr>
                        <m:e>
                          <m:r>
                            <a:rPr lang="en-US" sz="2400" i="1">
                              <a:solidFill>
                                <a:schemeClr val="accent4">
                                  <a:lumMod val="40000"/>
                                  <a:lumOff val="60000"/>
                                </a:schemeClr>
                              </a:solidFill>
                              <a:latin typeface="Cambria Math" panose="02040503050406030204" pitchFamily="18" charset="0"/>
                              <a:ea typeface="Cambria Math" panose="02040503050406030204" pitchFamily="18" charset="0"/>
                            </a:rPr>
                            <m:t>𝑋</m:t>
                          </m:r>
                        </m:e>
                      </m:d>
                    </m:oMath>
                  </m:oMathPara>
                </a14:m>
                <a:endParaRPr lang="en-US" sz="2200" dirty="0">
                  <a:solidFill>
                    <a:schemeClr val="accent4">
                      <a:lumMod val="40000"/>
                      <a:lumOff val="60000"/>
                    </a:schemeClr>
                  </a:solidFill>
                </a:endParaRPr>
              </a:p>
            </p:txBody>
          </p:sp>
        </mc:Choice>
        <mc:Fallback>
          <p:sp>
            <p:nvSpPr>
              <p:cNvPr id="6" name="Text 4"/>
              <p:cNvSpPr>
                <a:spLocks noRot="1" noChangeAspect="1" noMove="1" noResize="1" noEditPoints="1" noAdjustHandles="1" noChangeArrowheads="1" noChangeShapeType="1" noTextEdit="1"/>
              </p:cNvSpPr>
              <p:nvPr/>
            </p:nvSpPr>
            <p:spPr>
              <a:xfrm>
                <a:off x="914400" y="3154680"/>
                <a:ext cx="2194560" cy="548640"/>
              </a:xfrm>
              <a:prstGeom prst="rect">
                <a:avLst/>
              </a:prstGeom>
              <a:blipFill>
                <a:blip r:embed="rId3"/>
                <a:stretch>
                  <a:fillRect/>
                </a:stretch>
              </a:blipFill>
              <a:ln/>
            </p:spPr>
            <p:txBody>
              <a:bodyPr/>
              <a:lstStyle/>
              <a:p>
                <a:r>
                  <a:rPr lang="en-US">
                    <a:noFill/>
                  </a:rPr>
                  <a:t> </a:t>
                </a:r>
              </a:p>
            </p:txBody>
          </p:sp>
        </mc:Fallback>
      </mc:AlternateContent>
      <p:sp>
        <p:nvSpPr>
          <p:cNvPr id="7" name="Text 5"/>
          <p:cNvSpPr/>
          <p:nvPr/>
        </p:nvSpPr>
        <p:spPr>
          <a:xfrm>
            <a:off x="914400" y="3749040"/>
            <a:ext cx="2194560" cy="731520"/>
          </a:xfrm>
          <a:prstGeom prst="rect">
            <a:avLst/>
          </a:prstGeom>
          <a:noFill/>
          <a:ln/>
        </p:spPr>
        <p:txBody>
          <a:bodyPr wrap="square" lIns="0" tIns="0" rIns="0" bIns="0" rtlCol="0" anchor="t"/>
          <a:lstStyle/>
          <a:p>
            <a:pPr marL="0" indent="0" algn="ctr">
              <a:buNone/>
            </a:pPr>
            <a:r>
              <a:rPr lang="en-US" sz="1300">
                <a:solidFill>
                  <a:srgbClr val="D8D6CE"/>
                </a:solidFill>
                <a:latin typeface="Calibri" pitchFamily="34" charset="0"/>
                <a:ea typeface="Calibri" pitchFamily="34" charset="-122"/>
                <a:cs typeface="Calibri" pitchFamily="34" charset="-120"/>
              </a:rPr>
              <a:t>Average surprise</a:t>
            </a:r>
            <a:endParaRPr lang="en-US" sz="1300"/>
          </a:p>
          <a:p>
            <a:pPr marL="0" indent="0" algn="ctr">
              <a:buNone/>
            </a:pPr>
            <a:r>
              <a:rPr lang="en-US" sz="1300">
                <a:solidFill>
                  <a:srgbClr val="D8D6CE"/>
                </a:solidFill>
                <a:latin typeface="Calibri" pitchFamily="34" charset="0"/>
                <a:ea typeface="Calibri" pitchFamily="34" charset="-122"/>
                <a:cs typeface="Calibri" pitchFamily="34" charset="-120"/>
              </a:rPr>
              <a:t>(in bits)</a:t>
            </a:r>
            <a:endParaRPr lang="en-US" sz="1300"/>
          </a:p>
        </p:txBody>
      </p:sp>
      <p:sp>
        <p:nvSpPr>
          <p:cNvPr id="8" name="Shape 6"/>
          <p:cNvSpPr/>
          <p:nvPr/>
        </p:nvSpPr>
        <p:spPr>
          <a:xfrm>
            <a:off x="3827720" y="3017520"/>
            <a:ext cx="1828800" cy="1417320"/>
          </a:xfrm>
          <a:prstGeom prst="rect">
            <a:avLst/>
          </a:prstGeom>
          <a:solidFill>
            <a:srgbClr val="222731"/>
          </a:solidFill>
          <a:ln/>
          <a:effectLst/>
        </p:spPr>
        <p:txBody>
          <a:bodyPr/>
          <a:lstStyle/>
          <a:p>
            <a:endParaRPr lang="en-US"/>
          </a:p>
        </p:txBody>
      </p:sp>
      <mc:AlternateContent xmlns:mc="http://schemas.openxmlformats.org/markup-compatibility/2006">
        <mc:Choice xmlns:a14="http://schemas.microsoft.com/office/drawing/2010/main" Requires="a14">
          <p:sp>
            <p:nvSpPr>
              <p:cNvPr id="9" name="Text 7"/>
              <p:cNvSpPr/>
              <p:nvPr/>
            </p:nvSpPr>
            <p:spPr>
              <a:xfrm>
                <a:off x="3827720" y="3154680"/>
                <a:ext cx="182880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400" i="1" smtClean="0">
                          <a:solidFill>
                            <a:schemeClr val="accent5">
                              <a:lumMod val="60000"/>
                              <a:lumOff val="40000"/>
                            </a:schemeClr>
                          </a:solidFill>
                          <a:latin typeface="Cambria Math" panose="02040503050406030204" pitchFamily="18" charset="0"/>
                          <a:ea typeface="Cambria Math" panose="02040503050406030204" pitchFamily="18" charset="0"/>
                        </a:rPr>
                        <m:t>𝑝</m:t>
                      </m:r>
                      <m:r>
                        <a:rPr lang="en-US" sz="2400" i="1" smtClean="0">
                          <a:solidFill>
                            <a:schemeClr val="accent5">
                              <a:lumMod val="60000"/>
                              <a:lumOff val="40000"/>
                            </a:schemeClr>
                          </a:solidFill>
                          <a:latin typeface="Cambria Math" panose="02040503050406030204" pitchFamily="18" charset="0"/>
                          <a:ea typeface="Cambria Math" panose="02040503050406030204" pitchFamily="18" charset="0"/>
                        </a:rPr>
                        <m:t>(</m:t>
                      </m:r>
                      <m:r>
                        <a:rPr lang="en-US" sz="2400" i="1" smtClean="0">
                          <a:solidFill>
                            <a:schemeClr val="accent5">
                              <a:lumMod val="60000"/>
                              <a:lumOff val="40000"/>
                            </a:schemeClr>
                          </a:solidFill>
                          <a:latin typeface="Cambria Math" panose="02040503050406030204" pitchFamily="18" charset="0"/>
                          <a:ea typeface="Cambria Math" panose="02040503050406030204" pitchFamily="18" charset="0"/>
                        </a:rPr>
                        <m:t>𝑥</m:t>
                      </m:r>
                      <m:r>
                        <a:rPr lang="en-US" sz="2400" i="1" smtClean="0">
                          <a:solidFill>
                            <a:schemeClr val="accent5">
                              <a:lumMod val="60000"/>
                              <a:lumOff val="40000"/>
                            </a:schemeClr>
                          </a:solidFill>
                          <a:latin typeface="Cambria Math" panose="02040503050406030204" pitchFamily="18" charset="0"/>
                          <a:ea typeface="Cambria Math" panose="02040503050406030204" pitchFamily="18" charset="0"/>
                        </a:rPr>
                        <m:t>)</m:t>
                      </m:r>
                    </m:oMath>
                  </m:oMathPara>
                </a14:m>
                <a:endParaRPr lang="en-US" sz="2200">
                  <a:solidFill>
                    <a:schemeClr val="accent5">
                      <a:lumMod val="60000"/>
                      <a:lumOff val="40000"/>
                    </a:schemeClr>
                  </a:solidFill>
                </a:endParaRPr>
              </a:p>
            </p:txBody>
          </p:sp>
        </mc:Choice>
        <mc:Fallback>
          <p:sp>
            <p:nvSpPr>
              <p:cNvPr id="9" name="Text 7"/>
              <p:cNvSpPr>
                <a:spLocks noRot="1" noChangeAspect="1" noMove="1" noResize="1" noEditPoints="1" noAdjustHandles="1" noChangeArrowheads="1" noChangeShapeType="1" noTextEdit="1"/>
              </p:cNvSpPr>
              <p:nvPr/>
            </p:nvSpPr>
            <p:spPr>
              <a:xfrm>
                <a:off x="3827720" y="3154680"/>
                <a:ext cx="1828800" cy="548640"/>
              </a:xfrm>
              <a:prstGeom prst="rect">
                <a:avLst/>
              </a:prstGeom>
              <a:blipFill>
                <a:blip r:embed="rId4"/>
                <a:stretch>
                  <a:fillRect b="-6818"/>
                </a:stretch>
              </a:blipFill>
              <a:ln/>
            </p:spPr>
            <p:txBody>
              <a:bodyPr/>
              <a:lstStyle/>
              <a:p>
                <a:r>
                  <a:rPr lang="en-US">
                    <a:noFill/>
                  </a:rPr>
                  <a:t> </a:t>
                </a:r>
              </a:p>
            </p:txBody>
          </p:sp>
        </mc:Fallback>
      </mc:AlternateContent>
      <p:sp>
        <p:nvSpPr>
          <p:cNvPr id="10" name="Text 8"/>
          <p:cNvSpPr/>
          <p:nvPr/>
        </p:nvSpPr>
        <p:spPr>
          <a:xfrm>
            <a:off x="3827720" y="3749040"/>
            <a:ext cx="1828800" cy="731520"/>
          </a:xfrm>
          <a:prstGeom prst="rect">
            <a:avLst/>
          </a:prstGeom>
          <a:noFill/>
          <a:ln/>
        </p:spPr>
        <p:txBody>
          <a:bodyPr wrap="square" lIns="0" tIns="0" rIns="0" bIns="0" rtlCol="0" anchor="t"/>
          <a:lstStyle/>
          <a:p>
            <a:pPr marL="0" indent="0" algn="ctr">
              <a:buNone/>
            </a:pPr>
            <a:r>
              <a:rPr lang="en-US" sz="1300">
                <a:solidFill>
                  <a:srgbClr val="D8D6CE"/>
                </a:solidFill>
                <a:latin typeface="Calibri" pitchFamily="34" charset="0"/>
                <a:ea typeface="Calibri" pitchFamily="34" charset="-122"/>
                <a:cs typeface="Calibri" pitchFamily="34" charset="-120"/>
              </a:rPr>
              <a:t>Probability of</a:t>
            </a:r>
            <a:endParaRPr lang="en-US" sz="1300"/>
          </a:p>
          <a:p>
            <a:pPr marL="0" indent="0" algn="ctr">
              <a:buNone/>
            </a:pPr>
            <a:r>
              <a:rPr lang="en-US" sz="1300">
                <a:solidFill>
                  <a:srgbClr val="D8D6CE"/>
                </a:solidFill>
                <a:latin typeface="Calibri" pitchFamily="34" charset="0"/>
                <a:ea typeface="Calibri" pitchFamily="34" charset="-122"/>
                <a:cs typeface="Calibri" pitchFamily="34" charset="-120"/>
              </a:rPr>
              <a:t>each outcome</a:t>
            </a:r>
            <a:endParaRPr lang="en-US" sz="1300"/>
          </a:p>
        </p:txBody>
      </p:sp>
      <p:sp>
        <p:nvSpPr>
          <p:cNvPr id="11" name="Shape 9"/>
          <p:cNvSpPr/>
          <p:nvPr/>
        </p:nvSpPr>
        <p:spPr>
          <a:xfrm>
            <a:off x="6035040" y="3017520"/>
            <a:ext cx="1828800" cy="1417320"/>
          </a:xfrm>
          <a:prstGeom prst="rect">
            <a:avLst/>
          </a:prstGeom>
          <a:solidFill>
            <a:srgbClr val="222731"/>
          </a:solidFill>
          <a:ln/>
          <a:effectLst/>
        </p:spPr>
        <p:txBody>
          <a:bodyPr/>
          <a:lstStyle/>
          <a:p>
            <a:endParaRPr lang="en-US"/>
          </a:p>
        </p:txBody>
      </p:sp>
      <mc:AlternateContent xmlns:mc="http://schemas.openxmlformats.org/markup-compatibility/2006">
        <mc:Choice xmlns:a14="http://schemas.microsoft.com/office/drawing/2010/main" Requires="a14">
          <p:sp>
            <p:nvSpPr>
              <p:cNvPr id="12" name="Text 10"/>
              <p:cNvSpPr/>
              <p:nvPr/>
            </p:nvSpPr>
            <p:spPr>
              <a:xfrm>
                <a:off x="6035040" y="3154680"/>
                <a:ext cx="182880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
                        <m:sSubPr>
                          <m:ctrlPr>
                            <a:rPr lang="en-US" sz="2400" i="1" smtClean="0">
                              <a:solidFill>
                                <a:srgbClr val="9FCEB8"/>
                              </a:solidFill>
                              <a:latin typeface="Cambria Math" panose="02040503050406030204" pitchFamily="18" charset="0"/>
                              <a:ea typeface="Cambria Math" panose="02040503050406030204" pitchFamily="18" charset="0"/>
                            </a:rPr>
                          </m:ctrlPr>
                        </m:sSubPr>
                        <m:e>
                          <m:r>
                            <a:rPr lang="en-US" sz="2400" i="1">
                              <a:solidFill>
                                <a:srgbClr val="9FCEB8"/>
                              </a:solidFill>
                              <a:latin typeface="Cambria Math" panose="02040503050406030204" pitchFamily="18" charset="0"/>
                              <a:ea typeface="Cambria Math" panose="02040503050406030204" pitchFamily="18" charset="0"/>
                            </a:rPr>
                            <m:t>𝑙𝑜𝑔</m:t>
                          </m:r>
                        </m:e>
                        <m:sub>
                          <m:r>
                            <a:rPr lang="en-US" sz="2400" i="1">
                              <a:solidFill>
                                <a:srgbClr val="9FCEB8"/>
                              </a:solidFill>
                              <a:latin typeface="Cambria Math" panose="02040503050406030204" pitchFamily="18" charset="0"/>
                              <a:ea typeface="Cambria Math" panose="02040503050406030204" pitchFamily="18" charset="0"/>
                            </a:rPr>
                            <m:t>2</m:t>
                          </m:r>
                        </m:sub>
                      </m:sSub>
                      <m:r>
                        <a:rPr lang="en-US" sz="2400" i="1">
                          <a:solidFill>
                            <a:srgbClr val="9FCEB8"/>
                          </a:solidFill>
                          <a:latin typeface="Cambria Math" panose="02040503050406030204" pitchFamily="18" charset="0"/>
                          <a:ea typeface="Cambria Math" panose="02040503050406030204" pitchFamily="18" charset="0"/>
                        </a:rPr>
                        <m:t> </m:t>
                      </m:r>
                      <m:r>
                        <a:rPr lang="en-US" sz="2400" i="1">
                          <a:solidFill>
                            <a:srgbClr val="9FCEB8"/>
                          </a:solidFill>
                          <a:latin typeface="Cambria Math" panose="02040503050406030204" pitchFamily="18" charset="0"/>
                          <a:ea typeface="Cambria Math" panose="02040503050406030204" pitchFamily="18" charset="0"/>
                        </a:rPr>
                        <m:t>𝑝</m:t>
                      </m:r>
                      <m:r>
                        <a:rPr lang="en-US" sz="2400" i="1">
                          <a:solidFill>
                            <a:srgbClr val="9FCEB8"/>
                          </a:solidFill>
                          <a:latin typeface="Cambria Math" panose="02040503050406030204" pitchFamily="18" charset="0"/>
                          <a:ea typeface="Cambria Math" panose="02040503050406030204" pitchFamily="18" charset="0"/>
                        </a:rPr>
                        <m:t>(</m:t>
                      </m:r>
                      <m:r>
                        <a:rPr lang="en-US" sz="2400" i="1">
                          <a:solidFill>
                            <a:srgbClr val="9FCEB8"/>
                          </a:solidFill>
                          <a:latin typeface="Cambria Math" panose="02040503050406030204" pitchFamily="18" charset="0"/>
                          <a:ea typeface="Cambria Math" panose="02040503050406030204" pitchFamily="18" charset="0"/>
                        </a:rPr>
                        <m:t>𝑥</m:t>
                      </m:r>
                      <m:r>
                        <a:rPr lang="en-US" sz="2400" i="1">
                          <a:solidFill>
                            <a:srgbClr val="9FCEB8"/>
                          </a:solidFill>
                          <a:latin typeface="Cambria Math" panose="02040503050406030204" pitchFamily="18" charset="0"/>
                          <a:ea typeface="Cambria Math" panose="02040503050406030204" pitchFamily="18" charset="0"/>
                        </a:rPr>
                        <m:t>)</m:t>
                      </m:r>
                    </m:oMath>
                  </m:oMathPara>
                </a14:m>
                <a:endParaRPr lang="en-US" sz="2200" dirty="0">
                  <a:solidFill>
                    <a:srgbClr val="9FCEB8"/>
                  </a:solidFill>
                </a:endParaRPr>
              </a:p>
            </p:txBody>
          </p:sp>
        </mc:Choice>
        <mc:Fallback>
          <p:sp>
            <p:nvSpPr>
              <p:cNvPr id="12" name="Text 10"/>
              <p:cNvSpPr>
                <a:spLocks noRot="1" noChangeAspect="1" noMove="1" noResize="1" noEditPoints="1" noAdjustHandles="1" noChangeArrowheads="1" noChangeShapeType="1" noTextEdit="1"/>
              </p:cNvSpPr>
              <p:nvPr/>
            </p:nvSpPr>
            <p:spPr>
              <a:xfrm>
                <a:off x="6035040" y="3154680"/>
                <a:ext cx="1828800" cy="548640"/>
              </a:xfrm>
              <a:prstGeom prst="rect">
                <a:avLst/>
              </a:prstGeom>
              <a:blipFill>
                <a:blip r:embed="rId5"/>
                <a:stretch>
                  <a:fillRect b="-11364"/>
                </a:stretch>
              </a:blipFill>
              <a:ln/>
            </p:spPr>
            <p:txBody>
              <a:bodyPr/>
              <a:lstStyle/>
              <a:p>
                <a:r>
                  <a:rPr lang="en-US">
                    <a:noFill/>
                  </a:rPr>
                  <a:t> </a:t>
                </a:r>
              </a:p>
            </p:txBody>
          </p:sp>
        </mc:Fallback>
      </mc:AlternateContent>
      <p:sp>
        <p:nvSpPr>
          <p:cNvPr id="13" name="Text 11"/>
          <p:cNvSpPr/>
          <p:nvPr/>
        </p:nvSpPr>
        <p:spPr>
          <a:xfrm>
            <a:off x="6035040" y="3726180"/>
            <a:ext cx="1828800" cy="731520"/>
          </a:xfrm>
          <a:prstGeom prst="rect">
            <a:avLst/>
          </a:prstGeom>
          <a:noFill/>
          <a:ln/>
        </p:spPr>
        <p:txBody>
          <a:bodyPr wrap="square" lIns="0" tIns="0" rIns="0" bIns="0" rtlCol="0" anchor="t"/>
          <a:lstStyle/>
          <a:p>
            <a:pPr marL="0" indent="0" algn="ctr">
              <a:buNone/>
            </a:pPr>
            <a:r>
              <a:rPr lang="en-US" sz="1300">
                <a:solidFill>
                  <a:srgbClr val="D8D6CE"/>
                </a:solidFill>
                <a:latin typeface="Calibri" pitchFamily="34" charset="0"/>
                <a:ea typeface="Calibri" pitchFamily="34" charset="-122"/>
                <a:cs typeface="Calibri" pitchFamily="34" charset="-120"/>
              </a:rPr>
              <a:t>Surprise of</a:t>
            </a:r>
            <a:endParaRPr lang="en-US" sz="1300"/>
          </a:p>
          <a:p>
            <a:pPr marL="0" indent="0" algn="ctr">
              <a:buNone/>
            </a:pPr>
            <a:r>
              <a:rPr lang="en-US" sz="1300">
                <a:solidFill>
                  <a:srgbClr val="D8D6CE"/>
                </a:solidFill>
                <a:latin typeface="Calibri" pitchFamily="34" charset="0"/>
                <a:ea typeface="Calibri" pitchFamily="34" charset="-122"/>
                <a:cs typeface="Calibri" pitchFamily="34" charset="-120"/>
              </a:rPr>
              <a:t>that outcome</a:t>
            </a:r>
            <a:endParaRPr lang="en-US" sz="130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E50F4DFD-11EB-F259-B283-6C83CC669D17}"/>
                  </a:ext>
                </a:extLst>
              </p:cNvPr>
              <p:cNvSpPr txBox="1"/>
              <p:nvPr/>
            </p:nvSpPr>
            <p:spPr>
              <a:xfrm>
                <a:off x="2580043" y="1104889"/>
                <a:ext cx="3983911" cy="894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𝐻</m:t>
                      </m:r>
                      <m:d>
                        <m:dPr>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dPr>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𝑋</m:t>
                          </m:r>
                        </m:e>
                      </m:d>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nary>
                        <m:naryPr>
                          <m:chr m:val="∑"/>
                          <m:subHide m:val="on"/>
                          <m:supHide m:val="on"/>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naryPr>
                        <m:sub/>
                        <m:sup/>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𝑝</m:t>
                          </m:r>
                          <m:d>
                            <m:dPr>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dPr>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𝑥</m:t>
                              </m:r>
                            </m:e>
                          </m:d>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sSub>
                            <m:sSubPr>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sSubPr>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𝑙𝑜𝑔</m:t>
                              </m:r>
                            </m:e>
                            <m:sub>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2</m:t>
                              </m:r>
                            </m:sub>
                          </m:sSub>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 </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𝑝</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𝑥</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e>
                      </m:nary>
                    </m:oMath>
                  </m:oMathPara>
                </a14:m>
                <a:endParaRPr lang="en-US" sz="2400" dirty="0">
                  <a:solidFill>
                    <a:schemeClr val="accent4">
                      <a:lumMod val="60000"/>
                      <a:lumOff val="40000"/>
                    </a:schemeClr>
                  </a:solidFill>
                </a:endParaRPr>
              </a:p>
            </p:txBody>
          </p:sp>
        </mc:Choice>
        <mc:Fallback>
          <p:sp>
            <p:nvSpPr>
              <p:cNvPr id="15" name="TextBox 14">
                <a:extLst>
                  <a:ext uri="{FF2B5EF4-FFF2-40B4-BE49-F238E27FC236}">
                    <a16:creationId xmlns:a16="http://schemas.microsoft.com/office/drawing/2014/main" id="{E50F4DFD-11EB-F259-B283-6C83CC669D17}"/>
                  </a:ext>
                </a:extLst>
              </p:cNvPr>
              <p:cNvSpPr txBox="1">
                <a:spLocks noRot="1" noChangeAspect="1" noMove="1" noResize="1" noEditPoints="1" noAdjustHandles="1" noChangeArrowheads="1" noChangeShapeType="1" noTextEdit="1"/>
              </p:cNvSpPr>
              <p:nvPr/>
            </p:nvSpPr>
            <p:spPr>
              <a:xfrm>
                <a:off x="2580043" y="1104889"/>
                <a:ext cx="3983911" cy="894219"/>
              </a:xfrm>
              <a:prstGeom prst="rect">
                <a:avLst/>
              </a:prstGeom>
              <a:blipFill>
                <a:blip r:embed="rId6"/>
                <a:stretch>
                  <a:fillRect l="-1274" t="-147222" r="-2229" b="-202778"/>
                </a:stretch>
              </a:blipFill>
            </p:spPr>
            <p:txBody>
              <a:bodyPr/>
              <a:lstStyle/>
              <a:p>
                <a:r>
                  <a:rPr lang="en-US">
                    <a:noFill/>
                  </a:rPr>
                  <a:t> </a:t>
                </a:r>
              </a:p>
            </p:txBody>
          </p:sp>
        </mc:Fallback>
      </mc:AlternateContent>
      <p:sp>
        <p:nvSpPr>
          <p:cNvPr id="16" name="Text 4">
            <a:extLst>
              <a:ext uri="{FF2B5EF4-FFF2-40B4-BE49-F238E27FC236}">
                <a16:creationId xmlns:a16="http://schemas.microsoft.com/office/drawing/2014/main" id="{D931041F-4111-BE9B-93F5-A3A871BBD09B}"/>
              </a:ext>
            </a:extLst>
          </p:cNvPr>
          <p:cNvSpPr/>
          <p:nvPr/>
        </p:nvSpPr>
        <p:spPr>
          <a:xfrm>
            <a:off x="1097279" y="1866968"/>
            <a:ext cx="6949440" cy="411480"/>
          </a:xfrm>
          <a:prstGeom prst="rect">
            <a:avLst/>
          </a:prstGeom>
          <a:noFill/>
          <a:ln/>
        </p:spPr>
        <p:txBody>
          <a:bodyPr wrap="square" lIns="0" tIns="0" rIns="0" bIns="0" rtlCol="0" anchor="ctr"/>
          <a:lstStyle/>
          <a:p>
            <a:pPr marL="0" indent="0" algn="ctr">
              <a:buNone/>
            </a:pPr>
            <a:r>
              <a:rPr lang="en-US" sz="1400" dirty="0">
                <a:solidFill>
                  <a:srgbClr val="90969E"/>
                </a:solidFill>
                <a:latin typeface="Calibri" pitchFamily="34" charset="0"/>
                <a:ea typeface="Calibri" pitchFamily="34" charset="-122"/>
                <a:cs typeface="Calibri" pitchFamily="34" charset="-120"/>
              </a:rPr>
              <a:t>The average number of bits needed to describe an outcome</a:t>
            </a:r>
            <a:endParaRPr lang="en-US" sz="1400" dirty="0"/>
          </a:p>
        </p:txBody>
      </p:sp>
      <p:sp>
        <p:nvSpPr>
          <p:cNvPr id="18" name="Text 0">
            <a:extLst>
              <a:ext uri="{FF2B5EF4-FFF2-40B4-BE49-F238E27FC236}">
                <a16:creationId xmlns:a16="http://schemas.microsoft.com/office/drawing/2014/main" id="{8531D085-C3A6-E7FB-D19E-7663B147EB8E}"/>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6D346C4A-F709-E841-A5EE-19E38F3FEE7B}"/>
                  </a:ext>
                </a:extLst>
              </p:cNvPr>
              <p:cNvSpPr txBox="1"/>
              <p:nvPr/>
            </p:nvSpPr>
            <p:spPr>
              <a:xfrm>
                <a:off x="3355328" y="3564820"/>
                <a:ext cx="2260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4">
                              <a:lumMod val="60000"/>
                              <a:lumOff val="40000"/>
                            </a:schemeClr>
                          </a:solidFill>
                          <a:latin typeface="Cambria Math" panose="02040503050406030204" pitchFamily="18" charset="0"/>
                          <a:ea typeface="Cambria Math" panose="02040503050406030204" pitchFamily="18" charset="0"/>
                        </a:rPr>
                        <m:t>=</m:t>
                      </m:r>
                    </m:oMath>
                  </m:oMathPara>
                </a14:m>
                <a:endParaRPr lang="en-US">
                  <a:solidFill>
                    <a:schemeClr val="accent4">
                      <a:lumMod val="60000"/>
                      <a:lumOff val="40000"/>
                    </a:schemeClr>
                  </a:solidFill>
                </a:endParaRPr>
              </a:p>
            </p:txBody>
          </p:sp>
        </mc:Choice>
        <mc:Fallback>
          <p:sp>
            <p:nvSpPr>
              <p:cNvPr id="21" name="TextBox 20">
                <a:extLst>
                  <a:ext uri="{FF2B5EF4-FFF2-40B4-BE49-F238E27FC236}">
                    <a16:creationId xmlns:a16="http://schemas.microsoft.com/office/drawing/2014/main" id="{6D346C4A-F709-E841-A5EE-19E38F3FEE7B}"/>
                  </a:ext>
                </a:extLst>
              </p:cNvPr>
              <p:cNvSpPr txBox="1">
                <a:spLocks noRot="1" noChangeAspect="1" noMove="1" noResize="1" noEditPoints="1" noAdjustHandles="1" noChangeArrowheads="1" noChangeShapeType="1" noTextEdit="1"/>
              </p:cNvSpPr>
              <p:nvPr/>
            </p:nvSpPr>
            <p:spPr>
              <a:xfrm>
                <a:off x="3355328" y="3564820"/>
                <a:ext cx="226024" cy="276999"/>
              </a:xfrm>
              <a:prstGeom prst="rect">
                <a:avLst/>
              </a:prstGeom>
              <a:blipFill>
                <a:blip r:embed="rId7"/>
                <a:stretch>
                  <a:fillRect l="-11111" r="-1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022434F-F68B-7FF4-A112-10551C1757D5}"/>
                  </a:ext>
                </a:extLst>
              </p:cNvPr>
              <p:cNvSpPr txBox="1"/>
              <p:nvPr/>
            </p:nvSpPr>
            <p:spPr>
              <a:xfrm>
                <a:off x="5784266" y="3564819"/>
                <a:ext cx="11862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4">
                              <a:lumMod val="60000"/>
                              <a:lumOff val="40000"/>
                            </a:schemeClr>
                          </a:solidFill>
                          <a:latin typeface="Cambria Math" panose="02040503050406030204" pitchFamily="18" charset="0"/>
                          <a:ea typeface="Cambria Math" panose="02040503050406030204" pitchFamily="18" charset="0"/>
                        </a:rPr>
                        <m:t>∙</m:t>
                      </m:r>
                    </m:oMath>
                  </m:oMathPara>
                </a14:m>
                <a:endParaRPr lang="en-US">
                  <a:solidFill>
                    <a:schemeClr val="accent4">
                      <a:lumMod val="60000"/>
                      <a:lumOff val="40000"/>
                    </a:schemeClr>
                  </a:solidFill>
                </a:endParaRPr>
              </a:p>
            </p:txBody>
          </p:sp>
        </mc:Choice>
        <mc:Fallback>
          <p:sp>
            <p:nvSpPr>
              <p:cNvPr id="22" name="TextBox 21">
                <a:extLst>
                  <a:ext uri="{FF2B5EF4-FFF2-40B4-BE49-F238E27FC236}">
                    <a16:creationId xmlns:a16="http://schemas.microsoft.com/office/drawing/2014/main" id="{3022434F-F68B-7FF4-A112-10551C1757D5}"/>
                  </a:ext>
                </a:extLst>
              </p:cNvPr>
              <p:cNvSpPr txBox="1">
                <a:spLocks noRot="1" noChangeAspect="1" noMove="1" noResize="1" noEditPoints="1" noAdjustHandles="1" noChangeArrowheads="1" noChangeShapeType="1" noTextEdit="1"/>
              </p:cNvSpPr>
              <p:nvPr/>
            </p:nvSpPr>
            <p:spPr>
              <a:xfrm>
                <a:off x="5784266" y="3564819"/>
                <a:ext cx="118622" cy="276999"/>
              </a:xfrm>
              <a:prstGeom prst="rect">
                <a:avLst/>
              </a:prstGeom>
              <a:blipFill>
                <a:blip r:embed="rId8"/>
                <a:stretch>
                  <a:fillRect l="-10000" r="-20000"/>
                </a:stretch>
              </a:blipFill>
            </p:spPr>
            <p:txBody>
              <a:bodyPr/>
              <a:lstStyle/>
              <a:p>
                <a:r>
                  <a:rPr lang="en-US">
                    <a:noFill/>
                  </a:rPr>
                  <a:t> </a:t>
                </a:r>
              </a:p>
            </p:txBody>
          </p:sp>
        </mc:Fallback>
      </mc:AlternateContent>
      <p:pic>
        <p:nvPicPr>
          <p:cNvPr id="14" name="Picture 13" descr="A pixelated key with a black background&#10;&#10;AI-generated content may be incorrect.">
            <a:extLst>
              <a:ext uri="{FF2B5EF4-FFF2-40B4-BE49-F238E27FC236}">
                <a16:creationId xmlns:a16="http://schemas.microsoft.com/office/drawing/2014/main" id="{B9D3758D-42E1-520A-65AF-610B45D15C89}"/>
              </a:ext>
            </a:extLst>
          </p:cNvPr>
          <p:cNvPicPr>
            <a:picLocks noChangeAspect="1"/>
          </p:cNvPicPr>
          <p:nvPr/>
        </p:nvPicPr>
        <p:blipFill>
          <a:blip r:embed="rId9"/>
          <a:stretch>
            <a:fillRect/>
          </a:stretch>
        </p:blipFill>
        <p:spPr>
          <a:xfrm>
            <a:off x="2426610" y="995309"/>
            <a:ext cx="4290779" cy="932779"/>
          </a:xfrm>
          <a:prstGeom prst="rect">
            <a:avLst/>
          </a:prstGeom>
        </p:spPr>
      </p:pic>
    </p:spTree>
    <p:extLst>
      <p:ext uri="{BB962C8B-B14F-4D97-AF65-F5344CB8AC3E}">
        <p14:creationId xmlns:p14="http://schemas.microsoft.com/office/powerpoint/2010/main" val="3102471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00471E0D-642B-77C2-8B4B-EB6667EED142}"/>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CC5B2263-1E20-288B-B9EA-4C7C11B0D0FB}"/>
              </a:ext>
            </a:extLst>
          </p:cNvPr>
          <p:cNvSpPr/>
          <p:nvPr/>
        </p:nvSpPr>
        <p:spPr>
          <a:xfrm>
            <a:off x="914400" y="914400"/>
            <a:ext cx="7315200" cy="1463040"/>
          </a:xfrm>
          <a:prstGeom prst="rect">
            <a:avLst/>
          </a:prstGeom>
          <a:solidFill>
            <a:srgbClr val="222731"/>
          </a:solidFill>
          <a:ln>
            <a:solidFill>
              <a:srgbClr val="888888"/>
            </a:solidFill>
          </a:ln>
          <a:effectLst/>
        </p:spPr>
        <p:txBody>
          <a:bodyPr/>
          <a:lstStyle/>
          <a:p>
            <a:endParaRPr lang="en-US"/>
          </a:p>
        </p:txBody>
      </p:sp>
      <p:sp>
        <p:nvSpPr>
          <p:cNvPr id="5" name="Shape 3">
            <a:extLst>
              <a:ext uri="{FF2B5EF4-FFF2-40B4-BE49-F238E27FC236}">
                <a16:creationId xmlns:a16="http://schemas.microsoft.com/office/drawing/2014/main" id="{2292ADE0-0520-102A-3172-A01D44D81C2C}"/>
              </a:ext>
            </a:extLst>
          </p:cNvPr>
          <p:cNvSpPr/>
          <p:nvPr/>
        </p:nvSpPr>
        <p:spPr>
          <a:xfrm>
            <a:off x="914400" y="3017520"/>
            <a:ext cx="7315200" cy="1417320"/>
          </a:xfrm>
          <a:prstGeom prst="rect">
            <a:avLst/>
          </a:prstGeom>
          <a:solidFill>
            <a:srgbClr val="222731"/>
          </a:solidFill>
          <a:ln/>
          <a:effectLst/>
        </p:spPr>
        <p:txBody>
          <a:bodyPr/>
          <a:lstStyle/>
          <a:p>
            <a:endParaRPr lang="en-US"/>
          </a:p>
        </p:txBody>
      </p:sp>
      <p:sp>
        <p:nvSpPr>
          <p:cNvPr id="16" name="Text 4">
            <a:extLst>
              <a:ext uri="{FF2B5EF4-FFF2-40B4-BE49-F238E27FC236}">
                <a16:creationId xmlns:a16="http://schemas.microsoft.com/office/drawing/2014/main" id="{0AC7DA52-2350-B0BE-9A5D-26602FC3352B}"/>
              </a:ext>
            </a:extLst>
          </p:cNvPr>
          <p:cNvSpPr/>
          <p:nvPr/>
        </p:nvSpPr>
        <p:spPr>
          <a:xfrm>
            <a:off x="1097279" y="1866968"/>
            <a:ext cx="6949440" cy="411480"/>
          </a:xfrm>
          <a:prstGeom prst="rect">
            <a:avLst/>
          </a:prstGeom>
          <a:noFill/>
          <a:ln/>
        </p:spPr>
        <p:txBody>
          <a:bodyPr wrap="square" lIns="0" tIns="0" rIns="0" bIns="0" rtlCol="0" anchor="ctr"/>
          <a:lstStyle/>
          <a:p>
            <a:pPr marL="0" indent="0" algn="ctr">
              <a:buNone/>
            </a:pPr>
            <a:r>
              <a:rPr lang="en-US" sz="1400">
                <a:solidFill>
                  <a:srgbClr val="90969E"/>
                </a:solidFill>
                <a:latin typeface="Calibri" pitchFamily="34" charset="0"/>
                <a:ea typeface="Calibri" pitchFamily="34" charset="-122"/>
                <a:cs typeface="Calibri" pitchFamily="34" charset="-120"/>
              </a:rPr>
              <a:t>The average number of bits needed to describe an outcome</a:t>
            </a:r>
            <a:endParaRPr lang="en-US" sz="1400"/>
          </a:p>
        </p:txBody>
      </p:sp>
      <p:sp>
        <p:nvSpPr>
          <p:cNvPr id="18" name="Text 0">
            <a:extLst>
              <a:ext uri="{FF2B5EF4-FFF2-40B4-BE49-F238E27FC236}">
                <a16:creationId xmlns:a16="http://schemas.microsoft.com/office/drawing/2014/main" id="{30C254AB-775F-140E-9539-8CA78485E70F}"/>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sp>
        <p:nvSpPr>
          <p:cNvPr id="19" name="Text 11">
            <a:extLst>
              <a:ext uri="{FF2B5EF4-FFF2-40B4-BE49-F238E27FC236}">
                <a16:creationId xmlns:a16="http://schemas.microsoft.com/office/drawing/2014/main" id="{C412A936-1AE8-1780-B0F6-AB0C651E7138}"/>
              </a:ext>
            </a:extLst>
          </p:cNvPr>
          <p:cNvSpPr/>
          <p:nvPr/>
        </p:nvSpPr>
        <p:spPr>
          <a:xfrm>
            <a:off x="2980305" y="3285351"/>
            <a:ext cx="3183388" cy="853372"/>
          </a:xfrm>
          <a:prstGeom prst="rect">
            <a:avLst/>
          </a:prstGeom>
          <a:noFill/>
          <a:ln/>
        </p:spPr>
        <p:txBody>
          <a:bodyPr wrap="square" lIns="0" tIns="0" rIns="0" bIns="0" rtlCol="0" anchor="ctr"/>
          <a:lstStyle/>
          <a:p>
            <a:pPr algn="ctr"/>
            <a:r>
              <a:rPr lang="en-US" sz="1400" i="1">
                <a:solidFill>
                  <a:srgbClr val="6FA08A"/>
                </a:solidFill>
                <a:latin typeface="Calibri" pitchFamily="34" charset="0"/>
                <a:ea typeface="Calibri" pitchFamily="34" charset="-122"/>
                <a:cs typeface="Calibri" pitchFamily="34" charset="-120"/>
              </a:rPr>
              <a:t>High</a:t>
            </a:r>
            <a:r>
              <a:rPr lang="en-US" sz="1400" i="1">
                <a:solidFill>
                  <a:srgbClr val="9AA0A8"/>
                </a:solidFill>
                <a:latin typeface="Calibri" pitchFamily="34" charset="0"/>
                <a:ea typeface="Calibri" pitchFamily="34" charset="-122"/>
                <a:cs typeface="Calibri" pitchFamily="34" charset="-120"/>
              </a:rPr>
              <a:t> entropy → </a:t>
            </a:r>
            <a:r>
              <a:rPr lang="en-US" sz="1400" i="1">
                <a:solidFill>
                  <a:srgbClr val="BE5E56"/>
                </a:solidFill>
                <a:latin typeface="Calibri" pitchFamily="34" charset="0"/>
                <a:ea typeface="Calibri" pitchFamily="34" charset="-122"/>
                <a:cs typeface="Calibri" pitchFamily="34" charset="-120"/>
              </a:rPr>
              <a:t>high uncertainty</a:t>
            </a:r>
          </a:p>
          <a:p>
            <a:pPr algn="ctr"/>
            <a:endParaRPr lang="en-US" sz="1400" i="1">
              <a:solidFill>
                <a:srgbClr val="BE5E56"/>
              </a:solidFill>
              <a:latin typeface="Calibri" pitchFamily="34" charset="0"/>
              <a:ea typeface="Calibri" pitchFamily="34" charset="-122"/>
              <a:cs typeface="Calibri" pitchFamily="34" charset="-120"/>
            </a:endParaRPr>
          </a:p>
          <a:p>
            <a:pPr algn="ctr"/>
            <a:r>
              <a:rPr lang="en-US" sz="1400" i="1">
                <a:solidFill>
                  <a:srgbClr val="BE5E56"/>
                </a:solidFill>
                <a:latin typeface="Calibri" pitchFamily="34" charset="0"/>
                <a:ea typeface="Calibri" pitchFamily="34" charset="-122"/>
                <a:cs typeface="Calibri" pitchFamily="34" charset="-120"/>
              </a:rPr>
              <a:t>Low</a:t>
            </a:r>
            <a:r>
              <a:rPr lang="en-US" sz="1400" i="1">
                <a:solidFill>
                  <a:srgbClr val="9AA0A8"/>
                </a:solidFill>
                <a:latin typeface="Calibri" pitchFamily="34" charset="0"/>
                <a:ea typeface="Calibri" pitchFamily="34" charset="-122"/>
                <a:cs typeface="Calibri" pitchFamily="34" charset="-120"/>
              </a:rPr>
              <a:t> entropy → </a:t>
            </a:r>
            <a:r>
              <a:rPr lang="en-US" sz="1400" i="1">
                <a:solidFill>
                  <a:srgbClr val="6FA08A"/>
                </a:solidFill>
                <a:latin typeface="Calibri" pitchFamily="34" charset="0"/>
                <a:ea typeface="Calibri" pitchFamily="34" charset="-122"/>
                <a:cs typeface="Calibri" pitchFamily="34" charset="-120"/>
              </a:rPr>
              <a:t>very predictable</a:t>
            </a:r>
            <a:endParaRPr lang="en-US" sz="1400">
              <a:solidFill>
                <a:srgbClr val="6FA08A"/>
              </a:solidFill>
            </a:endParaRPr>
          </a:p>
        </p:txBody>
      </p:sp>
      <p:sp>
        <p:nvSpPr>
          <p:cNvPr id="2" name="Text 5">
            <a:extLst>
              <a:ext uri="{FF2B5EF4-FFF2-40B4-BE49-F238E27FC236}">
                <a16:creationId xmlns:a16="http://schemas.microsoft.com/office/drawing/2014/main" id="{F68633C0-0566-5CA4-7DB4-34B5F2A11B14}"/>
              </a:ext>
            </a:extLst>
          </p:cNvPr>
          <p:cNvSpPr/>
          <p:nvPr/>
        </p:nvSpPr>
        <p:spPr>
          <a:xfrm rot="5400000">
            <a:off x="4251959" y="2331720"/>
            <a:ext cx="640080" cy="731520"/>
          </a:xfrm>
          <a:prstGeom prst="rect">
            <a:avLst/>
          </a:prstGeom>
          <a:noFill/>
          <a:ln>
            <a:noFill/>
          </a:ln>
        </p:spPr>
        <p:txBody>
          <a:bodyPr wrap="square" lIns="0" tIns="0" rIns="0" bIns="0" rtlCol="0" anchor="ctr"/>
          <a:lstStyle/>
          <a:p>
            <a:pPr marL="0" indent="0" algn="ctr">
              <a:buNone/>
            </a:pPr>
            <a:r>
              <a:rPr lang="en-US" sz="3600">
                <a:solidFill>
                  <a:schemeClr val="tx2">
                    <a:lumMod val="75000"/>
                  </a:schemeClr>
                </a:solidFill>
                <a:latin typeface="Consolas" pitchFamily="34" charset="0"/>
                <a:ea typeface="Consolas" pitchFamily="34" charset="-122"/>
                <a:cs typeface="Consolas" pitchFamily="34" charset="-120"/>
              </a:rPr>
              <a:t>→</a:t>
            </a:r>
            <a:endParaRPr lang="en-US" sz="3600">
              <a:solidFill>
                <a:schemeClr val="tx2">
                  <a:lumMod val="75000"/>
                </a:schemeClr>
              </a:solidFill>
            </a:endParaRP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5C735051-0E8A-B847-44E7-446A4DCECC7C}"/>
                  </a:ext>
                </a:extLst>
              </p:cNvPr>
              <p:cNvSpPr txBox="1"/>
              <p:nvPr/>
            </p:nvSpPr>
            <p:spPr>
              <a:xfrm>
                <a:off x="2750164" y="1198810"/>
                <a:ext cx="3983911" cy="8942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𝐻</m:t>
                      </m:r>
                      <m:d>
                        <m:dPr>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dPr>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𝑋</m:t>
                          </m:r>
                        </m:e>
                      </m:d>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nary>
                        <m:naryPr>
                          <m:chr m:val="∑"/>
                          <m:subHide m:val="on"/>
                          <m:supHide m:val="on"/>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naryPr>
                        <m:sub/>
                        <m:sup/>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𝑝</m:t>
                          </m:r>
                          <m:d>
                            <m:dPr>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dPr>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𝑥</m:t>
                              </m:r>
                            </m:e>
                          </m:d>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sSub>
                            <m:sSubPr>
                              <m:ctrlP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ctrlPr>
                            </m:sSubPr>
                            <m:e>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𝑙𝑜𝑔</m:t>
                              </m:r>
                            </m:e>
                            <m:sub>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2</m:t>
                              </m:r>
                            </m:sub>
                          </m:sSub>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 </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𝑝</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𝑥</m:t>
                          </m:r>
                          <m:r>
                            <a:rPr lang="en-US" sz="2400" b="0" i="1" smtClean="0">
                              <a:solidFill>
                                <a:schemeClr val="accent4">
                                  <a:lumMod val="60000"/>
                                  <a:lumOff val="40000"/>
                                </a:schemeClr>
                              </a:solidFill>
                              <a:latin typeface="Cambria Math" panose="02040503050406030204" pitchFamily="18" charset="0"/>
                              <a:ea typeface="Cambria Math" panose="02040503050406030204" pitchFamily="18" charset="0"/>
                            </a:rPr>
                            <m:t>)</m:t>
                          </m:r>
                        </m:e>
                      </m:nary>
                    </m:oMath>
                  </m:oMathPara>
                </a14:m>
                <a:endParaRPr lang="en-US" sz="2400" dirty="0">
                  <a:solidFill>
                    <a:schemeClr val="accent4">
                      <a:lumMod val="60000"/>
                      <a:lumOff val="40000"/>
                    </a:schemeClr>
                  </a:solidFill>
                </a:endParaRPr>
              </a:p>
            </p:txBody>
          </p:sp>
        </mc:Choice>
        <mc:Fallback>
          <p:sp>
            <p:nvSpPr>
              <p:cNvPr id="4" name="TextBox 3">
                <a:extLst>
                  <a:ext uri="{FF2B5EF4-FFF2-40B4-BE49-F238E27FC236}">
                    <a16:creationId xmlns:a16="http://schemas.microsoft.com/office/drawing/2014/main" id="{5C735051-0E8A-B847-44E7-446A4DCECC7C}"/>
                  </a:ext>
                </a:extLst>
              </p:cNvPr>
              <p:cNvSpPr txBox="1">
                <a:spLocks noRot="1" noChangeAspect="1" noMove="1" noResize="1" noEditPoints="1" noAdjustHandles="1" noChangeArrowheads="1" noChangeShapeType="1" noTextEdit="1"/>
              </p:cNvSpPr>
              <p:nvPr/>
            </p:nvSpPr>
            <p:spPr>
              <a:xfrm>
                <a:off x="2750164" y="1198810"/>
                <a:ext cx="3983911" cy="894219"/>
              </a:xfrm>
              <a:prstGeom prst="rect">
                <a:avLst/>
              </a:prstGeom>
              <a:blipFill>
                <a:blip r:embed="rId3"/>
                <a:stretch>
                  <a:fillRect l="-1270" t="-149296" r="-2222" b="-205634"/>
                </a:stretch>
              </a:blipFill>
            </p:spPr>
            <p:txBody>
              <a:bodyPr/>
              <a:lstStyle/>
              <a:p>
                <a:r>
                  <a:rPr lang="en-US">
                    <a:noFill/>
                  </a:rPr>
                  <a:t> </a:t>
                </a:r>
              </a:p>
            </p:txBody>
          </p:sp>
        </mc:Fallback>
      </mc:AlternateContent>
    </p:spTree>
    <p:extLst>
      <p:ext uri="{BB962C8B-B14F-4D97-AF65-F5344CB8AC3E}">
        <p14:creationId xmlns:p14="http://schemas.microsoft.com/office/powerpoint/2010/main" val="573160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
    <p:bg>
      <p:bgPr>
        <a:solidFill>
          <a:srgbClr val="1A1F2A"/>
        </a:solidFill>
        <a:effectLst/>
      </p:bgPr>
    </p:bg>
    <p:spTree>
      <p:nvGrpSpPr>
        <p:cNvPr id="1" name=""/>
        <p:cNvGrpSpPr/>
        <p:nvPr/>
      </p:nvGrpSpPr>
      <p:grpSpPr>
        <a:xfrm>
          <a:off x="0" y="0"/>
          <a:ext cx="0" cy="0"/>
          <a:chOff x="0" y="0"/>
          <a:chExt cx="0" cy="0"/>
        </a:xfrm>
      </p:grpSpPr>
      <p:graphicFrame>
        <p:nvGraphicFramePr>
          <p:cNvPr id="3" name="Chart 0"/>
          <p:cNvGraphicFramePr/>
          <p:nvPr/>
        </p:nvGraphicFramePr>
        <p:xfrm>
          <a:off x="548640" y="1097280"/>
          <a:ext cx="80467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548640" y="4572000"/>
            <a:ext cx="8229600" cy="365760"/>
          </a:xfrm>
          <a:prstGeom prst="rect">
            <a:avLst/>
          </a:prstGeom>
          <a:noFill/>
          <a:ln/>
        </p:spPr>
        <p:txBody>
          <a:bodyPr wrap="square" lIns="0" tIns="0" rIns="0" bIns="0" rtlCol="0" anchor="ctr"/>
          <a:lstStyle/>
          <a:p>
            <a:pPr marL="0" indent="0">
              <a:buNone/>
            </a:pPr>
            <a:r>
              <a:rPr lang="en-US" sz="1300" i="1">
                <a:solidFill>
                  <a:srgbClr val="9AA0A8"/>
                </a:solidFill>
                <a:latin typeface="Calibri" pitchFamily="34" charset="0"/>
                <a:ea typeface="Calibri" pitchFamily="34" charset="-122"/>
                <a:cs typeface="Calibri" pitchFamily="34" charset="-120"/>
              </a:rPr>
              <a:t>More randomness → more entropy → more information per symbol</a:t>
            </a:r>
            <a:endParaRPr lang="en-US" sz="1300"/>
          </a:p>
        </p:txBody>
      </p:sp>
      <p:sp>
        <p:nvSpPr>
          <p:cNvPr id="6" name="Text 0">
            <a:extLst>
              <a:ext uri="{FF2B5EF4-FFF2-40B4-BE49-F238E27FC236}">
                <a16:creationId xmlns:a16="http://schemas.microsoft.com/office/drawing/2014/main" id="{2CC14ACC-118B-D950-F392-8F238D1BA58C}"/>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pic>
        <p:nvPicPr>
          <p:cNvPr id="7" name="Copied Picture 7" descr="A person drawing a graph&#10;&#10;AI-generated content may be incorrect.">
            <a:extLst>
              <a:ext uri="{FF2B5EF4-FFF2-40B4-BE49-F238E27FC236}">
                <a16:creationId xmlns:a16="http://schemas.microsoft.com/office/drawing/2014/main" id="{B0C90857-94D7-046B-77AD-A1CC106FD841}"/>
              </a:ext>
            </a:extLst>
          </p:cNvPr>
          <p:cNvPicPr>
            <a:picLocks noChangeAspect="1"/>
          </p:cNvPicPr>
          <p:nvPr/>
        </p:nvPicPr>
        <p:blipFill>
          <a:blip r:embed="rId4"/>
          <a:stretch>
            <a:fillRect/>
          </a:stretch>
        </p:blipFill>
        <p:spPr>
          <a:xfrm>
            <a:off x="7569200" y="228600"/>
            <a:ext cx="1181100" cy="812800"/>
          </a:xfrm>
          <a:prstGeom prst="rect">
            <a:avLst/>
          </a:prstGeom>
        </p:spPr>
      </p:pic>
      <p:sp>
        <p:nvSpPr>
          <p:cNvPr id="2" name="TextBox 1">
            <a:extLst>
              <a:ext uri="{FF2B5EF4-FFF2-40B4-BE49-F238E27FC236}">
                <a16:creationId xmlns:a16="http://schemas.microsoft.com/office/drawing/2014/main" id="{9E1E4201-4A9A-D940-80AF-170A1CD7A4F5}"/>
              </a:ext>
            </a:extLst>
          </p:cNvPr>
          <p:cNvSpPr txBox="1"/>
          <p:nvPr/>
        </p:nvSpPr>
        <p:spPr>
          <a:xfrm>
            <a:off x="3810000" y="431800"/>
            <a:ext cx="3632200" cy="3302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one random bit leads to another</a:t>
            </a:r>
          </a:p>
        </p:txBody>
      </p:sp>
    </p:spTree>
    <p:extLst>
      <p:ext uri="{BB962C8B-B14F-4D97-AF65-F5344CB8AC3E}">
        <p14:creationId xmlns:p14="http://schemas.microsoft.com/office/powerpoint/2010/main" val="4206969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DE7B8994-00CC-8033-13AA-BC96120EA3F9}"/>
            </a:ext>
          </a:extLst>
        </p:cNvPr>
        <p:cNvGrpSpPr/>
        <p:nvPr/>
      </p:nvGrpSpPr>
      <p:grpSpPr>
        <a:xfrm>
          <a:off x="0" y="0"/>
          <a:ext cx="0" cy="0"/>
          <a:chOff x="0" y="0"/>
          <a:chExt cx="0" cy="0"/>
        </a:xfrm>
      </p:grpSpPr>
      <p:graphicFrame>
        <p:nvGraphicFramePr>
          <p:cNvPr id="3" name="Chart 0">
            <a:extLst>
              <a:ext uri="{FF2B5EF4-FFF2-40B4-BE49-F238E27FC236}">
                <a16:creationId xmlns:a16="http://schemas.microsoft.com/office/drawing/2014/main" id="{FF056B73-8159-F4BE-12ED-059804BACFEF}"/>
              </a:ext>
            </a:extLst>
          </p:cNvPr>
          <p:cNvGraphicFramePr/>
          <p:nvPr/>
        </p:nvGraphicFramePr>
        <p:xfrm>
          <a:off x="548640" y="1097280"/>
          <a:ext cx="80467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a:extLst>
              <a:ext uri="{FF2B5EF4-FFF2-40B4-BE49-F238E27FC236}">
                <a16:creationId xmlns:a16="http://schemas.microsoft.com/office/drawing/2014/main" id="{8636D5EC-D3CD-4CFC-FC90-E4DE1111487D}"/>
              </a:ext>
            </a:extLst>
          </p:cNvPr>
          <p:cNvSpPr/>
          <p:nvPr/>
        </p:nvSpPr>
        <p:spPr>
          <a:xfrm>
            <a:off x="548640" y="4572000"/>
            <a:ext cx="8229600" cy="365760"/>
          </a:xfrm>
          <a:prstGeom prst="rect">
            <a:avLst/>
          </a:prstGeom>
          <a:noFill/>
          <a:ln/>
        </p:spPr>
        <p:txBody>
          <a:bodyPr wrap="square" lIns="0" tIns="0" rIns="0" bIns="0" rtlCol="0" anchor="ctr"/>
          <a:lstStyle/>
          <a:p>
            <a:pPr marL="0" indent="0">
              <a:buNone/>
            </a:pPr>
            <a:r>
              <a:rPr lang="en-US" sz="1300" i="1">
                <a:solidFill>
                  <a:srgbClr val="9AA0A8"/>
                </a:solidFill>
                <a:latin typeface="Calibri" pitchFamily="34" charset="0"/>
                <a:ea typeface="Calibri" pitchFamily="34" charset="-122"/>
                <a:cs typeface="Calibri" pitchFamily="34" charset="-120"/>
              </a:rPr>
              <a:t>More randomness → more entropy → more information per symbol</a:t>
            </a:r>
            <a:endParaRPr lang="en-US" sz="1300"/>
          </a:p>
        </p:txBody>
      </p:sp>
      <p:sp>
        <p:nvSpPr>
          <p:cNvPr id="6" name="Text 0">
            <a:extLst>
              <a:ext uri="{FF2B5EF4-FFF2-40B4-BE49-F238E27FC236}">
                <a16:creationId xmlns:a16="http://schemas.microsoft.com/office/drawing/2014/main" id="{A6BF552F-B4D5-D94F-A5EC-6C87FE01EA2E}"/>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pic>
        <p:nvPicPr>
          <p:cNvPr id="7" name="Copied Picture 7" descr="A child standing in front of a fire&#10;&#10;AI-generated content may be incorrect.">
            <a:extLst>
              <a:ext uri="{FF2B5EF4-FFF2-40B4-BE49-F238E27FC236}">
                <a16:creationId xmlns:a16="http://schemas.microsoft.com/office/drawing/2014/main" id="{2D5C2358-4B93-4346-2155-5244573586AA}"/>
              </a:ext>
            </a:extLst>
          </p:cNvPr>
          <p:cNvPicPr>
            <a:picLocks noChangeAspect="1"/>
          </p:cNvPicPr>
          <p:nvPr/>
        </p:nvPicPr>
        <p:blipFill>
          <a:blip r:embed="rId4"/>
          <a:stretch>
            <a:fillRect/>
          </a:stretch>
        </p:blipFill>
        <p:spPr>
          <a:xfrm>
            <a:off x="7899400" y="228600"/>
            <a:ext cx="838200" cy="812800"/>
          </a:xfrm>
          <a:prstGeom prst="rect">
            <a:avLst/>
          </a:prstGeom>
        </p:spPr>
      </p:pic>
      <p:sp>
        <p:nvSpPr>
          <p:cNvPr id="2" name="TextBox 1">
            <a:extLst>
              <a:ext uri="{FF2B5EF4-FFF2-40B4-BE49-F238E27FC236}">
                <a16:creationId xmlns:a16="http://schemas.microsoft.com/office/drawing/2014/main" id="{052C9694-E498-854F-B409-E2D8F2206AED}"/>
              </a:ext>
            </a:extLst>
          </p:cNvPr>
          <p:cNvSpPr txBox="1"/>
          <p:nvPr/>
        </p:nvSpPr>
        <p:spPr>
          <a:xfrm>
            <a:off x="3962400" y="431800"/>
            <a:ext cx="3759200" cy="3302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me, adding entropy to the system</a:t>
            </a:r>
          </a:p>
        </p:txBody>
      </p:sp>
    </p:spTree>
    <p:extLst>
      <p:ext uri="{BB962C8B-B14F-4D97-AF65-F5344CB8AC3E}">
        <p14:creationId xmlns:p14="http://schemas.microsoft.com/office/powerpoint/2010/main" val="1895441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974473A4-0342-54BA-CDDC-5F34DEC4CF74}"/>
            </a:ext>
          </a:extLst>
        </p:cNvPr>
        <p:cNvGrpSpPr/>
        <p:nvPr/>
      </p:nvGrpSpPr>
      <p:grpSpPr>
        <a:xfrm>
          <a:off x="0" y="0"/>
          <a:ext cx="0" cy="0"/>
          <a:chOff x="0" y="0"/>
          <a:chExt cx="0" cy="0"/>
        </a:xfrm>
      </p:grpSpPr>
      <p:graphicFrame>
        <p:nvGraphicFramePr>
          <p:cNvPr id="3" name="Chart 0">
            <a:extLst>
              <a:ext uri="{FF2B5EF4-FFF2-40B4-BE49-F238E27FC236}">
                <a16:creationId xmlns:a16="http://schemas.microsoft.com/office/drawing/2014/main" id="{FD7AA3DC-ABC2-12BB-7B25-901029E91D87}"/>
              </a:ext>
            </a:extLst>
          </p:cNvPr>
          <p:cNvGraphicFramePr/>
          <p:nvPr/>
        </p:nvGraphicFramePr>
        <p:xfrm>
          <a:off x="548640" y="1097280"/>
          <a:ext cx="80467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a:extLst>
              <a:ext uri="{FF2B5EF4-FFF2-40B4-BE49-F238E27FC236}">
                <a16:creationId xmlns:a16="http://schemas.microsoft.com/office/drawing/2014/main" id="{E4B5B4F8-04C2-AC9A-5043-0CFBD405A1F2}"/>
              </a:ext>
            </a:extLst>
          </p:cNvPr>
          <p:cNvSpPr/>
          <p:nvPr/>
        </p:nvSpPr>
        <p:spPr>
          <a:xfrm>
            <a:off x="548640" y="4572000"/>
            <a:ext cx="8229600" cy="365760"/>
          </a:xfrm>
          <a:prstGeom prst="rect">
            <a:avLst/>
          </a:prstGeom>
          <a:noFill/>
          <a:ln/>
        </p:spPr>
        <p:txBody>
          <a:bodyPr wrap="square" lIns="0" tIns="0" rIns="0" bIns="0" rtlCol="0" anchor="ctr"/>
          <a:lstStyle/>
          <a:p>
            <a:pPr marL="0" indent="0">
              <a:buNone/>
            </a:pPr>
            <a:r>
              <a:rPr lang="en-US" sz="1300" i="1">
                <a:solidFill>
                  <a:srgbClr val="9AA0A8"/>
                </a:solidFill>
                <a:latin typeface="Calibri" pitchFamily="34" charset="0"/>
                <a:ea typeface="Calibri" pitchFamily="34" charset="-122"/>
                <a:cs typeface="Calibri" pitchFamily="34" charset="-120"/>
              </a:rPr>
              <a:t>More randomness → more entropy → more information per symbol</a:t>
            </a:r>
            <a:endParaRPr lang="en-US" sz="1300"/>
          </a:p>
        </p:txBody>
      </p:sp>
      <p:sp>
        <p:nvSpPr>
          <p:cNvPr id="6" name="Text 0">
            <a:extLst>
              <a:ext uri="{FF2B5EF4-FFF2-40B4-BE49-F238E27FC236}">
                <a16:creationId xmlns:a16="http://schemas.microsoft.com/office/drawing/2014/main" id="{64AC65DA-602E-7361-1114-B1A15B236138}"/>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INFORMATION ENTROPY</a:t>
            </a:r>
          </a:p>
        </p:txBody>
      </p:sp>
      <p:pic>
        <p:nvPicPr>
          <p:cNvPr id="7" name="Copied Picture 7" descr="Cartoon yellow cartoon character with red cheeks&#10;&#10;AI-generated content may be incorrect.">
            <a:extLst>
              <a:ext uri="{FF2B5EF4-FFF2-40B4-BE49-F238E27FC236}">
                <a16:creationId xmlns:a16="http://schemas.microsoft.com/office/drawing/2014/main" id="{62F1AA7B-9390-8ADB-02E3-282EDBB72A77}"/>
              </a:ext>
            </a:extLst>
          </p:cNvPr>
          <p:cNvPicPr>
            <a:picLocks noChangeAspect="1"/>
          </p:cNvPicPr>
          <p:nvPr/>
        </p:nvPicPr>
        <p:blipFill>
          <a:blip r:embed="rId4"/>
          <a:stretch>
            <a:fillRect/>
          </a:stretch>
        </p:blipFill>
        <p:spPr>
          <a:xfrm>
            <a:off x="7899400" y="228600"/>
            <a:ext cx="838200" cy="812800"/>
          </a:xfrm>
          <a:prstGeom prst="rect">
            <a:avLst/>
          </a:prstGeom>
        </p:spPr>
      </p:pic>
      <p:sp>
        <p:nvSpPr>
          <p:cNvPr id="2" name="TextBox 1">
            <a:extLst>
              <a:ext uri="{FF2B5EF4-FFF2-40B4-BE49-F238E27FC236}">
                <a16:creationId xmlns:a16="http://schemas.microsoft.com/office/drawing/2014/main" id="{65A8A396-E490-AC40-9C09-D047B264716B}"/>
              </a:ext>
            </a:extLst>
          </p:cNvPr>
          <p:cNvSpPr txBox="1"/>
          <p:nvPr/>
        </p:nvSpPr>
        <p:spPr>
          <a:xfrm>
            <a:off x="3962400" y="431800"/>
            <a:ext cx="3759200" cy="3302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*surprised at maximum surprise*</a:t>
            </a:r>
          </a:p>
        </p:txBody>
      </p:sp>
    </p:spTree>
    <p:extLst>
      <p:ext uri="{BB962C8B-B14F-4D97-AF65-F5344CB8AC3E}">
        <p14:creationId xmlns:p14="http://schemas.microsoft.com/office/powerpoint/2010/main" val="30488345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41F"/>
        </a:solidFill>
        <a:effectLst/>
      </p:bgPr>
    </p:bg>
    <p:spTree>
      <p:nvGrpSpPr>
        <p:cNvPr id="1" name=""/>
        <p:cNvGrpSpPr/>
        <p:nvPr/>
      </p:nvGrpSpPr>
      <p:grpSpPr>
        <a:xfrm>
          <a:off x="0" y="0"/>
          <a:ext cx="0" cy="0"/>
          <a:chOff x="0" y="0"/>
          <a:chExt cx="0" cy="0"/>
        </a:xfrm>
      </p:grpSpPr>
      <p:sp>
        <p:nvSpPr>
          <p:cNvPr id="4" name="Text 1"/>
          <p:cNvSpPr/>
          <p:nvPr/>
        </p:nvSpPr>
        <p:spPr>
          <a:xfrm>
            <a:off x="548640" y="1371600"/>
            <a:ext cx="3657600" cy="365760"/>
          </a:xfrm>
          <a:prstGeom prst="rect">
            <a:avLst/>
          </a:prstGeom>
          <a:noFill/>
          <a:ln/>
        </p:spPr>
        <p:txBody>
          <a:bodyPr wrap="square" lIns="0" tIns="0" rIns="0" bIns="0" rtlCol="0" anchor="ctr"/>
          <a:lstStyle/>
          <a:p>
            <a:pPr marL="0" indent="0">
              <a:buNone/>
            </a:pPr>
            <a:r>
              <a:rPr lang="en-US" sz="1400" b="1" kern="0" spc="600">
                <a:solidFill>
                  <a:srgbClr val="00D4AA"/>
                </a:solidFill>
                <a:latin typeface="Calibri" pitchFamily="34" charset="0"/>
                <a:ea typeface="Calibri" pitchFamily="34" charset="-122"/>
                <a:cs typeface="Calibri" pitchFamily="34" charset="-120"/>
              </a:rPr>
              <a:t>PART 2</a:t>
            </a:r>
            <a:endParaRPr lang="en-US" sz="1400"/>
          </a:p>
        </p:txBody>
      </p:sp>
      <p:sp>
        <p:nvSpPr>
          <p:cNvPr id="5" name="Text 2"/>
          <p:cNvSpPr/>
          <p:nvPr/>
        </p:nvSpPr>
        <p:spPr>
          <a:xfrm>
            <a:off x="548640" y="1828800"/>
            <a:ext cx="7315200" cy="1097280"/>
          </a:xfrm>
          <a:prstGeom prst="rect">
            <a:avLst/>
          </a:prstGeom>
          <a:noFill/>
          <a:ln/>
        </p:spPr>
        <p:txBody>
          <a:bodyPr wrap="square" lIns="0" tIns="0" rIns="0" bIns="0" rtlCol="0" anchor="ctr"/>
          <a:lstStyle/>
          <a:p>
            <a:pPr marL="0" indent="0">
              <a:buNone/>
            </a:pPr>
            <a:r>
              <a:rPr lang="en-US" sz="5200" b="1">
                <a:solidFill>
                  <a:srgbClr val="F1F0EA"/>
                </a:solidFill>
                <a:latin typeface="Georgia" pitchFamily="34" charset="0"/>
                <a:ea typeface="Georgia" pitchFamily="34" charset="-122"/>
                <a:cs typeface="Georgia" pitchFamily="34" charset="-120"/>
              </a:rPr>
              <a:t>Compression</a:t>
            </a:r>
            <a:endParaRPr lang="en-US" sz="5200"/>
          </a:p>
        </p:txBody>
      </p:sp>
      <p:sp>
        <p:nvSpPr>
          <p:cNvPr id="6" name="Text 3"/>
          <p:cNvSpPr/>
          <p:nvPr/>
        </p:nvSpPr>
        <p:spPr>
          <a:xfrm>
            <a:off x="548640" y="2926080"/>
            <a:ext cx="7315200" cy="914400"/>
          </a:xfrm>
          <a:prstGeom prst="rect">
            <a:avLst/>
          </a:prstGeom>
          <a:noFill/>
          <a:ln/>
        </p:spPr>
        <p:txBody>
          <a:bodyPr wrap="square" lIns="0" tIns="0" rIns="0" bIns="0" rtlCol="0" anchor="ctr"/>
          <a:lstStyle/>
          <a:p>
            <a:pPr marL="0" indent="0">
              <a:lnSpc>
                <a:spcPct val="130000"/>
              </a:lnSpc>
              <a:buNone/>
            </a:pPr>
            <a:r>
              <a:rPr lang="en-US" sz="2200">
                <a:solidFill>
                  <a:srgbClr val="90969E"/>
                </a:solidFill>
                <a:latin typeface="Calibri" pitchFamily="34" charset="0"/>
                <a:ea typeface="Calibri" pitchFamily="34" charset="-122"/>
                <a:cs typeface="Calibri" pitchFamily="34" charset="-120"/>
              </a:rPr>
              <a:t>Prediction and compression are</a:t>
            </a:r>
            <a:endParaRPr lang="en-US" sz="2200"/>
          </a:p>
          <a:p>
            <a:pPr marL="0" indent="0">
              <a:lnSpc>
                <a:spcPct val="130000"/>
              </a:lnSpc>
              <a:buNone/>
            </a:pPr>
            <a:r>
              <a:rPr lang="en-US" sz="2200">
                <a:solidFill>
                  <a:srgbClr val="90969E"/>
                </a:solidFill>
                <a:latin typeface="Calibri" pitchFamily="34" charset="0"/>
                <a:ea typeface="Calibri" pitchFamily="34" charset="-122"/>
                <a:cs typeface="Calibri" pitchFamily="34" charset="-120"/>
              </a:rPr>
              <a:t>the same thing</a:t>
            </a:r>
            <a:endParaRPr lang="en-US" sz="2200"/>
          </a:p>
        </p:txBody>
      </p:sp>
    </p:spTree>
    <p:extLst>
      <p:ext uri="{BB962C8B-B14F-4D97-AF65-F5344CB8AC3E}">
        <p14:creationId xmlns:p14="http://schemas.microsoft.com/office/powerpoint/2010/main" val="22226863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5">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1188720"/>
            <a:ext cx="3840480" cy="1828800"/>
          </a:xfrm>
          <a:prstGeom prst="rect">
            <a:avLst/>
          </a:prstGeom>
          <a:solidFill>
            <a:srgbClr val="222731"/>
          </a:solidFill>
          <a:ln/>
          <a:effectLst/>
        </p:spPr>
        <p:txBody>
          <a:bodyPr/>
          <a:lstStyle/>
          <a:p>
            <a:endParaRPr lang="en-US"/>
          </a:p>
        </p:txBody>
      </p:sp>
      <p:sp>
        <p:nvSpPr>
          <p:cNvPr id="4" name="Text 2"/>
          <p:cNvSpPr/>
          <p:nvPr/>
        </p:nvSpPr>
        <p:spPr>
          <a:xfrm>
            <a:off x="548640" y="1325880"/>
            <a:ext cx="3840480" cy="731520"/>
          </a:xfrm>
          <a:prstGeom prst="rect">
            <a:avLst/>
          </a:prstGeom>
          <a:noFill/>
          <a:ln/>
        </p:spPr>
        <p:txBody>
          <a:bodyPr wrap="square" lIns="0" tIns="0" rIns="0" bIns="0" rtlCol="0" anchor="ctr"/>
          <a:lstStyle/>
          <a:p>
            <a:pPr marL="0" indent="0" algn="ctr">
              <a:buNone/>
            </a:pPr>
            <a:r>
              <a:rPr lang="en-US" sz="3200" dirty="0">
                <a:solidFill>
                  <a:srgbClr val="C75D5D"/>
                </a:solidFill>
                <a:latin typeface="Consolas" pitchFamily="34" charset="0"/>
                <a:ea typeface="Consolas" pitchFamily="34" charset="-122"/>
                <a:cs typeface="Consolas" pitchFamily="34" charset="-120"/>
              </a:rPr>
              <a:t>AAAAAABBBCC</a:t>
            </a:r>
            <a:endParaRPr lang="en-US" sz="3200" dirty="0"/>
          </a:p>
        </p:txBody>
      </p:sp>
      <p:sp>
        <p:nvSpPr>
          <p:cNvPr id="5" name="Text 3"/>
          <p:cNvSpPr/>
          <p:nvPr/>
        </p:nvSpPr>
        <p:spPr>
          <a:xfrm>
            <a:off x="548640" y="2103120"/>
            <a:ext cx="3840480" cy="457200"/>
          </a:xfrm>
          <a:prstGeom prst="rect">
            <a:avLst/>
          </a:prstGeom>
          <a:noFill/>
          <a:ln/>
        </p:spPr>
        <p:txBody>
          <a:bodyPr wrap="square" lIns="0" tIns="0" rIns="0" bIns="0" rtlCol="0" anchor="ctr"/>
          <a:lstStyle/>
          <a:p>
            <a:pPr marL="0" indent="0" algn="ctr">
              <a:buNone/>
            </a:pPr>
            <a:r>
              <a:rPr lang="en-US" sz="1400">
                <a:solidFill>
                  <a:srgbClr val="D8D6CE"/>
                </a:solidFill>
                <a:latin typeface="Calibri" pitchFamily="34" charset="0"/>
                <a:ea typeface="Calibri" pitchFamily="34" charset="-122"/>
                <a:cs typeface="Calibri" pitchFamily="34" charset="-120"/>
              </a:rPr>
              <a:t>11 characters  ·  88 bits</a:t>
            </a:r>
            <a:endParaRPr lang="en-US" sz="1400"/>
          </a:p>
        </p:txBody>
      </p:sp>
      <p:sp>
        <p:nvSpPr>
          <p:cNvPr id="6" name="Text 4"/>
          <p:cNvSpPr/>
          <p:nvPr/>
        </p:nvSpPr>
        <p:spPr>
          <a:xfrm>
            <a:off x="548640" y="2606040"/>
            <a:ext cx="3840480" cy="320040"/>
          </a:xfrm>
          <a:prstGeom prst="rect">
            <a:avLst/>
          </a:prstGeom>
          <a:noFill/>
          <a:ln/>
        </p:spPr>
        <p:txBody>
          <a:bodyPr wrap="square" lIns="0" tIns="0" rIns="0" bIns="0" rtlCol="0" anchor="ctr"/>
          <a:lstStyle/>
          <a:p>
            <a:pPr marL="0" indent="0" algn="ctr">
              <a:buNone/>
            </a:pPr>
            <a:r>
              <a:rPr lang="en-US" sz="1200">
                <a:solidFill>
                  <a:srgbClr val="9AA0A8"/>
                </a:solidFill>
                <a:latin typeface="Calibri" pitchFamily="34" charset="0"/>
                <a:ea typeface="Calibri" pitchFamily="34" charset="-122"/>
                <a:cs typeface="Calibri" pitchFamily="34" charset="-120"/>
              </a:rPr>
              <a:t>Raw</a:t>
            </a:r>
            <a:endParaRPr lang="en-US" sz="1200"/>
          </a:p>
        </p:txBody>
      </p:sp>
      <p:sp>
        <p:nvSpPr>
          <p:cNvPr id="7" name="Text 5"/>
          <p:cNvSpPr/>
          <p:nvPr/>
        </p:nvSpPr>
        <p:spPr>
          <a:xfrm>
            <a:off x="4206240" y="1645920"/>
            <a:ext cx="731520" cy="731520"/>
          </a:xfrm>
          <a:prstGeom prst="rect">
            <a:avLst/>
          </a:prstGeom>
          <a:noFill/>
          <a:ln/>
        </p:spPr>
        <p:txBody>
          <a:bodyPr wrap="square" lIns="0" tIns="0" rIns="0" bIns="0" rtlCol="0" anchor="ctr"/>
          <a:lstStyle/>
          <a:p>
            <a:pPr marL="0" indent="0" algn="ctr">
              <a:buNone/>
            </a:pPr>
            <a:r>
              <a:rPr lang="en-US" sz="3600">
                <a:solidFill>
                  <a:srgbClr val="E0A458"/>
                </a:solidFill>
                <a:latin typeface="Consolas" pitchFamily="34" charset="0"/>
                <a:ea typeface="Consolas" pitchFamily="34" charset="-122"/>
                <a:cs typeface="Consolas" pitchFamily="34" charset="-120"/>
              </a:rPr>
              <a:t>→</a:t>
            </a:r>
            <a:endParaRPr lang="en-US" sz="3600"/>
          </a:p>
        </p:txBody>
      </p:sp>
      <p:sp>
        <p:nvSpPr>
          <p:cNvPr id="8" name="Shape 6"/>
          <p:cNvSpPr/>
          <p:nvPr/>
        </p:nvSpPr>
        <p:spPr>
          <a:xfrm>
            <a:off x="4754880" y="1188720"/>
            <a:ext cx="3840480" cy="1828800"/>
          </a:xfrm>
          <a:prstGeom prst="rect">
            <a:avLst/>
          </a:prstGeom>
          <a:solidFill>
            <a:srgbClr val="222731"/>
          </a:solidFill>
          <a:ln/>
          <a:effectLst/>
        </p:spPr>
        <p:txBody>
          <a:bodyPr/>
          <a:lstStyle/>
          <a:p>
            <a:endParaRPr lang="en-US"/>
          </a:p>
        </p:txBody>
      </p:sp>
      <p:sp>
        <p:nvSpPr>
          <p:cNvPr id="9" name="Text 7"/>
          <p:cNvSpPr/>
          <p:nvPr/>
        </p:nvSpPr>
        <p:spPr>
          <a:xfrm>
            <a:off x="4754880" y="1325880"/>
            <a:ext cx="3840480" cy="731520"/>
          </a:xfrm>
          <a:prstGeom prst="rect">
            <a:avLst/>
          </a:prstGeom>
          <a:noFill/>
          <a:ln/>
        </p:spPr>
        <p:txBody>
          <a:bodyPr wrap="square" lIns="0" tIns="0" rIns="0" bIns="0" rtlCol="0" anchor="ctr"/>
          <a:lstStyle/>
          <a:p>
            <a:pPr marL="0" indent="0" algn="ctr">
              <a:buNone/>
            </a:pPr>
            <a:r>
              <a:rPr lang="en-US" sz="3200">
                <a:solidFill>
                  <a:srgbClr val="7FB69E"/>
                </a:solidFill>
                <a:latin typeface="Consolas" pitchFamily="34" charset="0"/>
                <a:ea typeface="Consolas" pitchFamily="34" charset="-122"/>
                <a:cs typeface="Consolas" pitchFamily="34" charset="-120"/>
              </a:rPr>
              <a:t>6A 3B 2C</a:t>
            </a:r>
            <a:endParaRPr lang="en-US" sz="3200"/>
          </a:p>
        </p:txBody>
      </p:sp>
      <p:sp>
        <p:nvSpPr>
          <p:cNvPr id="10" name="Text 8"/>
          <p:cNvSpPr/>
          <p:nvPr/>
        </p:nvSpPr>
        <p:spPr>
          <a:xfrm>
            <a:off x="4754880" y="2103120"/>
            <a:ext cx="3840480" cy="457200"/>
          </a:xfrm>
          <a:prstGeom prst="rect">
            <a:avLst/>
          </a:prstGeom>
          <a:noFill/>
          <a:ln/>
        </p:spPr>
        <p:txBody>
          <a:bodyPr wrap="square" lIns="0" tIns="0" rIns="0" bIns="0" rtlCol="0" anchor="ctr"/>
          <a:lstStyle/>
          <a:p>
            <a:pPr marL="0" indent="0" algn="ctr">
              <a:buNone/>
            </a:pPr>
            <a:r>
              <a:rPr lang="en-US" sz="1400">
                <a:solidFill>
                  <a:srgbClr val="D8D6CE"/>
                </a:solidFill>
                <a:latin typeface="Calibri" pitchFamily="34" charset="0"/>
                <a:ea typeface="Calibri" pitchFamily="34" charset="-122"/>
                <a:cs typeface="Calibri" pitchFamily="34" charset="-120"/>
              </a:rPr>
              <a:t>6 symbols  ·  ~30 bits</a:t>
            </a:r>
            <a:endParaRPr lang="en-US" sz="1400"/>
          </a:p>
        </p:txBody>
      </p:sp>
      <p:sp>
        <p:nvSpPr>
          <p:cNvPr id="11" name="Text 9"/>
          <p:cNvSpPr/>
          <p:nvPr/>
        </p:nvSpPr>
        <p:spPr>
          <a:xfrm>
            <a:off x="4754880" y="2606040"/>
            <a:ext cx="3840480" cy="320040"/>
          </a:xfrm>
          <a:prstGeom prst="rect">
            <a:avLst/>
          </a:prstGeom>
          <a:noFill/>
          <a:ln/>
        </p:spPr>
        <p:txBody>
          <a:bodyPr wrap="square" lIns="0" tIns="0" rIns="0" bIns="0" rtlCol="0" anchor="ctr"/>
          <a:lstStyle/>
          <a:p>
            <a:pPr marL="0" indent="0" algn="ctr">
              <a:buNone/>
            </a:pPr>
            <a:r>
              <a:rPr lang="en-US" sz="1200">
                <a:solidFill>
                  <a:srgbClr val="9AA0A8"/>
                </a:solidFill>
                <a:latin typeface="Calibri" pitchFamily="34" charset="0"/>
                <a:ea typeface="Calibri" pitchFamily="34" charset="-122"/>
                <a:cs typeface="Calibri" pitchFamily="34" charset="-120"/>
              </a:rPr>
              <a:t>Run-length encoded</a:t>
            </a:r>
            <a:endParaRPr lang="en-US" sz="1200"/>
          </a:p>
        </p:txBody>
      </p:sp>
      <p:sp>
        <p:nvSpPr>
          <p:cNvPr id="12" name="Shape 10"/>
          <p:cNvSpPr/>
          <p:nvPr/>
        </p:nvSpPr>
        <p:spPr>
          <a:xfrm>
            <a:off x="548640" y="3383280"/>
            <a:ext cx="8046720" cy="1280160"/>
          </a:xfrm>
          <a:prstGeom prst="rect">
            <a:avLst/>
          </a:prstGeom>
          <a:solidFill>
            <a:srgbClr val="222731"/>
          </a:solidFill>
          <a:ln/>
          <a:effectLst/>
        </p:spPr>
        <p:txBody>
          <a:bodyPr/>
          <a:lstStyle/>
          <a:p>
            <a:endParaRPr lang="en-US"/>
          </a:p>
        </p:txBody>
      </p:sp>
      <p:sp>
        <p:nvSpPr>
          <p:cNvPr id="13" name="Text 11"/>
          <p:cNvSpPr/>
          <p:nvPr/>
        </p:nvSpPr>
        <p:spPr>
          <a:xfrm>
            <a:off x="731520" y="3520440"/>
            <a:ext cx="4572000" cy="365760"/>
          </a:xfrm>
          <a:prstGeom prst="rect">
            <a:avLst/>
          </a:prstGeom>
          <a:noFill/>
          <a:ln/>
        </p:spPr>
        <p:txBody>
          <a:bodyPr wrap="square" lIns="0" tIns="0" rIns="0" bIns="0" rtlCol="0" anchor="ctr"/>
          <a:lstStyle/>
          <a:p>
            <a:pPr marL="0" indent="0">
              <a:buNone/>
            </a:pPr>
            <a:r>
              <a:rPr lang="en-US" sz="1500" b="1">
                <a:solidFill>
                  <a:srgbClr val="E0A458"/>
                </a:solidFill>
                <a:latin typeface="Georgia" pitchFamily="34" charset="0"/>
                <a:ea typeface="Georgia" pitchFamily="34" charset="-122"/>
                <a:cs typeface="Georgia" pitchFamily="34" charset="-120"/>
              </a:rPr>
              <a:t>Shannon's Source Coding Theorem (1948)</a:t>
            </a:r>
            <a:endParaRPr lang="en-US" sz="1500"/>
          </a:p>
        </p:txBody>
      </p:sp>
      <p:sp>
        <p:nvSpPr>
          <p:cNvPr id="14" name="Text 12"/>
          <p:cNvSpPr/>
          <p:nvPr/>
        </p:nvSpPr>
        <p:spPr>
          <a:xfrm>
            <a:off x="731520" y="3931920"/>
            <a:ext cx="7680960" cy="594360"/>
          </a:xfrm>
          <a:prstGeom prst="rect">
            <a:avLst/>
          </a:prstGeom>
          <a:noFill/>
          <a:ln/>
        </p:spPr>
        <p:txBody>
          <a:bodyPr wrap="square" lIns="0" tIns="0" rIns="0" bIns="0" rtlCol="0" anchor="ctr"/>
          <a:lstStyle/>
          <a:p>
            <a:pPr marL="0" indent="0">
              <a:buNone/>
            </a:pPr>
            <a:r>
              <a:rPr lang="en-US" sz="1400" b="1" u="sng">
                <a:solidFill>
                  <a:srgbClr val="D8D6CE"/>
                </a:solidFill>
                <a:latin typeface="Calibri" pitchFamily="34" charset="0"/>
                <a:ea typeface="Calibri" pitchFamily="34" charset="-122"/>
                <a:cs typeface="Calibri" pitchFamily="34" charset="-120"/>
              </a:rPr>
              <a:t>You cannot compress data below its entropy.</a:t>
            </a:r>
            <a:r>
              <a:rPr lang="en-US" sz="1400">
                <a:solidFill>
                  <a:srgbClr val="D8D6CE"/>
                </a:solidFill>
                <a:latin typeface="Calibri" pitchFamily="34" charset="0"/>
                <a:ea typeface="Calibri" pitchFamily="34" charset="-122"/>
                <a:cs typeface="Calibri" pitchFamily="34" charset="-120"/>
              </a:rPr>
              <a:t> But you can always get arbitrarily close to it.</a:t>
            </a:r>
            <a:br>
              <a:rPr lang="en-US" sz="1400">
                <a:solidFill>
                  <a:srgbClr val="D8D6CE"/>
                </a:solidFill>
                <a:latin typeface="Calibri" pitchFamily="34" charset="0"/>
                <a:ea typeface="Calibri" pitchFamily="34" charset="-122"/>
                <a:cs typeface="Calibri" pitchFamily="34" charset="-120"/>
              </a:rPr>
            </a:br>
            <a:r>
              <a:rPr lang="en-US" sz="1400">
                <a:solidFill>
                  <a:srgbClr val="D8D6CE"/>
                </a:solidFill>
                <a:latin typeface="Calibri" pitchFamily="34" charset="0"/>
                <a:ea typeface="Calibri" pitchFamily="34" charset="-122"/>
                <a:cs typeface="Calibri" pitchFamily="34" charset="-120"/>
              </a:rPr>
              <a:t>Entropy is the fundamental limit of compression, because is the </a:t>
            </a:r>
            <a:r>
              <a:rPr lang="en-US" sz="1400" i="1">
                <a:solidFill>
                  <a:srgbClr val="D8D6CE"/>
                </a:solidFill>
                <a:latin typeface="Calibri" pitchFamily="34" charset="0"/>
                <a:ea typeface="Calibri" pitchFamily="34" charset="-122"/>
                <a:cs typeface="Calibri" pitchFamily="34" charset="-120"/>
              </a:rPr>
              <a:t>actual information content</a:t>
            </a:r>
            <a:r>
              <a:rPr lang="en-US" sz="1400">
                <a:solidFill>
                  <a:srgbClr val="D8D6CE"/>
                </a:solidFill>
                <a:latin typeface="Calibri" pitchFamily="34" charset="0"/>
                <a:ea typeface="Calibri" pitchFamily="34" charset="-122"/>
                <a:cs typeface="Calibri" pitchFamily="34" charset="-120"/>
              </a:rPr>
              <a:t>.</a:t>
            </a:r>
            <a:endParaRPr lang="en-US" sz="1400"/>
          </a:p>
        </p:txBody>
      </p:sp>
      <p:sp>
        <p:nvSpPr>
          <p:cNvPr id="16" name="Text 0">
            <a:extLst>
              <a:ext uri="{FF2B5EF4-FFF2-40B4-BE49-F238E27FC236}">
                <a16:creationId xmlns:a16="http://schemas.microsoft.com/office/drawing/2014/main" id="{552D5D23-B48A-5F58-65D7-82AB5742EF59}"/>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COMPRESSION</a:t>
            </a:r>
          </a:p>
        </p:txBody>
      </p:sp>
    </p:spTree>
    <p:extLst>
      <p:ext uri="{BB962C8B-B14F-4D97-AF65-F5344CB8AC3E}">
        <p14:creationId xmlns:p14="http://schemas.microsoft.com/office/powerpoint/2010/main" val="2780555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83153AD0-38D0-424B-C844-4F7468C5468A}"/>
            </a:ext>
          </a:extLst>
        </p:cNvPr>
        <p:cNvGrpSpPr/>
        <p:nvPr/>
      </p:nvGrpSpPr>
      <p:grpSpPr>
        <a:xfrm>
          <a:off x="0" y="0"/>
          <a:ext cx="0" cy="0"/>
          <a:chOff x="0" y="0"/>
          <a:chExt cx="0" cy="0"/>
        </a:xfrm>
      </p:grpSpPr>
      <p:grpSp>
        <p:nvGrpSpPr>
          <p:cNvPr id="21" name="Group 20">
            <a:extLst>
              <a:ext uri="{FF2B5EF4-FFF2-40B4-BE49-F238E27FC236}">
                <a16:creationId xmlns:a16="http://schemas.microsoft.com/office/drawing/2014/main" id="{A0F803EC-7AFA-8F80-ECB1-6EB06C3D75DB}"/>
              </a:ext>
            </a:extLst>
          </p:cNvPr>
          <p:cNvGrpSpPr/>
          <p:nvPr/>
        </p:nvGrpSpPr>
        <p:grpSpPr>
          <a:xfrm>
            <a:off x="3169493" y="838465"/>
            <a:ext cx="2803420" cy="2011149"/>
            <a:chOff x="6010380" y="304799"/>
            <a:chExt cx="2803420" cy="2011149"/>
          </a:xfrm>
        </p:grpSpPr>
        <p:pic>
          <p:nvPicPr>
            <p:cNvPr id="17" name="Copied Picture 17" descr="A cartoon of a bear&#10;&#10;AI-generated content may be incorrect.">
              <a:extLst>
                <a:ext uri="{FF2B5EF4-FFF2-40B4-BE49-F238E27FC236}">
                  <a16:creationId xmlns:a16="http://schemas.microsoft.com/office/drawing/2014/main" id="{4B5B2103-BF53-1CA7-9703-0CCB70F1F8EF}"/>
                </a:ext>
              </a:extLst>
            </p:cNvPr>
            <p:cNvPicPr>
              <a:picLocks noChangeAspect="1"/>
            </p:cNvPicPr>
            <p:nvPr/>
          </p:nvPicPr>
          <p:blipFill>
            <a:blip r:embed="rId3"/>
            <a:stretch>
              <a:fillRect/>
            </a:stretch>
          </p:blipFill>
          <p:spPr>
            <a:xfrm>
              <a:off x="6010380" y="304799"/>
              <a:ext cx="2803420" cy="2011149"/>
            </a:xfrm>
            <a:prstGeom prst="rect">
              <a:avLst/>
            </a:prstGeom>
          </p:spPr>
        </p:pic>
        <p:sp>
          <p:nvSpPr>
            <p:cNvPr id="23" name="TextBox 22">
              <a:extLst>
                <a:ext uri="{FF2B5EF4-FFF2-40B4-BE49-F238E27FC236}">
                  <a16:creationId xmlns:a16="http://schemas.microsoft.com/office/drawing/2014/main" id="{B3B90C7A-D69D-9411-EF5B-7409CBF28968}"/>
                </a:ext>
              </a:extLst>
            </p:cNvPr>
            <p:cNvSpPr txBox="1"/>
            <p:nvPr/>
          </p:nvSpPr>
          <p:spPr>
            <a:xfrm>
              <a:off x="7210426" y="1704703"/>
              <a:ext cx="1603374" cy="261257"/>
            </a:xfrm>
            <a:prstGeom prst="rect">
              <a:avLst/>
            </a:prstGeom>
            <a:noFill/>
          </p:spPr>
          <p:txBody>
            <a:bodyPr vertOverflow="overflow" vert="horz" wrap="square" rtlCol="0" anchor="ctr" anchorCtr="0">
              <a:noAutofit/>
            </a:bodyPr>
            <a:lstStyle/>
            <a:p>
              <a:pPr algn="ctr"/>
              <a:r>
                <a:rPr lang="en-US" sz="2000" b="1" dirty="0">
                  <a:latin typeface="Impact"/>
                </a:rPr>
                <a:t>6A 3B 2C</a:t>
              </a:r>
            </a:p>
          </p:txBody>
        </p:sp>
        <p:sp>
          <p:nvSpPr>
            <p:cNvPr id="2" name="TextBox 1">
              <a:extLst>
                <a:ext uri="{FF2B5EF4-FFF2-40B4-BE49-F238E27FC236}">
                  <a16:creationId xmlns:a16="http://schemas.microsoft.com/office/drawing/2014/main" id="{B8F61B70-DDFC-2E30-AF2F-F90E73A532DB}"/>
                </a:ext>
              </a:extLst>
            </p:cNvPr>
            <p:cNvSpPr txBox="1"/>
            <p:nvPr/>
          </p:nvSpPr>
          <p:spPr>
            <a:xfrm>
              <a:off x="7210426" y="637371"/>
              <a:ext cx="1603374" cy="261257"/>
            </a:xfrm>
            <a:prstGeom prst="rect">
              <a:avLst/>
            </a:prstGeom>
            <a:noFill/>
          </p:spPr>
          <p:txBody>
            <a:bodyPr vertOverflow="overflow" vert="horz" wrap="square" rtlCol="0" anchor="ctr" anchorCtr="0">
              <a:noAutofit/>
            </a:bodyPr>
            <a:lstStyle/>
            <a:p>
              <a:pPr algn="ctr"/>
              <a:r>
                <a:rPr lang="en-US" sz="2000" b="1" dirty="0">
                  <a:latin typeface="Impact"/>
                </a:rPr>
                <a:t>AAAABBBCC</a:t>
              </a:r>
            </a:p>
          </p:txBody>
        </p:sp>
      </p:grpSp>
      <p:sp>
        <p:nvSpPr>
          <p:cNvPr id="12" name="Shape 10">
            <a:extLst>
              <a:ext uri="{FF2B5EF4-FFF2-40B4-BE49-F238E27FC236}">
                <a16:creationId xmlns:a16="http://schemas.microsoft.com/office/drawing/2014/main" id="{E31CA650-CFAB-2F25-0EF5-460E64808705}"/>
              </a:ext>
            </a:extLst>
          </p:cNvPr>
          <p:cNvSpPr/>
          <p:nvPr/>
        </p:nvSpPr>
        <p:spPr>
          <a:xfrm>
            <a:off x="548640" y="3383280"/>
            <a:ext cx="8046720" cy="1280160"/>
          </a:xfrm>
          <a:prstGeom prst="rect">
            <a:avLst/>
          </a:prstGeom>
          <a:solidFill>
            <a:srgbClr val="222731"/>
          </a:solidFill>
          <a:ln/>
          <a:effectLst/>
        </p:spPr>
        <p:txBody>
          <a:bodyPr/>
          <a:lstStyle/>
          <a:p>
            <a:endParaRPr lang="en-US"/>
          </a:p>
        </p:txBody>
      </p:sp>
      <p:sp>
        <p:nvSpPr>
          <p:cNvPr id="13" name="Text 11">
            <a:extLst>
              <a:ext uri="{FF2B5EF4-FFF2-40B4-BE49-F238E27FC236}">
                <a16:creationId xmlns:a16="http://schemas.microsoft.com/office/drawing/2014/main" id="{58D5BC5F-1A63-7A84-CF8F-DE940F565558}"/>
              </a:ext>
            </a:extLst>
          </p:cNvPr>
          <p:cNvSpPr/>
          <p:nvPr/>
        </p:nvSpPr>
        <p:spPr>
          <a:xfrm>
            <a:off x="731520" y="3520440"/>
            <a:ext cx="4572000" cy="365760"/>
          </a:xfrm>
          <a:prstGeom prst="rect">
            <a:avLst/>
          </a:prstGeom>
          <a:noFill/>
          <a:ln/>
        </p:spPr>
        <p:txBody>
          <a:bodyPr wrap="square" lIns="0" tIns="0" rIns="0" bIns="0" rtlCol="0" anchor="ctr"/>
          <a:lstStyle/>
          <a:p>
            <a:pPr marL="0" indent="0">
              <a:buNone/>
            </a:pPr>
            <a:r>
              <a:rPr lang="en-US" sz="1500" b="1" dirty="0">
                <a:solidFill>
                  <a:srgbClr val="E0A458"/>
                </a:solidFill>
                <a:latin typeface="Georgia" pitchFamily="34" charset="0"/>
                <a:ea typeface="Georgia" pitchFamily="34" charset="-122"/>
                <a:cs typeface="Georgia" pitchFamily="34" charset="-120"/>
              </a:rPr>
              <a:t>Shannon's Source Coding Theorem (1948)</a:t>
            </a:r>
            <a:endParaRPr lang="en-US" sz="1500" dirty="0"/>
          </a:p>
        </p:txBody>
      </p:sp>
      <p:sp>
        <p:nvSpPr>
          <p:cNvPr id="14" name="Text 12">
            <a:extLst>
              <a:ext uri="{FF2B5EF4-FFF2-40B4-BE49-F238E27FC236}">
                <a16:creationId xmlns:a16="http://schemas.microsoft.com/office/drawing/2014/main" id="{503BCE76-9393-63DA-5D39-2396929B8656}"/>
              </a:ext>
            </a:extLst>
          </p:cNvPr>
          <p:cNvSpPr/>
          <p:nvPr/>
        </p:nvSpPr>
        <p:spPr>
          <a:xfrm>
            <a:off x="731520" y="3931920"/>
            <a:ext cx="7680960" cy="594360"/>
          </a:xfrm>
          <a:prstGeom prst="rect">
            <a:avLst/>
          </a:prstGeom>
          <a:noFill/>
          <a:ln/>
        </p:spPr>
        <p:txBody>
          <a:bodyPr wrap="square" lIns="0" tIns="0" rIns="0" bIns="0" rtlCol="0" anchor="ctr"/>
          <a:lstStyle/>
          <a:p>
            <a:pPr marL="0" indent="0">
              <a:buNone/>
            </a:pPr>
            <a:r>
              <a:rPr lang="en-US" sz="1400" b="1" u="sng">
                <a:solidFill>
                  <a:srgbClr val="D8D6CE"/>
                </a:solidFill>
                <a:latin typeface="Calibri" pitchFamily="34" charset="0"/>
                <a:ea typeface="Calibri" pitchFamily="34" charset="-122"/>
                <a:cs typeface="Calibri" pitchFamily="34" charset="-120"/>
              </a:rPr>
              <a:t>You cannot compress data below its entropy.</a:t>
            </a:r>
            <a:r>
              <a:rPr lang="en-US" sz="1400">
                <a:solidFill>
                  <a:srgbClr val="D8D6CE"/>
                </a:solidFill>
                <a:latin typeface="Calibri" pitchFamily="34" charset="0"/>
                <a:ea typeface="Calibri" pitchFamily="34" charset="-122"/>
                <a:cs typeface="Calibri" pitchFamily="34" charset="-120"/>
              </a:rPr>
              <a:t> But you can always get arbitrarily close to it.</a:t>
            </a:r>
            <a:br>
              <a:rPr lang="en-US" sz="1400">
                <a:solidFill>
                  <a:srgbClr val="D8D6CE"/>
                </a:solidFill>
                <a:latin typeface="Calibri" pitchFamily="34" charset="0"/>
                <a:ea typeface="Calibri" pitchFamily="34" charset="-122"/>
                <a:cs typeface="Calibri" pitchFamily="34" charset="-120"/>
              </a:rPr>
            </a:br>
            <a:r>
              <a:rPr lang="en-US" sz="1400">
                <a:solidFill>
                  <a:srgbClr val="D8D6CE"/>
                </a:solidFill>
                <a:latin typeface="Calibri" pitchFamily="34" charset="0"/>
                <a:ea typeface="Calibri" pitchFamily="34" charset="-122"/>
                <a:cs typeface="Calibri" pitchFamily="34" charset="-120"/>
              </a:rPr>
              <a:t>Entropy is the fundamental limit of compression, because is the </a:t>
            </a:r>
            <a:r>
              <a:rPr lang="en-US" sz="1400" i="1">
                <a:solidFill>
                  <a:srgbClr val="D8D6CE"/>
                </a:solidFill>
                <a:latin typeface="Calibri" pitchFamily="34" charset="0"/>
                <a:ea typeface="Calibri" pitchFamily="34" charset="-122"/>
                <a:cs typeface="Calibri" pitchFamily="34" charset="-120"/>
              </a:rPr>
              <a:t>actual information content</a:t>
            </a:r>
            <a:r>
              <a:rPr lang="en-US" sz="1400">
                <a:solidFill>
                  <a:srgbClr val="D8D6CE"/>
                </a:solidFill>
                <a:latin typeface="Calibri" pitchFamily="34" charset="0"/>
                <a:ea typeface="Calibri" pitchFamily="34" charset="-122"/>
                <a:cs typeface="Calibri" pitchFamily="34" charset="-120"/>
              </a:rPr>
              <a:t>.</a:t>
            </a:r>
            <a:endParaRPr lang="en-US" sz="1400"/>
          </a:p>
        </p:txBody>
      </p:sp>
      <p:sp>
        <p:nvSpPr>
          <p:cNvPr id="16" name="Text 0">
            <a:extLst>
              <a:ext uri="{FF2B5EF4-FFF2-40B4-BE49-F238E27FC236}">
                <a16:creationId xmlns:a16="http://schemas.microsoft.com/office/drawing/2014/main" id="{606CFD18-B427-4AB1-98D2-128E3A1E4B69}"/>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COMPRESSION</a:t>
            </a:r>
          </a:p>
        </p:txBody>
      </p:sp>
      <p:grpSp>
        <p:nvGrpSpPr>
          <p:cNvPr id="15" name="Group 14">
            <a:extLst>
              <a:ext uri="{FF2B5EF4-FFF2-40B4-BE49-F238E27FC236}">
                <a16:creationId xmlns:a16="http://schemas.microsoft.com/office/drawing/2014/main" id="{EDAF1DBD-C1C0-1A56-789A-24747ACCFCC0}"/>
              </a:ext>
            </a:extLst>
          </p:cNvPr>
          <p:cNvGrpSpPr/>
          <p:nvPr/>
        </p:nvGrpSpPr>
        <p:grpSpPr>
          <a:xfrm>
            <a:off x="2603972" y="274320"/>
            <a:ext cx="3936055" cy="2813489"/>
            <a:chOff x="4385753" y="1733110"/>
            <a:chExt cx="3936055" cy="2813489"/>
          </a:xfrm>
        </p:grpSpPr>
        <p:pic>
          <p:nvPicPr>
            <p:cNvPr id="18" name="Copied Picture 23" descr="A person with long hair and beard&#10;&#10;AI-generated content may be incorrect.">
              <a:extLst>
                <a:ext uri="{FF2B5EF4-FFF2-40B4-BE49-F238E27FC236}">
                  <a16:creationId xmlns:a16="http://schemas.microsoft.com/office/drawing/2014/main" id="{C26324E1-50EC-308F-9F02-F575B20C951A}"/>
                </a:ext>
              </a:extLst>
            </p:cNvPr>
            <p:cNvPicPr>
              <a:picLocks noChangeAspect="1"/>
            </p:cNvPicPr>
            <p:nvPr/>
          </p:nvPicPr>
          <p:blipFill>
            <a:blip r:embed="rId4"/>
            <a:stretch>
              <a:fillRect/>
            </a:stretch>
          </p:blipFill>
          <p:spPr>
            <a:xfrm>
              <a:off x="4385753" y="1733110"/>
              <a:ext cx="3936055" cy="2337033"/>
            </a:xfrm>
            <a:prstGeom prst="rect">
              <a:avLst/>
            </a:prstGeom>
          </p:spPr>
        </p:pic>
        <p:sp>
          <p:nvSpPr>
            <p:cNvPr id="19" name="TextBox 18">
              <a:extLst>
                <a:ext uri="{FF2B5EF4-FFF2-40B4-BE49-F238E27FC236}">
                  <a16:creationId xmlns:a16="http://schemas.microsoft.com/office/drawing/2014/main" id="{ECA8B41A-E099-E96A-2294-50673F61B45C}"/>
                </a:ext>
              </a:extLst>
            </p:cNvPr>
            <p:cNvSpPr txBox="1"/>
            <p:nvPr/>
          </p:nvSpPr>
          <p:spPr>
            <a:xfrm>
              <a:off x="4385754" y="4070210"/>
              <a:ext cx="3934460" cy="476389"/>
            </a:xfrm>
            <a:prstGeom prst="rect">
              <a:avLst/>
            </a:prstGeom>
            <a:solidFill>
              <a:srgbClr val="000000"/>
            </a:solidFill>
          </p:spPr>
          <p:txBody>
            <a:bodyPr vertOverflow="overflow" vert="horz" wrap="square" rtlCol="0" anchor="ctr" anchorCtr="0">
              <a:noAutofit/>
            </a:bodyPr>
            <a:lstStyle/>
            <a:p>
              <a:pPr algn="ctr"/>
              <a:r>
                <a:rPr lang="en-US" sz="1400" b="1" dirty="0">
                  <a:solidFill>
                    <a:srgbClr val="FFFFFF"/>
                  </a:solidFill>
                  <a:latin typeface="Impact"/>
                </a:rPr>
                <a:t>One does not simply beat the entropy limit.</a:t>
              </a:r>
            </a:p>
          </p:txBody>
        </p:sp>
      </p:grpSp>
    </p:spTree>
    <p:extLst>
      <p:ext uri="{BB962C8B-B14F-4D97-AF65-F5344CB8AC3E}">
        <p14:creationId xmlns:p14="http://schemas.microsoft.com/office/powerpoint/2010/main" val="247357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85F11FA9-E7AD-D09E-B567-A143159DB395}"/>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5A5EF2C7-6E0F-9B11-5712-42A67EFBA539}"/>
              </a:ext>
            </a:extLst>
          </p:cNvPr>
          <p:cNvSpPr/>
          <p:nvPr/>
        </p:nvSpPr>
        <p:spPr>
          <a:xfrm rot="20260281">
            <a:off x="86741" y="237859"/>
            <a:ext cx="1487945" cy="274320"/>
          </a:xfrm>
          <a:prstGeom prst="rect">
            <a:avLst/>
          </a:prstGeom>
          <a:noFill/>
          <a:ln/>
        </p:spPr>
        <p:txBody>
          <a:bodyPr wrap="square" lIns="0" tIns="0" rIns="0" bIns="0" rtlCol="0" anchor="ctr"/>
          <a:lstStyle/>
          <a:p>
            <a:pPr marL="0" indent="0">
              <a:buNone/>
            </a:pPr>
            <a:r>
              <a:rPr lang="en-US" sz="900" b="1" kern="0" spc="400" dirty="0">
                <a:solidFill>
                  <a:srgbClr val="7FB69E"/>
                </a:solidFill>
                <a:latin typeface="Calibri" pitchFamily="34" charset="0"/>
              </a:rPr>
              <a:t>COMPRESSION</a:t>
            </a:r>
          </a:p>
        </p:txBody>
      </p:sp>
      <p:pic>
        <p:nvPicPr>
          <p:cNvPr id="17" name="Picture 16" descr="A computer screen shot of a computer program&#10;&#10;AI-generated content may be incorrect.">
            <a:extLst>
              <a:ext uri="{FF2B5EF4-FFF2-40B4-BE49-F238E27FC236}">
                <a16:creationId xmlns:a16="http://schemas.microsoft.com/office/drawing/2014/main" id="{C59925E7-65D1-FF35-3EE4-F3BC5D36C847}"/>
              </a:ext>
            </a:extLst>
          </p:cNvPr>
          <p:cNvPicPr>
            <a:picLocks noChangeAspect="1"/>
          </p:cNvPicPr>
          <p:nvPr/>
        </p:nvPicPr>
        <p:blipFill>
          <a:blip r:embed="rId3"/>
          <a:stretch>
            <a:fillRect/>
          </a:stretch>
        </p:blipFill>
        <p:spPr>
          <a:xfrm>
            <a:off x="1409584" y="0"/>
            <a:ext cx="6324832" cy="5143500"/>
          </a:xfrm>
          <a:prstGeom prst="rect">
            <a:avLst/>
          </a:prstGeom>
        </p:spPr>
      </p:pic>
      <p:pic>
        <p:nvPicPr>
          <p:cNvPr id="18" name="Copied Picture 18" descr="A cartoon character with rainbow hair&#10;&#10;AI-generated content may be incorrect.">
            <a:extLst>
              <a:ext uri="{FF2B5EF4-FFF2-40B4-BE49-F238E27FC236}">
                <a16:creationId xmlns:a16="http://schemas.microsoft.com/office/drawing/2014/main" id="{CE05878C-9B4F-C24C-2A36-7C88B276B62D}"/>
              </a:ext>
            </a:extLst>
          </p:cNvPr>
          <p:cNvPicPr>
            <a:picLocks noChangeAspect="1"/>
          </p:cNvPicPr>
          <p:nvPr/>
        </p:nvPicPr>
        <p:blipFill>
          <a:blip r:embed="rId4"/>
          <a:stretch>
            <a:fillRect/>
          </a:stretch>
        </p:blipFill>
        <p:spPr>
          <a:xfrm>
            <a:off x="7721600" y="1905000"/>
            <a:ext cx="1371600" cy="1003300"/>
          </a:xfrm>
          <a:prstGeom prst="rect">
            <a:avLst/>
          </a:prstGeom>
        </p:spPr>
      </p:pic>
      <p:sp>
        <p:nvSpPr>
          <p:cNvPr id="2" name="TextBox 1">
            <a:extLst>
              <a:ext uri="{FF2B5EF4-FFF2-40B4-BE49-F238E27FC236}">
                <a16:creationId xmlns:a16="http://schemas.microsoft.com/office/drawing/2014/main" id="{23233782-8AFF-9146-9307-5952154B381F}"/>
              </a:ext>
            </a:extLst>
          </p:cNvPr>
          <p:cNvSpPr txBox="1"/>
          <p:nvPr/>
        </p:nvSpPr>
        <p:spPr>
          <a:xfrm>
            <a:off x="7721600" y="2933700"/>
            <a:ext cx="1371600" cy="2286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it's all compression</a:t>
            </a:r>
          </a:p>
        </p:txBody>
      </p:sp>
    </p:spTree>
    <p:extLst>
      <p:ext uri="{BB962C8B-B14F-4D97-AF65-F5344CB8AC3E}">
        <p14:creationId xmlns:p14="http://schemas.microsoft.com/office/powerpoint/2010/main" val="3722115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BA48AB84-0BF1-412E-C316-F2559DC81704}"/>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6760852A-80E8-36CC-A2F4-9ACF5F2C3A6B}"/>
              </a:ext>
            </a:extLst>
          </p:cNvPr>
          <p:cNvSpPr/>
          <p:nvPr/>
        </p:nvSpPr>
        <p:spPr>
          <a:xfrm rot="20260281">
            <a:off x="86741" y="237859"/>
            <a:ext cx="1487945" cy="274320"/>
          </a:xfrm>
          <a:prstGeom prst="rect">
            <a:avLst/>
          </a:prstGeom>
          <a:noFill/>
          <a:ln/>
        </p:spPr>
        <p:txBody>
          <a:bodyPr wrap="square" lIns="0" tIns="0" rIns="0" bIns="0" rtlCol="0" anchor="ctr"/>
          <a:lstStyle/>
          <a:p>
            <a:pPr marL="0" indent="0">
              <a:buNone/>
            </a:pPr>
            <a:r>
              <a:rPr lang="en-US" sz="900" b="1" kern="0" spc="400" dirty="0">
                <a:solidFill>
                  <a:srgbClr val="7FB69E"/>
                </a:solidFill>
                <a:latin typeface="Calibri" pitchFamily="34" charset="0"/>
              </a:rPr>
              <a:t>COMPRESSION?</a:t>
            </a:r>
          </a:p>
        </p:txBody>
      </p:sp>
      <p:pic>
        <p:nvPicPr>
          <p:cNvPr id="3" name="Picture 2" descr="A computer screen shot of a black screen&#10;&#10;AI-generated content may be incorrect.">
            <a:extLst>
              <a:ext uri="{FF2B5EF4-FFF2-40B4-BE49-F238E27FC236}">
                <a16:creationId xmlns:a16="http://schemas.microsoft.com/office/drawing/2014/main" id="{E3A3E2CF-39AB-D800-C601-A9A498D81683}"/>
              </a:ext>
            </a:extLst>
          </p:cNvPr>
          <p:cNvPicPr>
            <a:picLocks noChangeAspect="1"/>
          </p:cNvPicPr>
          <p:nvPr/>
        </p:nvPicPr>
        <p:blipFill>
          <a:blip r:embed="rId3"/>
          <a:stretch>
            <a:fillRect/>
          </a:stretch>
        </p:blipFill>
        <p:spPr>
          <a:xfrm>
            <a:off x="1466850" y="228600"/>
            <a:ext cx="6210300" cy="468630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95C8C599-464D-94E4-BAE3-F5F186410351}"/>
              </a:ext>
            </a:extLst>
          </p:cNvPr>
          <p:cNvPicPr>
            <a:picLocks noChangeAspect="1"/>
          </p:cNvPicPr>
          <p:nvPr/>
        </p:nvPicPr>
        <p:blipFill>
          <a:blip r:embed="rId4"/>
          <a:stretch>
            <a:fillRect/>
          </a:stretch>
        </p:blipFill>
        <p:spPr>
          <a:xfrm>
            <a:off x="2573258" y="0"/>
            <a:ext cx="3997483" cy="5143500"/>
          </a:xfrm>
          <a:prstGeom prst="rect">
            <a:avLst/>
          </a:prstGeom>
        </p:spPr>
      </p:pic>
      <p:pic>
        <p:nvPicPr>
          <p:cNvPr id="16" name="Copied Picture 16" descr="Cartoon character with a cartoon face&#10;&#10;AI-generated content may be incorrect.">
            <a:extLst>
              <a:ext uri="{FF2B5EF4-FFF2-40B4-BE49-F238E27FC236}">
                <a16:creationId xmlns:a16="http://schemas.microsoft.com/office/drawing/2014/main" id="{3C81316A-83AF-2A9F-494D-7EB25FD5A0F9}"/>
              </a:ext>
            </a:extLst>
          </p:cNvPr>
          <p:cNvPicPr>
            <a:picLocks noChangeAspect="1"/>
          </p:cNvPicPr>
          <p:nvPr/>
        </p:nvPicPr>
        <p:blipFill>
          <a:blip r:embed="rId5"/>
          <a:stretch>
            <a:fillRect/>
          </a:stretch>
        </p:blipFill>
        <p:spPr>
          <a:xfrm>
            <a:off x="7747000" y="1905000"/>
            <a:ext cx="1346200" cy="1041400"/>
          </a:xfrm>
          <a:prstGeom prst="rect">
            <a:avLst/>
          </a:prstGeom>
        </p:spPr>
      </p:pic>
      <p:sp>
        <p:nvSpPr>
          <p:cNvPr id="2" name="TextBox 1">
            <a:extLst>
              <a:ext uri="{FF2B5EF4-FFF2-40B4-BE49-F238E27FC236}">
                <a16:creationId xmlns:a16="http://schemas.microsoft.com/office/drawing/2014/main" id="{1150134D-0CDC-7E45-97C1-565940A69811}"/>
              </a:ext>
            </a:extLst>
          </p:cNvPr>
          <p:cNvSpPr txBox="1"/>
          <p:nvPr/>
        </p:nvSpPr>
        <p:spPr>
          <a:xfrm>
            <a:off x="7721600" y="2971800"/>
            <a:ext cx="1397000" cy="2286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iS tHiS cOmPrEsSiOn?</a:t>
            </a:r>
          </a:p>
        </p:txBody>
      </p:sp>
    </p:spTree>
    <p:extLst>
      <p:ext uri="{BB962C8B-B14F-4D97-AF65-F5344CB8AC3E}">
        <p14:creationId xmlns:p14="http://schemas.microsoft.com/office/powerpoint/2010/main" val="80661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CFD8F14D-BD05-B039-D760-44B5F0127899}"/>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DB6D4A8F-A433-1E46-4DBB-61EEB0A0EB76}"/>
              </a:ext>
            </a:extLst>
          </p:cNvPr>
          <p:cNvSpPr/>
          <p:nvPr/>
        </p:nvSpPr>
        <p:spPr>
          <a:xfrm rot="20260281">
            <a:off x="86741" y="237859"/>
            <a:ext cx="1487945" cy="274320"/>
          </a:xfrm>
          <a:prstGeom prst="rect">
            <a:avLst/>
          </a:prstGeom>
          <a:noFill/>
          <a:ln/>
        </p:spPr>
        <p:txBody>
          <a:bodyPr wrap="square" lIns="0" tIns="0" rIns="0" bIns="0" rtlCol="0" anchor="ctr"/>
          <a:lstStyle/>
          <a:p>
            <a:pPr marL="0" indent="0">
              <a:buNone/>
            </a:pPr>
            <a:r>
              <a:rPr lang="en-US" sz="900" b="1" kern="0" spc="400" dirty="0">
                <a:solidFill>
                  <a:srgbClr val="7FB69E"/>
                </a:solidFill>
                <a:latin typeface="Calibri" pitchFamily="34" charset="0"/>
              </a:rPr>
              <a:t>Not really about COMPRESSION</a:t>
            </a:r>
          </a:p>
        </p:txBody>
      </p:sp>
      <p:pic>
        <p:nvPicPr>
          <p:cNvPr id="7" name="Picture 6">
            <a:extLst>
              <a:ext uri="{FF2B5EF4-FFF2-40B4-BE49-F238E27FC236}">
                <a16:creationId xmlns:a16="http://schemas.microsoft.com/office/drawing/2014/main" id="{549490FA-A2CB-BB41-66EF-9D5576816918}"/>
              </a:ext>
            </a:extLst>
          </p:cNvPr>
          <p:cNvPicPr>
            <a:picLocks noChangeAspect="1"/>
          </p:cNvPicPr>
          <p:nvPr/>
        </p:nvPicPr>
        <p:blipFill>
          <a:blip r:embed="rId3"/>
          <a:stretch>
            <a:fillRect/>
          </a:stretch>
        </p:blipFill>
        <p:spPr>
          <a:xfrm>
            <a:off x="685800" y="2377717"/>
            <a:ext cx="7772400" cy="38806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ED19AA3C-C35C-C3A6-AC09-863E402CAEF6}"/>
              </a:ext>
            </a:extLst>
          </p:cNvPr>
          <p:cNvPicPr>
            <a:picLocks noChangeAspect="1"/>
          </p:cNvPicPr>
          <p:nvPr/>
        </p:nvPicPr>
        <p:blipFill>
          <a:blip r:embed="rId4"/>
          <a:stretch>
            <a:fillRect/>
          </a:stretch>
        </p:blipFill>
        <p:spPr>
          <a:xfrm>
            <a:off x="1447642" y="0"/>
            <a:ext cx="6248715" cy="5143500"/>
          </a:xfrm>
          <a:prstGeom prst="rect">
            <a:avLst/>
          </a:prstGeom>
        </p:spPr>
      </p:pic>
      <p:pic>
        <p:nvPicPr>
          <p:cNvPr id="16" name="Copied Picture 16" descr="A cartoon of a person in a ghost garment&#10;&#10;AI-generated content may be incorrect.">
            <a:extLst>
              <a:ext uri="{FF2B5EF4-FFF2-40B4-BE49-F238E27FC236}">
                <a16:creationId xmlns:a16="http://schemas.microsoft.com/office/drawing/2014/main" id="{055F11B4-2B65-7CF1-F4A0-8DA6261F025C}"/>
              </a:ext>
            </a:extLst>
          </p:cNvPr>
          <p:cNvPicPr>
            <a:picLocks noChangeAspect="1"/>
          </p:cNvPicPr>
          <p:nvPr/>
        </p:nvPicPr>
        <p:blipFill>
          <a:blip r:embed="rId5"/>
          <a:stretch>
            <a:fillRect/>
          </a:stretch>
        </p:blipFill>
        <p:spPr>
          <a:xfrm>
            <a:off x="101600" y="558800"/>
            <a:ext cx="965200" cy="1282700"/>
          </a:xfrm>
          <a:prstGeom prst="rect">
            <a:avLst/>
          </a:prstGeom>
        </p:spPr>
      </p:pic>
      <p:sp>
        <p:nvSpPr>
          <p:cNvPr id="2" name="TextBox 1">
            <a:extLst>
              <a:ext uri="{FF2B5EF4-FFF2-40B4-BE49-F238E27FC236}">
                <a16:creationId xmlns:a16="http://schemas.microsoft.com/office/drawing/2014/main" id="{EBD078A2-6AC7-6F4D-A9C5-C68DD3AC6D27}"/>
              </a:ext>
            </a:extLst>
          </p:cNvPr>
          <p:cNvSpPr txBox="1"/>
          <p:nvPr/>
        </p:nvSpPr>
        <p:spPr>
          <a:xfrm>
            <a:off x="25400" y="1879600"/>
            <a:ext cx="1320800" cy="4572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PREDICTION all along</a:t>
            </a:r>
          </a:p>
        </p:txBody>
      </p:sp>
    </p:spTree>
    <p:extLst>
      <p:ext uri="{BB962C8B-B14F-4D97-AF65-F5344CB8AC3E}">
        <p14:creationId xmlns:p14="http://schemas.microsoft.com/office/powerpoint/2010/main" val="1055701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6">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731520"/>
            <a:ext cx="8046720" cy="1188720"/>
          </a:xfrm>
          <a:prstGeom prst="rect">
            <a:avLst/>
          </a:prstGeom>
          <a:solidFill>
            <a:srgbClr val="222731"/>
          </a:solidFill>
          <a:ln/>
          <a:effectLst/>
        </p:spPr>
        <p:txBody>
          <a:bodyPr/>
          <a:lstStyle/>
          <a:p>
            <a:endParaRPr lang="en-US"/>
          </a:p>
        </p:txBody>
      </p:sp>
      <p:sp>
        <p:nvSpPr>
          <p:cNvPr id="4" name="Text 2"/>
          <p:cNvSpPr/>
          <p:nvPr/>
        </p:nvSpPr>
        <p:spPr>
          <a:xfrm>
            <a:off x="731520" y="868680"/>
            <a:ext cx="7680960" cy="457200"/>
          </a:xfrm>
          <a:prstGeom prst="rect">
            <a:avLst/>
          </a:prstGeom>
          <a:noFill/>
          <a:ln/>
        </p:spPr>
        <p:txBody>
          <a:bodyPr wrap="square" lIns="0" tIns="0" rIns="0" bIns="0" rtlCol="0" anchor="ctr"/>
          <a:lstStyle/>
          <a:p>
            <a:pPr marL="0" indent="0">
              <a:buNone/>
            </a:pPr>
            <a:r>
              <a:rPr lang="en-US" sz="2200" dirty="0">
                <a:solidFill>
                  <a:srgbClr val="D8D6CE"/>
                </a:solidFill>
                <a:latin typeface="Georgia" pitchFamily="34" charset="0"/>
                <a:ea typeface="Georgia" pitchFamily="34" charset="-122"/>
                <a:cs typeface="Georgia" pitchFamily="34" charset="-120"/>
              </a:rPr>
              <a:t>The cat sat on the  </a:t>
            </a:r>
            <a:r>
              <a:rPr lang="en-US" sz="2200" b="1" dirty="0">
                <a:solidFill>
                  <a:srgbClr val="E0A458"/>
                </a:solidFill>
                <a:latin typeface="Georgia" pitchFamily="34" charset="0"/>
                <a:ea typeface="Georgia" pitchFamily="34" charset="-122"/>
                <a:cs typeface="Georgia" pitchFamily="34" charset="-120"/>
              </a:rPr>
              <a:t>[???]</a:t>
            </a:r>
            <a:endParaRPr lang="en-US" sz="2200" dirty="0"/>
          </a:p>
        </p:txBody>
      </p:sp>
      <p:sp>
        <p:nvSpPr>
          <p:cNvPr id="5" name="Text 3"/>
          <p:cNvSpPr/>
          <p:nvPr/>
        </p:nvSpPr>
        <p:spPr>
          <a:xfrm>
            <a:off x="731520" y="1371600"/>
            <a:ext cx="7680960" cy="41148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If you can predict the next word is "mat" with 90% confidence, you only need −log₂(0.9) ≈ 0.15 bits to encode it — instead of ~11 bits for a random word.</a:t>
            </a:r>
            <a:endParaRPr lang="en-US" sz="1300"/>
          </a:p>
        </p:txBody>
      </p:sp>
      <p:sp>
        <p:nvSpPr>
          <p:cNvPr id="6" name="Shape 4"/>
          <p:cNvSpPr/>
          <p:nvPr/>
        </p:nvSpPr>
        <p:spPr>
          <a:xfrm>
            <a:off x="548640" y="2377440"/>
            <a:ext cx="3566160" cy="1828800"/>
          </a:xfrm>
          <a:prstGeom prst="rect">
            <a:avLst/>
          </a:prstGeom>
          <a:solidFill>
            <a:srgbClr val="222731"/>
          </a:solidFill>
          <a:ln/>
          <a:effectLst/>
        </p:spPr>
        <p:txBody>
          <a:bodyPr/>
          <a:lstStyle/>
          <a:p>
            <a:endParaRPr lang="en-US"/>
          </a:p>
        </p:txBody>
      </p:sp>
      <p:sp>
        <p:nvSpPr>
          <p:cNvPr id="7" name="Text 5"/>
          <p:cNvSpPr/>
          <p:nvPr/>
        </p:nvSpPr>
        <p:spPr>
          <a:xfrm>
            <a:off x="548640" y="2514600"/>
            <a:ext cx="3566160" cy="457200"/>
          </a:xfrm>
          <a:prstGeom prst="rect">
            <a:avLst/>
          </a:prstGeom>
          <a:noFill/>
          <a:ln/>
        </p:spPr>
        <p:txBody>
          <a:bodyPr wrap="square" lIns="0" tIns="0" rIns="0" bIns="0" rtlCol="0" anchor="ctr"/>
          <a:lstStyle/>
          <a:p>
            <a:pPr marL="0" indent="0" algn="ctr">
              <a:buNone/>
            </a:pPr>
            <a:r>
              <a:rPr lang="en-US" sz="1800" b="1">
                <a:solidFill>
                  <a:srgbClr val="7FB69E"/>
                </a:solidFill>
                <a:latin typeface="Georgia" pitchFamily="34" charset="0"/>
                <a:ea typeface="Georgia" pitchFamily="34" charset="-122"/>
                <a:cs typeface="Georgia" pitchFamily="34" charset="-120"/>
              </a:rPr>
              <a:t>Better prediction</a:t>
            </a:r>
            <a:endParaRPr lang="en-US" sz="1800"/>
          </a:p>
        </p:txBody>
      </p:sp>
      <p:sp>
        <p:nvSpPr>
          <p:cNvPr id="8" name="Text 6"/>
          <p:cNvSpPr/>
          <p:nvPr/>
        </p:nvSpPr>
        <p:spPr>
          <a:xfrm>
            <a:off x="731520" y="2971800"/>
            <a:ext cx="3200400" cy="1005840"/>
          </a:xfrm>
          <a:prstGeom prst="rect">
            <a:avLst/>
          </a:prstGeom>
          <a:noFill/>
          <a:ln/>
        </p:spPr>
        <p:txBody>
          <a:bodyPr wrap="square" lIns="0" tIns="0" rIns="0" bIns="0" rtlCol="0" anchor="ctr"/>
          <a:lstStyle/>
          <a:p>
            <a:pPr marL="0" indent="0" algn="ctr">
              <a:buNone/>
            </a:pPr>
            <a:r>
              <a:rPr lang="en-US" sz="1400">
                <a:solidFill>
                  <a:srgbClr val="D8D6CE"/>
                </a:solidFill>
                <a:latin typeface="Calibri" pitchFamily="34" charset="0"/>
                <a:ea typeface="Calibri" pitchFamily="34" charset="-122"/>
                <a:cs typeface="Calibri" pitchFamily="34" charset="-120"/>
              </a:rPr>
              <a:t>Higher probability assigned</a:t>
            </a:r>
            <a:endParaRPr lang="en-US" sz="1400"/>
          </a:p>
          <a:p>
            <a:pPr marL="0" indent="0" algn="ctr">
              <a:buNone/>
            </a:pPr>
            <a:r>
              <a:rPr lang="en-US" sz="1400">
                <a:solidFill>
                  <a:srgbClr val="D8D6CE"/>
                </a:solidFill>
                <a:latin typeface="Calibri" pitchFamily="34" charset="0"/>
                <a:ea typeface="Calibri" pitchFamily="34" charset="-122"/>
                <a:cs typeface="Calibri" pitchFamily="34" charset="-120"/>
              </a:rPr>
              <a:t>to the correct next token</a:t>
            </a:r>
            <a:endParaRPr lang="en-US" sz="1400"/>
          </a:p>
          <a:p>
            <a:pPr marL="0" indent="0" algn="ctr">
              <a:buNone/>
            </a:pPr>
            <a:r>
              <a:rPr lang="en-US" sz="1400">
                <a:solidFill>
                  <a:srgbClr val="D8D6CE"/>
                </a:solidFill>
                <a:latin typeface="Calibri" pitchFamily="34" charset="0"/>
                <a:ea typeface="Calibri" pitchFamily="34" charset="-122"/>
                <a:cs typeface="Calibri" pitchFamily="34" charset="-120"/>
              </a:rPr>
              <a:t>→ lower cross-entropy loss</a:t>
            </a:r>
            <a:endParaRPr lang="en-US" sz="1400"/>
          </a:p>
        </p:txBody>
      </p:sp>
      <p:sp>
        <p:nvSpPr>
          <p:cNvPr id="9" name="Text 7"/>
          <p:cNvSpPr/>
          <p:nvPr/>
        </p:nvSpPr>
        <p:spPr>
          <a:xfrm>
            <a:off x="4114800" y="2651760"/>
            <a:ext cx="914400" cy="1280160"/>
          </a:xfrm>
          <a:prstGeom prst="rect">
            <a:avLst/>
          </a:prstGeom>
          <a:noFill/>
          <a:ln/>
        </p:spPr>
        <p:txBody>
          <a:bodyPr wrap="square" lIns="0" tIns="0" rIns="0" bIns="0" rtlCol="0" anchor="ctr"/>
          <a:lstStyle/>
          <a:p>
            <a:pPr marL="0" indent="0" algn="ctr">
              <a:buNone/>
            </a:pPr>
            <a:r>
              <a:rPr lang="en-US" sz="4800">
                <a:solidFill>
                  <a:srgbClr val="E0A458"/>
                </a:solidFill>
                <a:latin typeface="Georgia" pitchFamily="34" charset="0"/>
                <a:ea typeface="Georgia" pitchFamily="34" charset="-122"/>
                <a:cs typeface="Georgia" pitchFamily="34" charset="-120"/>
              </a:rPr>
              <a:t>≡</a:t>
            </a:r>
            <a:endParaRPr lang="en-US" sz="4800"/>
          </a:p>
        </p:txBody>
      </p:sp>
      <p:sp>
        <p:nvSpPr>
          <p:cNvPr id="10" name="Shape 8"/>
          <p:cNvSpPr/>
          <p:nvPr/>
        </p:nvSpPr>
        <p:spPr>
          <a:xfrm>
            <a:off x="5029200" y="2377440"/>
            <a:ext cx="3566160" cy="1828800"/>
          </a:xfrm>
          <a:prstGeom prst="rect">
            <a:avLst/>
          </a:prstGeom>
          <a:solidFill>
            <a:srgbClr val="222731"/>
          </a:solidFill>
          <a:ln/>
          <a:effectLst/>
        </p:spPr>
        <p:txBody>
          <a:bodyPr/>
          <a:lstStyle/>
          <a:p>
            <a:endParaRPr lang="en-US"/>
          </a:p>
        </p:txBody>
      </p:sp>
      <p:sp>
        <p:nvSpPr>
          <p:cNvPr id="11" name="Text 9"/>
          <p:cNvSpPr/>
          <p:nvPr/>
        </p:nvSpPr>
        <p:spPr>
          <a:xfrm>
            <a:off x="5029200" y="2514600"/>
            <a:ext cx="3566160" cy="457200"/>
          </a:xfrm>
          <a:prstGeom prst="rect">
            <a:avLst/>
          </a:prstGeom>
          <a:noFill/>
          <a:ln/>
        </p:spPr>
        <p:txBody>
          <a:bodyPr wrap="square" lIns="0" tIns="0" rIns="0" bIns="0" rtlCol="0" anchor="ctr"/>
          <a:lstStyle/>
          <a:p>
            <a:pPr marL="0" indent="0" algn="ctr">
              <a:buNone/>
            </a:pPr>
            <a:r>
              <a:rPr lang="en-US" sz="1800" b="1">
                <a:solidFill>
                  <a:srgbClr val="7FB69E"/>
                </a:solidFill>
                <a:latin typeface="Georgia" pitchFamily="34" charset="0"/>
                <a:ea typeface="Georgia" pitchFamily="34" charset="-122"/>
                <a:cs typeface="Georgia" pitchFamily="34" charset="-120"/>
              </a:rPr>
              <a:t>Better compression</a:t>
            </a:r>
            <a:endParaRPr lang="en-US" sz="1800"/>
          </a:p>
        </p:txBody>
      </p:sp>
      <p:sp>
        <p:nvSpPr>
          <p:cNvPr id="12" name="Text 10"/>
          <p:cNvSpPr/>
          <p:nvPr/>
        </p:nvSpPr>
        <p:spPr>
          <a:xfrm>
            <a:off x="5212080" y="2971800"/>
            <a:ext cx="3200400" cy="1005840"/>
          </a:xfrm>
          <a:prstGeom prst="rect">
            <a:avLst/>
          </a:prstGeom>
          <a:noFill/>
          <a:ln/>
        </p:spPr>
        <p:txBody>
          <a:bodyPr wrap="square" lIns="0" tIns="0" rIns="0" bIns="0" rtlCol="0" anchor="ctr"/>
          <a:lstStyle/>
          <a:p>
            <a:pPr marL="0" indent="0" algn="ctr">
              <a:buNone/>
            </a:pPr>
            <a:r>
              <a:rPr lang="en-US" sz="1400">
                <a:solidFill>
                  <a:srgbClr val="D8D6CE"/>
                </a:solidFill>
                <a:latin typeface="Calibri" pitchFamily="34" charset="0"/>
                <a:ea typeface="Calibri" pitchFamily="34" charset="-122"/>
                <a:cs typeface="Calibri" pitchFamily="34" charset="-120"/>
              </a:rPr>
              <a:t>Fewer bits needed to</a:t>
            </a:r>
            <a:endParaRPr lang="en-US" sz="1400"/>
          </a:p>
          <a:p>
            <a:pPr marL="0" indent="0" algn="ctr">
              <a:buNone/>
            </a:pPr>
            <a:r>
              <a:rPr lang="en-US" sz="1400">
                <a:solidFill>
                  <a:srgbClr val="D8D6CE"/>
                </a:solidFill>
                <a:latin typeface="Calibri" pitchFamily="34" charset="0"/>
                <a:ea typeface="Calibri" pitchFamily="34" charset="-122"/>
                <a:cs typeface="Calibri" pitchFamily="34" charset="-120"/>
              </a:rPr>
              <a:t>encode each symbol</a:t>
            </a:r>
            <a:endParaRPr lang="en-US" sz="1400"/>
          </a:p>
          <a:p>
            <a:pPr marL="0" indent="0" algn="ctr">
              <a:buNone/>
            </a:pPr>
            <a:r>
              <a:rPr lang="en-US" sz="1400">
                <a:solidFill>
                  <a:srgbClr val="D8D6CE"/>
                </a:solidFill>
                <a:latin typeface="Calibri" pitchFamily="34" charset="0"/>
                <a:ea typeface="Calibri" pitchFamily="34" charset="-122"/>
                <a:cs typeface="Calibri" pitchFamily="34" charset="-120"/>
              </a:rPr>
              <a:t>→ smaller compressed file</a:t>
            </a:r>
            <a:endParaRPr lang="en-US" sz="1400"/>
          </a:p>
        </p:txBody>
      </p:sp>
      <p:sp>
        <p:nvSpPr>
          <p:cNvPr id="13" name="Text 11"/>
          <p:cNvSpPr/>
          <p:nvPr/>
        </p:nvSpPr>
        <p:spPr>
          <a:xfrm>
            <a:off x="548640" y="4663440"/>
            <a:ext cx="8229600" cy="365760"/>
          </a:xfrm>
          <a:prstGeom prst="rect">
            <a:avLst/>
          </a:prstGeom>
          <a:noFill/>
          <a:ln/>
        </p:spPr>
        <p:txBody>
          <a:bodyPr wrap="square" lIns="0" tIns="0" rIns="0" bIns="0" rtlCol="0" anchor="ctr"/>
          <a:lstStyle/>
          <a:p>
            <a:pPr marL="0" indent="0">
              <a:buNone/>
            </a:pPr>
            <a:r>
              <a:rPr lang="en-US" sz="1300" i="1" dirty="0">
                <a:solidFill>
                  <a:srgbClr val="9AA0A8"/>
                </a:solidFill>
                <a:latin typeface="Calibri" pitchFamily="34" charset="0"/>
                <a:ea typeface="Calibri" pitchFamily="34" charset="-122"/>
                <a:cs typeface="Calibri" pitchFamily="34" charset="-120"/>
              </a:rPr>
              <a:t>Via arithmetic coding, any predictive model becomes a compressor. </a:t>
            </a:r>
            <a:r>
              <a:rPr lang="en-US" sz="1300" i="1" u="sng" dirty="0">
                <a:solidFill>
                  <a:schemeClr val="bg1"/>
                </a:solidFill>
                <a:latin typeface="Calibri" pitchFamily="34" charset="0"/>
                <a:ea typeface="Calibri" pitchFamily="34" charset="-122"/>
                <a:cs typeface="Calibri" pitchFamily="34" charset="-120"/>
              </a:rPr>
              <a:t>This is a mathematical identity, not an analogy</a:t>
            </a:r>
            <a:r>
              <a:rPr lang="en-US" sz="1300" i="1" dirty="0">
                <a:solidFill>
                  <a:srgbClr val="9AA0A8"/>
                </a:solidFill>
                <a:latin typeface="Calibri" pitchFamily="34" charset="0"/>
                <a:ea typeface="Calibri" pitchFamily="34" charset="-122"/>
                <a:cs typeface="Calibri" pitchFamily="34" charset="-120"/>
              </a:rPr>
              <a:t>.</a:t>
            </a:r>
            <a:endParaRPr lang="en-US" sz="1300" dirty="0"/>
          </a:p>
        </p:txBody>
      </p:sp>
      <p:sp>
        <p:nvSpPr>
          <p:cNvPr id="15" name="Text 0">
            <a:extLst>
              <a:ext uri="{FF2B5EF4-FFF2-40B4-BE49-F238E27FC236}">
                <a16:creationId xmlns:a16="http://schemas.microsoft.com/office/drawing/2014/main" id="{88919822-01CD-1610-3045-5507C88806B6}"/>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COMPRESSION</a:t>
            </a:r>
          </a:p>
        </p:txBody>
      </p:sp>
    </p:spTree>
    <p:extLst>
      <p:ext uri="{BB962C8B-B14F-4D97-AF65-F5344CB8AC3E}">
        <p14:creationId xmlns:p14="http://schemas.microsoft.com/office/powerpoint/2010/main" val="9909734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D141F"/>
        </a:solidFill>
        <a:effectLst/>
      </p:bgPr>
    </p:bg>
    <p:spTree>
      <p:nvGrpSpPr>
        <p:cNvPr id="1" name=""/>
        <p:cNvGrpSpPr/>
        <p:nvPr/>
      </p:nvGrpSpPr>
      <p:grpSpPr>
        <a:xfrm>
          <a:off x="0" y="0"/>
          <a:ext cx="0" cy="0"/>
          <a:chOff x="0" y="0"/>
          <a:chExt cx="0" cy="0"/>
        </a:xfrm>
      </p:grpSpPr>
      <p:sp>
        <p:nvSpPr>
          <p:cNvPr id="4" name="Text 1"/>
          <p:cNvSpPr/>
          <p:nvPr/>
        </p:nvSpPr>
        <p:spPr>
          <a:xfrm>
            <a:off x="548640" y="1371600"/>
            <a:ext cx="3657600" cy="365760"/>
          </a:xfrm>
          <a:prstGeom prst="rect">
            <a:avLst/>
          </a:prstGeom>
          <a:noFill/>
          <a:ln/>
        </p:spPr>
        <p:txBody>
          <a:bodyPr wrap="square" lIns="0" tIns="0" rIns="0" bIns="0" rtlCol="0" anchor="ctr"/>
          <a:lstStyle/>
          <a:p>
            <a:pPr marL="0" indent="0">
              <a:buNone/>
            </a:pPr>
            <a:r>
              <a:rPr lang="en-US" sz="1400" b="1" kern="0" spc="600">
                <a:solidFill>
                  <a:srgbClr val="00D4AA"/>
                </a:solidFill>
                <a:latin typeface="Calibri" pitchFamily="34" charset="0"/>
                <a:ea typeface="Calibri" pitchFamily="34" charset="-122"/>
                <a:cs typeface="Calibri" pitchFamily="34" charset="-120"/>
              </a:rPr>
              <a:t>PART 3</a:t>
            </a:r>
            <a:endParaRPr lang="en-US" sz="1400"/>
          </a:p>
        </p:txBody>
      </p:sp>
      <p:sp>
        <p:nvSpPr>
          <p:cNvPr id="5" name="Text 2"/>
          <p:cNvSpPr/>
          <p:nvPr/>
        </p:nvSpPr>
        <p:spPr>
          <a:xfrm>
            <a:off x="548640" y="1828800"/>
            <a:ext cx="7315200" cy="1828800"/>
          </a:xfrm>
          <a:prstGeom prst="rect">
            <a:avLst/>
          </a:prstGeom>
          <a:noFill/>
          <a:ln/>
        </p:spPr>
        <p:txBody>
          <a:bodyPr wrap="square" lIns="0" tIns="0" rIns="0" bIns="0" rtlCol="0" anchor="ctr"/>
          <a:lstStyle/>
          <a:p>
            <a:pPr marL="0" indent="0">
              <a:lnSpc>
                <a:spcPct val="105000"/>
              </a:lnSpc>
              <a:buNone/>
            </a:pPr>
            <a:r>
              <a:rPr lang="en-US" sz="5200" b="1">
                <a:solidFill>
                  <a:srgbClr val="F1F0EA"/>
                </a:solidFill>
                <a:latin typeface="Georgia" pitchFamily="34" charset="0"/>
                <a:ea typeface="Georgia" pitchFamily="34" charset="-122"/>
                <a:cs typeface="Georgia" pitchFamily="34" charset="-120"/>
              </a:rPr>
              <a:t>LLMs </a:t>
            </a:r>
          </a:p>
        </p:txBody>
      </p:sp>
      <p:pic>
        <p:nvPicPr>
          <p:cNvPr id="6" name="Copied Picture 6" descr="Two men with long hair and a person with a beard&#10;&#10;AI-generated content may be incorrect.">
            <a:extLst>
              <a:ext uri="{FF2B5EF4-FFF2-40B4-BE49-F238E27FC236}">
                <a16:creationId xmlns:a16="http://schemas.microsoft.com/office/drawing/2014/main" id="{34D896A2-47F9-393D-6F9F-AF1662F2B8C4}"/>
              </a:ext>
            </a:extLst>
          </p:cNvPr>
          <p:cNvPicPr>
            <a:picLocks noChangeAspect="1"/>
          </p:cNvPicPr>
          <p:nvPr/>
        </p:nvPicPr>
        <p:blipFill>
          <a:blip r:embed="rId3"/>
          <a:stretch>
            <a:fillRect/>
          </a:stretch>
        </p:blipFill>
        <p:spPr>
          <a:xfrm>
            <a:off x="4710793" y="1574800"/>
            <a:ext cx="3696607" cy="2070100"/>
          </a:xfrm>
          <a:prstGeom prst="rect">
            <a:avLst/>
          </a:prstGeom>
        </p:spPr>
      </p:pic>
      <p:sp>
        <p:nvSpPr>
          <p:cNvPr id="2" name="TextBox 1">
            <a:extLst>
              <a:ext uri="{FF2B5EF4-FFF2-40B4-BE49-F238E27FC236}">
                <a16:creationId xmlns:a16="http://schemas.microsoft.com/office/drawing/2014/main" id="{E7950B42-C538-8947-B29C-68F614646493}"/>
              </a:ext>
            </a:extLst>
          </p:cNvPr>
          <p:cNvSpPr txBox="1"/>
          <p:nvPr/>
        </p:nvSpPr>
        <p:spPr>
          <a:xfrm>
            <a:off x="4710793" y="3683000"/>
            <a:ext cx="3696607" cy="406400"/>
          </a:xfrm>
          <a:prstGeom prst="rect">
            <a:avLst/>
          </a:prstGeom>
          <a:solidFill>
            <a:srgbClr val="000000"/>
          </a:solidFill>
        </p:spPr>
        <p:txBody>
          <a:bodyPr vertOverflow="overflow" vert="horz" wrap="square" rtlCol="0" anchor="ctr" anchorCtr="0">
            <a:noAutofit/>
          </a:bodyPr>
          <a:lstStyle/>
          <a:p>
            <a:pPr algn="ctr"/>
            <a:r>
              <a:rPr lang="en-US" sz="1400" b="1" dirty="0">
                <a:solidFill>
                  <a:srgbClr val="FFFFFF"/>
                </a:solidFill>
                <a:latin typeface="Impact"/>
              </a:rPr>
              <a:t>enter: the LLMs</a:t>
            </a:r>
          </a:p>
        </p:txBody>
      </p:sp>
    </p:spTree>
    <p:extLst>
      <p:ext uri="{BB962C8B-B14F-4D97-AF65-F5344CB8AC3E}">
        <p14:creationId xmlns:p14="http://schemas.microsoft.com/office/powerpoint/2010/main" val="4217668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7">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1469570"/>
            <a:ext cx="3840480" cy="1913709"/>
          </a:xfrm>
          <a:prstGeom prst="rect">
            <a:avLst/>
          </a:prstGeom>
          <a:solidFill>
            <a:srgbClr val="222731"/>
          </a:solidFill>
          <a:ln/>
          <a:effectLst/>
        </p:spPr>
        <p:txBody>
          <a:bodyPr/>
          <a:lstStyle/>
          <a:p>
            <a:endParaRPr lang="en-US"/>
          </a:p>
        </p:txBody>
      </p:sp>
      <p:sp>
        <p:nvSpPr>
          <p:cNvPr id="5" name="Text 2"/>
          <p:cNvSpPr/>
          <p:nvPr/>
        </p:nvSpPr>
        <p:spPr>
          <a:xfrm>
            <a:off x="548640" y="2037806"/>
            <a:ext cx="3840480" cy="365760"/>
          </a:xfrm>
          <a:prstGeom prst="rect">
            <a:avLst/>
          </a:prstGeom>
          <a:noFill/>
          <a:ln/>
        </p:spPr>
        <p:txBody>
          <a:bodyPr wrap="square" lIns="0" tIns="0" rIns="0" bIns="0" rtlCol="0" anchor="ctr"/>
          <a:lstStyle/>
          <a:p>
            <a:pPr marL="0" indent="0" algn="ctr">
              <a:buNone/>
            </a:pPr>
            <a:r>
              <a:rPr lang="en-US" sz="1400">
                <a:solidFill>
                  <a:srgbClr val="9AA0A8"/>
                </a:solidFill>
                <a:latin typeface="Calibri" pitchFamily="34" charset="0"/>
                <a:ea typeface="Calibri" pitchFamily="34" charset="-122"/>
                <a:cs typeface="Calibri" pitchFamily="34" charset="-120"/>
              </a:rPr>
              <a:t>Training data</a:t>
            </a:r>
            <a:endParaRPr lang="en-US" sz="1400"/>
          </a:p>
        </p:txBody>
      </p:sp>
      <p:sp>
        <p:nvSpPr>
          <p:cNvPr id="6" name="Text 3"/>
          <p:cNvSpPr/>
          <p:nvPr/>
        </p:nvSpPr>
        <p:spPr>
          <a:xfrm>
            <a:off x="548640" y="2357846"/>
            <a:ext cx="3840480" cy="548640"/>
          </a:xfrm>
          <a:prstGeom prst="rect">
            <a:avLst/>
          </a:prstGeom>
          <a:noFill/>
          <a:ln/>
        </p:spPr>
        <p:txBody>
          <a:bodyPr wrap="square" lIns="0" tIns="0" rIns="0" bIns="0" rtlCol="0" anchor="ctr"/>
          <a:lstStyle/>
          <a:p>
            <a:pPr marL="0" indent="0" algn="ctr">
              <a:buNone/>
            </a:pPr>
            <a:r>
              <a:rPr lang="en-US" sz="2400" b="1">
                <a:solidFill>
                  <a:srgbClr val="E0A458"/>
                </a:solidFill>
                <a:latin typeface="Georgia" pitchFamily="34" charset="0"/>
                <a:ea typeface="Baskerville" panose="02020502070401020303" pitchFamily="18" charset="0"/>
                <a:cs typeface="Didot" panose="02000503000000020003" pitchFamily="2" charset="-79"/>
              </a:rPr>
              <a:t>15 trillion tokens</a:t>
            </a:r>
            <a:endParaRPr lang="en-US" sz="2400"/>
          </a:p>
        </p:txBody>
      </p:sp>
      <p:sp>
        <p:nvSpPr>
          <p:cNvPr id="7" name="Text 4"/>
          <p:cNvSpPr/>
          <p:nvPr/>
        </p:nvSpPr>
        <p:spPr>
          <a:xfrm>
            <a:off x="548640" y="2860766"/>
            <a:ext cx="3840480" cy="365760"/>
          </a:xfrm>
          <a:prstGeom prst="rect">
            <a:avLst/>
          </a:prstGeom>
          <a:noFill/>
          <a:ln/>
        </p:spPr>
        <p:txBody>
          <a:bodyPr wrap="square" lIns="0" tIns="0" rIns="0" bIns="0" rtlCol="0" anchor="ctr"/>
          <a:lstStyle/>
          <a:p>
            <a:pPr marL="0" indent="0" algn="ctr">
              <a:buNone/>
            </a:pPr>
            <a:r>
              <a:rPr lang="en-US" sz="1500">
                <a:solidFill>
                  <a:srgbClr val="D8D6CE"/>
                </a:solidFill>
                <a:latin typeface="Calibri" pitchFamily="34" charset="0"/>
                <a:ea typeface="Calibri" pitchFamily="34" charset="-122"/>
                <a:cs typeface="Calibri" pitchFamily="34" charset="-120"/>
              </a:rPr>
              <a:t>≈ 60 TB of text</a:t>
            </a:r>
            <a:endParaRPr lang="en-US" sz="1500"/>
          </a:p>
        </p:txBody>
      </p:sp>
      <p:sp>
        <p:nvSpPr>
          <p:cNvPr id="8" name="Shape 5"/>
          <p:cNvSpPr/>
          <p:nvPr/>
        </p:nvSpPr>
        <p:spPr>
          <a:xfrm>
            <a:off x="4754880" y="1469570"/>
            <a:ext cx="3840480" cy="1913710"/>
          </a:xfrm>
          <a:prstGeom prst="rect">
            <a:avLst/>
          </a:prstGeom>
          <a:solidFill>
            <a:srgbClr val="222731"/>
          </a:solidFill>
          <a:ln/>
          <a:effectLst/>
        </p:spPr>
        <p:txBody>
          <a:bodyPr/>
          <a:lstStyle/>
          <a:p>
            <a:endParaRPr lang="en-US"/>
          </a:p>
        </p:txBody>
      </p:sp>
      <p:sp>
        <p:nvSpPr>
          <p:cNvPr id="10" name="Text 6"/>
          <p:cNvSpPr/>
          <p:nvPr/>
        </p:nvSpPr>
        <p:spPr>
          <a:xfrm>
            <a:off x="4754880" y="2037806"/>
            <a:ext cx="3840480" cy="365760"/>
          </a:xfrm>
          <a:prstGeom prst="rect">
            <a:avLst/>
          </a:prstGeom>
          <a:noFill/>
          <a:ln/>
        </p:spPr>
        <p:txBody>
          <a:bodyPr wrap="square" lIns="0" tIns="0" rIns="0" bIns="0" rtlCol="0" anchor="ctr"/>
          <a:lstStyle/>
          <a:p>
            <a:pPr marL="0" indent="0" algn="ctr">
              <a:buNone/>
            </a:pPr>
            <a:r>
              <a:rPr lang="en-US" sz="1400">
                <a:solidFill>
                  <a:srgbClr val="9AA0A8"/>
                </a:solidFill>
                <a:latin typeface="Calibri" pitchFamily="34" charset="0"/>
                <a:ea typeface="Calibri" pitchFamily="34" charset="-122"/>
                <a:cs typeface="Calibri" pitchFamily="34" charset="-120"/>
              </a:rPr>
              <a:t>Model weights</a:t>
            </a:r>
            <a:endParaRPr lang="en-US" sz="1400"/>
          </a:p>
        </p:txBody>
      </p:sp>
      <p:sp>
        <p:nvSpPr>
          <p:cNvPr id="11" name="Text 7"/>
          <p:cNvSpPr/>
          <p:nvPr/>
        </p:nvSpPr>
        <p:spPr>
          <a:xfrm>
            <a:off x="4754880" y="2357846"/>
            <a:ext cx="3840480" cy="548640"/>
          </a:xfrm>
          <a:prstGeom prst="rect">
            <a:avLst/>
          </a:prstGeom>
          <a:noFill/>
          <a:ln/>
        </p:spPr>
        <p:txBody>
          <a:bodyPr wrap="square" lIns="0" tIns="0" rIns="0" bIns="0" rtlCol="0" anchor="ctr"/>
          <a:lstStyle/>
          <a:p>
            <a:pPr marL="0" indent="0" algn="ctr">
              <a:buNone/>
            </a:pPr>
            <a:r>
              <a:rPr lang="en-US" sz="2400" b="1">
                <a:solidFill>
                  <a:srgbClr val="7FB69E"/>
                </a:solidFill>
                <a:latin typeface="Georgia" pitchFamily="34" charset="0"/>
                <a:ea typeface="Georgia" pitchFamily="34" charset="-122"/>
                <a:cs typeface="Georgia" pitchFamily="34" charset="-120"/>
              </a:rPr>
              <a:t>8 billion parameters</a:t>
            </a:r>
            <a:endParaRPr lang="en-US" sz="2400"/>
          </a:p>
        </p:txBody>
      </p:sp>
      <p:sp>
        <p:nvSpPr>
          <p:cNvPr id="12" name="Text 8"/>
          <p:cNvSpPr/>
          <p:nvPr/>
        </p:nvSpPr>
        <p:spPr>
          <a:xfrm>
            <a:off x="4754880" y="2860766"/>
            <a:ext cx="3840480" cy="365760"/>
          </a:xfrm>
          <a:prstGeom prst="rect">
            <a:avLst/>
          </a:prstGeom>
          <a:noFill/>
          <a:ln/>
        </p:spPr>
        <p:txBody>
          <a:bodyPr wrap="square" lIns="0" tIns="0" rIns="0" bIns="0" rtlCol="0" anchor="ctr"/>
          <a:lstStyle/>
          <a:p>
            <a:pPr marL="0" indent="0" algn="ctr">
              <a:buNone/>
            </a:pPr>
            <a:r>
              <a:rPr lang="en-US" sz="1500">
                <a:solidFill>
                  <a:srgbClr val="D8D6CE"/>
                </a:solidFill>
                <a:latin typeface="Calibri" pitchFamily="34" charset="0"/>
                <a:ea typeface="Calibri" pitchFamily="34" charset="-122"/>
                <a:cs typeface="Calibri" pitchFamily="34" charset="-120"/>
              </a:rPr>
              <a:t>≈ 16 GB at FP16</a:t>
            </a:r>
            <a:endParaRPr lang="en-US" sz="1500"/>
          </a:p>
        </p:txBody>
      </p:sp>
      <p:sp>
        <p:nvSpPr>
          <p:cNvPr id="13" name="Shape 9"/>
          <p:cNvSpPr/>
          <p:nvPr/>
        </p:nvSpPr>
        <p:spPr>
          <a:xfrm>
            <a:off x="548640" y="3657600"/>
            <a:ext cx="8046720" cy="1188720"/>
          </a:xfrm>
          <a:prstGeom prst="rect">
            <a:avLst/>
          </a:prstGeom>
          <a:solidFill>
            <a:srgbClr val="222731"/>
          </a:solidFill>
          <a:ln/>
          <a:effectLst/>
        </p:spPr>
        <p:txBody>
          <a:bodyPr/>
          <a:lstStyle/>
          <a:p>
            <a:endParaRPr lang="en-US"/>
          </a:p>
        </p:txBody>
      </p:sp>
      <p:sp>
        <p:nvSpPr>
          <p:cNvPr id="14" name="Text 10"/>
          <p:cNvSpPr/>
          <p:nvPr/>
        </p:nvSpPr>
        <p:spPr>
          <a:xfrm>
            <a:off x="1371600" y="3749040"/>
            <a:ext cx="6400800" cy="1005840"/>
          </a:xfrm>
          <a:prstGeom prst="rect">
            <a:avLst/>
          </a:prstGeom>
          <a:noFill/>
          <a:ln/>
        </p:spPr>
        <p:txBody>
          <a:bodyPr wrap="square" lIns="0" tIns="0" rIns="0" bIns="0" rtlCol="0" anchor="ctr"/>
          <a:lstStyle/>
          <a:p>
            <a:pPr marL="0" indent="0" algn="ctr">
              <a:buNone/>
            </a:pPr>
            <a:r>
              <a:rPr lang="en-US" sz="1800">
                <a:solidFill>
                  <a:srgbClr val="D8D6CE"/>
                </a:solidFill>
                <a:latin typeface="Calibri" pitchFamily="34" charset="0"/>
                <a:ea typeface="Calibri" pitchFamily="34" charset="-122"/>
                <a:cs typeface="Calibri" pitchFamily="34" charset="-120"/>
              </a:rPr>
              <a:t>Compression ratio:  </a:t>
            </a:r>
            <a:r>
              <a:rPr lang="en-US" sz="2800" b="1">
                <a:solidFill>
                  <a:srgbClr val="E0A458"/>
                </a:solidFill>
                <a:latin typeface="Georgia" pitchFamily="34" charset="0"/>
                <a:ea typeface="Georgia" pitchFamily="34" charset="-122"/>
                <a:cs typeface="FUTURA MEDIUM" panose="020B0602020204020303" pitchFamily="34" charset="-79"/>
              </a:rPr>
              <a:t>3,750 : 1</a:t>
            </a:r>
            <a:endParaRPr lang="en-US" sz="1800"/>
          </a:p>
        </p:txBody>
      </p:sp>
      <p:pic>
        <p:nvPicPr>
          <p:cNvPr id="15" name="Graphic 15" descr="Database icon"/>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40280" y="1645920"/>
            <a:ext cx="457200" cy="457200"/>
          </a:xfrm>
          <a:prstGeom prst="rect">
            <a:avLst/>
          </a:prstGeom>
        </p:spPr>
      </p:pic>
      <p:pic>
        <p:nvPicPr>
          <p:cNvPr id="16" name="Graphic 16" descr="Brain icon"/>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46520" y="1645920"/>
            <a:ext cx="457200" cy="457200"/>
          </a:xfrm>
          <a:prstGeom prst="rect">
            <a:avLst/>
          </a:prstGeom>
        </p:spPr>
      </p:pic>
      <p:sp>
        <p:nvSpPr>
          <p:cNvPr id="9" name="Text 0">
            <a:extLst>
              <a:ext uri="{FF2B5EF4-FFF2-40B4-BE49-F238E27FC236}">
                <a16:creationId xmlns:a16="http://schemas.microsoft.com/office/drawing/2014/main" id="{9995A6C2-6DED-47F6-C542-D6E1E7A35053}"/>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LLMS</a:t>
            </a:r>
          </a:p>
        </p:txBody>
      </p:sp>
      <p:sp>
        <p:nvSpPr>
          <p:cNvPr id="17" name="Text 1">
            <a:extLst>
              <a:ext uri="{FF2B5EF4-FFF2-40B4-BE49-F238E27FC236}">
                <a16:creationId xmlns:a16="http://schemas.microsoft.com/office/drawing/2014/main" id="{87139649-AFAD-FDD9-00A8-8505FEAA60FB}"/>
              </a:ext>
            </a:extLst>
          </p:cNvPr>
          <p:cNvSpPr/>
          <p:nvPr/>
        </p:nvSpPr>
        <p:spPr>
          <a:xfrm>
            <a:off x="548640" y="640080"/>
            <a:ext cx="8229600" cy="640080"/>
          </a:xfrm>
          <a:prstGeom prst="rect">
            <a:avLst/>
          </a:prstGeom>
          <a:noFill/>
          <a:ln/>
        </p:spPr>
        <p:txBody>
          <a:bodyPr wrap="square" lIns="0" tIns="0" rIns="0" bIns="0" rtlCol="0" anchor="ctr"/>
          <a:lstStyle/>
          <a:p>
            <a:r>
              <a:rPr lang="en-US" sz="3600" b="1">
                <a:solidFill>
                  <a:srgbClr val="FFFFFF"/>
                </a:solidFill>
                <a:latin typeface="Georgia" pitchFamily="34" charset="0"/>
                <a:ea typeface="Georgia" pitchFamily="34" charset="-122"/>
                <a:cs typeface="Georgia" pitchFamily="34" charset="-120"/>
              </a:rPr>
              <a:t>How </a:t>
            </a:r>
            <a:r>
              <a:rPr lang="en-US" sz="3600" b="1">
                <a:solidFill>
                  <a:schemeClr val="accent4">
                    <a:lumMod val="40000"/>
                    <a:lumOff val="60000"/>
                  </a:schemeClr>
                </a:solidFill>
                <a:latin typeface="Georgia" pitchFamily="34" charset="0"/>
                <a:ea typeface="Georgia" pitchFamily="34" charset="-122"/>
                <a:cs typeface="Georgia" pitchFamily="34" charset="-120"/>
              </a:rPr>
              <a:t>big</a:t>
            </a:r>
            <a:r>
              <a:rPr lang="en-US" sz="3600" b="1">
                <a:solidFill>
                  <a:srgbClr val="FFFFFF"/>
                </a:solidFill>
                <a:latin typeface="Georgia" pitchFamily="34" charset="0"/>
                <a:ea typeface="Georgia" pitchFamily="34" charset="-122"/>
                <a:cs typeface="Georgia" pitchFamily="34" charset="-120"/>
              </a:rPr>
              <a:t> are LLMs?</a:t>
            </a:r>
            <a:endParaRPr lang="en-US" sz="3600"/>
          </a:p>
        </p:txBody>
      </p:sp>
      <p:pic>
        <p:nvPicPr>
          <p:cNvPr id="18" name="Copied Picture 18" descr="A dog and a dog&#10;&#10;AI-generated content may be incorrect.">
            <a:extLst>
              <a:ext uri="{FF2B5EF4-FFF2-40B4-BE49-F238E27FC236}">
                <a16:creationId xmlns:a16="http://schemas.microsoft.com/office/drawing/2014/main" id="{14C9D614-0288-BC7A-B1B0-88A3C73C5460}"/>
              </a:ext>
            </a:extLst>
          </p:cNvPr>
          <p:cNvPicPr>
            <a:picLocks noChangeAspect="1"/>
          </p:cNvPicPr>
          <p:nvPr/>
        </p:nvPicPr>
        <p:blipFill>
          <a:blip r:embed="rId7"/>
          <a:stretch>
            <a:fillRect/>
          </a:stretch>
        </p:blipFill>
        <p:spPr>
          <a:xfrm>
            <a:off x="7645400" y="304800"/>
            <a:ext cx="889000" cy="990600"/>
          </a:xfrm>
          <a:prstGeom prst="rect">
            <a:avLst/>
          </a:prstGeom>
        </p:spPr>
      </p:pic>
      <p:sp>
        <p:nvSpPr>
          <p:cNvPr id="2" name="TextBox 1">
            <a:extLst>
              <a:ext uri="{FF2B5EF4-FFF2-40B4-BE49-F238E27FC236}">
                <a16:creationId xmlns:a16="http://schemas.microsoft.com/office/drawing/2014/main" id="{4EF77A63-CA94-6448-99DA-893C043F5611}"/>
              </a:ext>
            </a:extLst>
          </p:cNvPr>
          <p:cNvSpPr txBox="1"/>
          <p:nvPr/>
        </p:nvSpPr>
        <p:spPr>
          <a:xfrm>
            <a:off x="4394200" y="506512"/>
            <a:ext cx="1234633" cy="307777"/>
          </a:xfrm>
          <a:prstGeom prst="rect">
            <a:avLst/>
          </a:prstGeom>
          <a:solidFill>
            <a:srgbClr val="000000"/>
          </a:solidFill>
        </p:spPr>
        <p:txBody>
          <a:bodyPr vertOverflow="overflow" vert="horz" wrap="none" rtlCol="0" anchor="ctr" anchorCtr="0">
            <a:spAutoFit/>
          </a:bodyPr>
          <a:lstStyle/>
          <a:p>
            <a:pPr algn="l"/>
            <a:r>
              <a:rPr lang="en-US" sz="1400" b="1">
                <a:solidFill>
                  <a:srgbClr val="FFFFFF"/>
                </a:solidFill>
                <a:latin typeface="Impact"/>
              </a:rPr>
              <a:t>60 TB → 16 GB</a:t>
            </a:r>
          </a:p>
        </p:txBody>
      </p:sp>
    </p:spTree>
    <p:extLst>
      <p:ext uri="{BB962C8B-B14F-4D97-AF65-F5344CB8AC3E}">
        <p14:creationId xmlns:p14="http://schemas.microsoft.com/office/powerpoint/2010/main" val="876680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8">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1469570"/>
            <a:ext cx="3200400" cy="1913709"/>
          </a:xfrm>
          <a:prstGeom prst="rect">
            <a:avLst/>
          </a:prstGeom>
          <a:solidFill>
            <a:srgbClr val="222731"/>
          </a:solidFill>
          <a:ln/>
          <a:effectLst/>
        </p:spPr>
        <p:txBody>
          <a:bodyPr/>
          <a:lstStyle/>
          <a:p>
            <a:endParaRPr lang="en-US"/>
          </a:p>
        </p:txBody>
      </p:sp>
      <p:sp>
        <p:nvSpPr>
          <p:cNvPr id="4" name="Text 2"/>
          <p:cNvSpPr/>
          <p:nvPr/>
        </p:nvSpPr>
        <p:spPr>
          <a:xfrm>
            <a:off x="548638" y="1714500"/>
            <a:ext cx="3200400" cy="320040"/>
          </a:xfrm>
          <a:prstGeom prst="rect">
            <a:avLst/>
          </a:prstGeom>
          <a:noFill/>
          <a:ln/>
        </p:spPr>
        <p:txBody>
          <a:bodyPr wrap="square" lIns="0" tIns="0" rIns="0" bIns="0" rtlCol="0" anchor="ctr"/>
          <a:lstStyle/>
          <a:p>
            <a:pPr marL="0" indent="0" algn="ctr">
              <a:buNone/>
            </a:pPr>
            <a:r>
              <a:rPr lang="en-US" sz="1300">
                <a:solidFill>
                  <a:srgbClr val="9AA0A8"/>
                </a:solidFill>
                <a:latin typeface="Calibri" pitchFamily="34" charset="0"/>
                <a:ea typeface="Calibri" pitchFamily="34" charset="-122"/>
                <a:cs typeface="Calibri" pitchFamily="34" charset="-120"/>
              </a:rPr>
              <a:t>Stored as</a:t>
            </a:r>
            <a:endParaRPr lang="en-US" sz="1300"/>
          </a:p>
        </p:txBody>
      </p:sp>
      <p:sp>
        <p:nvSpPr>
          <p:cNvPr id="5" name="Text 3"/>
          <p:cNvSpPr/>
          <p:nvPr/>
        </p:nvSpPr>
        <p:spPr>
          <a:xfrm>
            <a:off x="548638" y="2080260"/>
            <a:ext cx="3200400" cy="640080"/>
          </a:xfrm>
          <a:prstGeom prst="rect">
            <a:avLst/>
          </a:prstGeom>
          <a:noFill/>
          <a:ln/>
        </p:spPr>
        <p:txBody>
          <a:bodyPr wrap="square" lIns="0" tIns="0" rIns="0" bIns="0" rtlCol="0" anchor="ctr"/>
          <a:lstStyle/>
          <a:p>
            <a:pPr marL="0" indent="0" algn="ctr">
              <a:buNone/>
            </a:pPr>
            <a:r>
              <a:rPr lang="en-US" sz="4200" b="1">
                <a:solidFill>
                  <a:srgbClr val="C75D5D"/>
                </a:solidFill>
                <a:latin typeface="Georgia" pitchFamily="34" charset="0"/>
                <a:ea typeface="Georgia" pitchFamily="34" charset="-122"/>
                <a:cs typeface="Georgia" pitchFamily="34" charset="-120"/>
              </a:rPr>
              <a:t>16 bits</a:t>
            </a:r>
            <a:endParaRPr lang="en-US" sz="4200"/>
          </a:p>
        </p:txBody>
      </p:sp>
      <p:sp>
        <p:nvSpPr>
          <p:cNvPr id="6" name="Text 4"/>
          <p:cNvSpPr/>
          <p:nvPr/>
        </p:nvSpPr>
        <p:spPr>
          <a:xfrm>
            <a:off x="548638" y="2720340"/>
            <a:ext cx="3200400" cy="320040"/>
          </a:xfrm>
          <a:prstGeom prst="rect">
            <a:avLst/>
          </a:prstGeom>
          <a:noFill/>
          <a:ln/>
        </p:spPr>
        <p:txBody>
          <a:bodyPr wrap="square" lIns="0" tIns="0" rIns="0" bIns="0" rtlCol="0" anchor="ctr"/>
          <a:lstStyle/>
          <a:p>
            <a:pPr marL="0" indent="0" algn="ctr">
              <a:buNone/>
            </a:pPr>
            <a:r>
              <a:rPr lang="en-US" sz="1300">
                <a:solidFill>
                  <a:srgbClr val="D8D6CE"/>
                </a:solidFill>
                <a:latin typeface="Calibri" pitchFamily="34" charset="0"/>
                <a:ea typeface="Calibri" pitchFamily="34" charset="-122"/>
                <a:cs typeface="Calibri" pitchFamily="34" charset="-120"/>
              </a:rPr>
              <a:t>per parameter (FP16)</a:t>
            </a:r>
            <a:endParaRPr lang="en-US" sz="1300"/>
          </a:p>
        </p:txBody>
      </p:sp>
      <p:sp>
        <p:nvSpPr>
          <p:cNvPr id="7" name="Text 5"/>
          <p:cNvSpPr/>
          <p:nvPr/>
        </p:nvSpPr>
        <p:spPr>
          <a:xfrm>
            <a:off x="4206238" y="1988820"/>
            <a:ext cx="731520" cy="731520"/>
          </a:xfrm>
          <a:prstGeom prst="rect">
            <a:avLst/>
          </a:prstGeom>
          <a:noFill/>
          <a:ln/>
        </p:spPr>
        <p:txBody>
          <a:bodyPr wrap="square" lIns="0" tIns="0" rIns="0" bIns="0" rtlCol="0" anchor="ctr"/>
          <a:lstStyle/>
          <a:p>
            <a:pPr marL="0" indent="0" algn="ctr">
              <a:buNone/>
            </a:pPr>
            <a:r>
              <a:rPr lang="en-US" sz="3600">
                <a:solidFill>
                  <a:srgbClr val="E0A458"/>
                </a:solidFill>
                <a:latin typeface="Consolas" pitchFamily="34" charset="0"/>
                <a:ea typeface="Consolas" pitchFamily="34" charset="-122"/>
                <a:cs typeface="Consolas" pitchFamily="34" charset="-120"/>
              </a:rPr>
              <a:t>→</a:t>
            </a:r>
            <a:endParaRPr lang="en-US" sz="3600"/>
          </a:p>
        </p:txBody>
      </p:sp>
      <p:sp>
        <p:nvSpPr>
          <p:cNvPr id="8" name="Shape 6"/>
          <p:cNvSpPr/>
          <p:nvPr/>
        </p:nvSpPr>
        <p:spPr>
          <a:xfrm>
            <a:off x="5394962" y="1469570"/>
            <a:ext cx="3200400" cy="1913709"/>
          </a:xfrm>
          <a:prstGeom prst="rect">
            <a:avLst/>
          </a:prstGeom>
          <a:solidFill>
            <a:srgbClr val="222731"/>
          </a:solidFill>
          <a:ln/>
          <a:effectLst/>
        </p:spPr>
        <p:txBody>
          <a:bodyPr/>
          <a:lstStyle/>
          <a:p>
            <a:endParaRPr lang="en-US"/>
          </a:p>
        </p:txBody>
      </p:sp>
      <p:sp>
        <p:nvSpPr>
          <p:cNvPr id="9" name="Text 7"/>
          <p:cNvSpPr/>
          <p:nvPr/>
        </p:nvSpPr>
        <p:spPr>
          <a:xfrm>
            <a:off x="5394960" y="1714500"/>
            <a:ext cx="3200400" cy="320040"/>
          </a:xfrm>
          <a:prstGeom prst="rect">
            <a:avLst/>
          </a:prstGeom>
          <a:noFill/>
          <a:ln/>
        </p:spPr>
        <p:txBody>
          <a:bodyPr wrap="square" lIns="0" tIns="0" rIns="0" bIns="0" rtlCol="0" anchor="ctr"/>
          <a:lstStyle/>
          <a:p>
            <a:pPr marL="0" indent="0" algn="ctr">
              <a:buNone/>
            </a:pPr>
            <a:r>
              <a:rPr lang="en-US" sz="1300">
                <a:solidFill>
                  <a:srgbClr val="9AA0A8"/>
                </a:solidFill>
                <a:latin typeface="Calibri" pitchFamily="34" charset="0"/>
                <a:ea typeface="Calibri" pitchFamily="34" charset="-122"/>
                <a:cs typeface="Calibri" pitchFamily="34" charset="-120"/>
              </a:rPr>
              <a:t>Actual information</a:t>
            </a:r>
            <a:endParaRPr lang="en-US" sz="1300"/>
          </a:p>
        </p:txBody>
      </p:sp>
      <p:sp>
        <p:nvSpPr>
          <p:cNvPr id="10" name="Text 8"/>
          <p:cNvSpPr/>
          <p:nvPr/>
        </p:nvSpPr>
        <p:spPr>
          <a:xfrm>
            <a:off x="5394960" y="2080260"/>
            <a:ext cx="3200400" cy="640080"/>
          </a:xfrm>
          <a:prstGeom prst="rect">
            <a:avLst/>
          </a:prstGeom>
          <a:noFill/>
          <a:ln/>
        </p:spPr>
        <p:txBody>
          <a:bodyPr wrap="square" lIns="0" tIns="0" rIns="0" bIns="0" rtlCol="0" anchor="ctr"/>
          <a:lstStyle/>
          <a:p>
            <a:pPr marL="0" indent="0" algn="ctr">
              <a:buNone/>
            </a:pPr>
            <a:r>
              <a:rPr lang="en-US" sz="4200" b="1">
                <a:solidFill>
                  <a:srgbClr val="7FB69E"/>
                </a:solidFill>
                <a:latin typeface="Georgia" pitchFamily="34" charset="0"/>
                <a:ea typeface="Georgia" pitchFamily="34" charset="-122"/>
                <a:cs typeface="Georgia" pitchFamily="34" charset="-120"/>
              </a:rPr>
              <a:t>≈ 2 bits</a:t>
            </a:r>
            <a:endParaRPr lang="en-US" sz="4200"/>
          </a:p>
        </p:txBody>
      </p:sp>
      <p:sp>
        <p:nvSpPr>
          <p:cNvPr id="11" name="Text 9"/>
          <p:cNvSpPr/>
          <p:nvPr/>
        </p:nvSpPr>
        <p:spPr>
          <a:xfrm>
            <a:off x="5394960" y="2720340"/>
            <a:ext cx="3200400" cy="320040"/>
          </a:xfrm>
          <a:prstGeom prst="rect">
            <a:avLst/>
          </a:prstGeom>
          <a:noFill/>
          <a:ln/>
        </p:spPr>
        <p:txBody>
          <a:bodyPr wrap="square" lIns="0" tIns="0" rIns="0" bIns="0" rtlCol="0" anchor="ctr"/>
          <a:lstStyle/>
          <a:p>
            <a:pPr marL="0" indent="0" algn="ctr">
              <a:buNone/>
            </a:pPr>
            <a:r>
              <a:rPr lang="en-US" sz="1300">
                <a:solidFill>
                  <a:srgbClr val="D8D6CE"/>
                </a:solidFill>
                <a:latin typeface="Calibri" pitchFamily="34" charset="0"/>
                <a:ea typeface="Calibri" pitchFamily="34" charset="-122"/>
                <a:cs typeface="Calibri" pitchFamily="34" charset="-120"/>
              </a:rPr>
              <a:t>per parameter (measured)</a:t>
            </a:r>
            <a:endParaRPr lang="en-US" sz="1300"/>
          </a:p>
        </p:txBody>
      </p:sp>
      <p:sp>
        <p:nvSpPr>
          <p:cNvPr id="12" name="Shape 10"/>
          <p:cNvSpPr/>
          <p:nvPr/>
        </p:nvSpPr>
        <p:spPr>
          <a:xfrm>
            <a:off x="548640" y="3657600"/>
            <a:ext cx="8046720" cy="1188720"/>
          </a:xfrm>
          <a:prstGeom prst="rect">
            <a:avLst/>
          </a:prstGeom>
          <a:solidFill>
            <a:srgbClr val="222731"/>
          </a:solidFill>
          <a:ln/>
          <a:effectLst/>
        </p:spPr>
        <p:txBody>
          <a:bodyPr/>
          <a:lstStyle/>
          <a:p>
            <a:endParaRPr lang="en-US"/>
          </a:p>
        </p:txBody>
      </p:sp>
      <p:sp>
        <p:nvSpPr>
          <p:cNvPr id="13" name="Text 11"/>
          <p:cNvSpPr/>
          <p:nvPr/>
        </p:nvSpPr>
        <p:spPr>
          <a:xfrm>
            <a:off x="731520" y="3749040"/>
            <a:ext cx="7680960" cy="320040"/>
          </a:xfrm>
          <a:prstGeom prst="rect">
            <a:avLst/>
          </a:prstGeom>
          <a:noFill/>
          <a:ln/>
        </p:spPr>
        <p:txBody>
          <a:bodyPr wrap="square" lIns="0" tIns="0" rIns="0" bIns="0" rtlCol="0" anchor="ctr"/>
          <a:lstStyle/>
          <a:p>
            <a:pPr marL="0" indent="0">
              <a:buNone/>
            </a:pPr>
            <a:r>
              <a:rPr lang="en-US" sz="1400" b="1">
                <a:solidFill>
                  <a:srgbClr val="E0A458"/>
                </a:solidFill>
                <a:latin typeface="Georgia" pitchFamily="34" charset="0"/>
                <a:ea typeface="Georgia" pitchFamily="34" charset="-122"/>
                <a:cs typeface="Georgia" pitchFamily="34" charset="-120"/>
              </a:rPr>
              <a:t>Three independent lines of evidence converge:</a:t>
            </a:r>
            <a:endParaRPr lang="en-US" sz="1400"/>
          </a:p>
        </p:txBody>
      </p:sp>
      <p:sp>
        <p:nvSpPr>
          <p:cNvPr id="14" name="Text 12"/>
          <p:cNvSpPr/>
          <p:nvPr/>
        </p:nvSpPr>
        <p:spPr>
          <a:xfrm>
            <a:off x="731520" y="4114800"/>
            <a:ext cx="7680960" cy="685800"/>
          </a:xfrm>
          <a:prstGeom prst="rect">
            <a:avLst/>
          </a:prstGeom>
          <a:noFill/>
          <a:ln/>
        </p:spPr>
        <p:txBody>
          <a:bodyPr wrap="square" lIns="0" tIns="0" rIns="0" bIns="0" rtlCol="0" anchor="ctr"/>
          <a:lstStyle/>
          <a:p>
            <a:pPr marL="0" indent="0">
              <a:buNone/>
            </a:pPr>
            <a:r>
              <a:rPr lang="en-US" sz="1200" b="1">
                <a:solidFill>
                  <a:srgbClr val="7FB69E"/>
                </a:solidFill>
                <a:latin typeface="Calibri" pitchFamily="34" charset="0"/>
                <a:ea typeface="Calibri" pitchFamily="34" charset="-122"/>
                <a:cs typeface="Calibri" pitchFamily="34" charset="-120"/>
              </a:rPr>
              <a:t>Quantization:  </a:t>
            </a:r>
            <a:r>
              <a:rPr lang="en-US" sz="1200">
                <a:solidFill>
                  <a:srgbClr val="D8D6CE"/>
                </a:solidFill>
                <a:latin typeface="Calibri" pitchFamily="34" charset="0"/>
                <a:ea typeface="Calibri" pitchFamily="34" charset="-122"/>
                <a:cs typeface="Calibri" pitchFamily="34" charset="-120"/>
              </a:rPr>
              <a:t>FP16 → INT4 with &lt;1% quality loss  (Dettmers 2023, 35,000 experiments)</a:t>
            </a:r>
            <a:endParaRPr lang="en-US" sz="1200"/>
          </a:p>
          <a:p>
            <a:pPr marL="0" indent="0">
              <a:buNone/>
            </a:pPr>
            <a:r>
              <a:rPr lang="en-US" sz="1200" b="1">
                <a:solidFill>
                  <a:srgbClr val="7FB69E"/>
                </a:solidFill>
                <a:latin typeface="Calibri" pitchFamily="34" charset="0"/>
                <a:ea typeface="Calibri" pitchFamily="34" charset="-122"/>
                <a:cs typeface="Calibri" pitchFamily="34" charset="-120"/>
              </a:rPr>
              <a:t>Direct measurement:  </a:t>
            </a:r>
            <a:r>
              <a:rPr lang="en-US" sz="1200">
                <a:solidFill>
                  <a:srgbClr val="D8D6CE"/>
                </a:solidFill>
                <a:latin typeface="Calibri" pitchFamily="34" charset="0"/>
                <a:ea typeface="Calibri" pitchFamily="34" charset="-122"/>
                <a:cs typeface="Calibri" pitchFamily="34" charset="-120"/>
              </a:rPr>
              <a:t>Shannon entropy of quantized weights ≈ 2.17 bits  (EntroLLM 2025)</a:t>
            </a:r>
            <a:endParaRPr lang="en-US" sz="1200"/>
          </a:p>
          <a:p>
            <a:pPr marL="0" indent="0">
              <a:buNone/>
            </a:pPr>
            <a:r>
              <a:rPr lang="en-US" sz="1200" b="1">
                <a:solidFill>
                  <a:srgbClr val="7FB69E"/>
                </a:solidFill>
                <a:latin typeface="Calibri" pitchFamily="34" charset="0"/>
                <a:ea typeface="Calibri" pitchFamily="34" charset="-122"/>
                <a:cs typeface="Calibri" pitchFamily="34" charset="-120"/>
              </a:rPr>
              <a:t>Knowledge capacity:  </a:t>
            </a:r>
            <a:r>
              <a:rPr lang="en-US" sz="1200">
                <a:solidFill>
                  <a:srgbClr val="D8D6CE"/>
                </a:solidFill>
                <a:latin typeface="Calibri" pitchFamily="34" charset="0"/>
                <a:ea typeface="Calibri" pitchFamily="34" charset="-122"/>
                <a:cs typeface="Calibri" pitchFamily="34" charset="-120"/>
              </a:rPr>
              <a:t>2 bits of knowledge per parameter  (Allen-Zhu &amp; Li, ICLR 2025)</a:t>
            </a:r>
            <a:endParaRPr lang="en-US" sz="1200"/>
          </a:p>
        </p:txBody>
      </p:sp>
      <p:sp>
        <p:nvSpPr>
          <p:cNvPr id="16" name="Text 0">
            <a:extLst>
              <a:ext uri="{FF2B5EF4-FFF2-40B4-BE49-F238E27FC236}">
                <a16:creationId xmlns:a16="http://schemas.microsoft.com/office/drawing/2014/main" id="{0C750587-B5DA-1983-51E4-901BB06CB55A}"/>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LLMS</a:t>
            </a:r>
          </a:p>
        </p:txBody>
      </p:sp>
      <p:sp>
        <p:nvSpPr>
          <p:cNvPr id="18" name="Text 1">
            <a:extLst>
              <a:ext uri="{FF2B5EF4-FFF2-40B4-BE49-F238E27FC236}">
                <a16:creationId xmlns:a16="http://schemas.microsoft.com/office/drawing/2014/main" id="{0FE0E286-5F36-C60C-68FF-80317B519F4A}"/>
              </a:ext>
            </a:extLst>
          </p:cNvPr>
          <p:cNvSpPr/>
          <p:nvPr/>
        </p:nvSpPr>
        <p:spPr>
          <a:xfrm>
            <a:off x="548640" y="640080"/>
            <a:ext cx="8229600" cy="640080"/>
          </a:xfrm>
          <a:prstGeom prst="rect">
            <a:avLst/>
          </a:prstGeom>
          <a:noFill/>
          <a:ln/>
        </p:spPr>
        <p:txBody>
          <a:bodyPr wrap="square" lIns="0" tIns="0" rIns="0" bIns="0" rtlCol="0" anchor="ctr"/>
          <a:lstStyle/>
          <a:p>
            <a:r>
              <a:rPr lang="en-US" sz="3600" b="1">
                <a:solidFill>
                  <a:srgbClr val="FFFFFF"/>
                </a:solidFill>
                <a:latin typeface="Georgia" pitchFamily="34" charset="0"/>
                <a:ea typeface="Georgia" pitchFamily="34" charset="-122"/>
                <a:cs typeface="Georgia" pitchFamily="34" charset="-120"/>
              </a:rPr>
              <a:t>The 2-bit surprise</a:t>
            </a:r>
            <a:endParaRPr lang="en-US" sz="3600"/>
          </a:p>
        </p:txBody>
      </p:sp>
      <p:pic>
        <p:nvPicPr>
          <p:cNvPr id="19" name="Copied Picture 19" descr="A cartoon character with green eyes&#10;&#10;AI-generated content may be incorrect.">
            <a:extLst>
              <a:ext uri="{FF2B5EF4-FFF2-40B4-BE49-F238E27FC236}">
                <a16:creationId xmlns:a16="http://schemas.microsoft.com/office/drawing/2014/main" id="{47706851-FCBD-5266-C74E-18CED265A2F1}"/>
              </a:ext>
            </a:extLst>
          </p:cNvPr>
          <p:cNvPicPr>
            <a:picLocks noChangeAspect="1"/>
          </p:cNvPicPr>
          <p:nvPr/>
        </p:nvPicPr>
        <p:blipFill>
          <a:blip r:embed="rId3"/>
          <a:stretch>
            <a:fillRect/>
          </a:stretch>
        </p:blipFill>
        <p:spPr>
          <a:xfrm>
            <a:off x="7645400" y="304800"/>
            <a:ext cx="914400" cy="990600"/>
          </a:xfrm>
          <a:prstGeom prst="rect">
            <a:avLst/>
          </a:prstGeom>
        </p:spPr>
      </p:pic>
      <p:sp>
        <p:nvSpPr>
          <p:cNvPr id="2" name="TextBox 1">
            <a:extLst>
              <a:ext uri="{FF2B5EF4-FFF2-40B4-BE49-F238E27FC236}">
                <a16:creationId xmlns:a16="http://schemas.microsoft.com/office/drawing/2014/main" id="{B70959AD-74FF-7D46-8348-5AA2CE47C4CD}"/>
              </a:ext>
            </a:extLst>
          </p:cNvPr>
          <p:cNvSpPr txBox="1"/>
          <p:nvPr/>
        </p:nvSpPr>
        <p:spPr>
          <a:xfrm>
            <a:off x="4318000" y="506512"/>
            <a:ext cx="3304110" cy="307777"/>
          </a:xfrm>
          <a:prstGeom prst="rect">
            <a:avLst/>
          </a:prstGeom>
          <a:solidFill>
            <a:srgbClr val="000000"/>
          </a:solidFill>
        </p:spPr>
        <p:txBody>
          <a:bodyPr vertOverflow="overflow" vert="horz" wrap="none" rtlCol="0" anchor="ctr" anchorCtr="0">
            <a:spAutoFit/>
          </a:bodyPr>
          <a:lstStyle/>
          <a:p>
            <a:pPr algn="l"/>
            <a:r>
              <a:rPr lang="en-US" sz="1400" b="1">
                <a:solidFill>
                  <a:srgbClr val="FFFFFF"/>
                </a:solidFill>
                <a:latin typeface="Impact"/>
              </a:rPr>
              <a:t>16 bits stored. ~2 bits real. The rest? Vibes.</a:t>
            </a:r>
          </a:p>
        </p:txBody>
      </p:sp>
    </p:spTree>
    <p:extLst>
      <p:ext uri="{BB962C8B-B14F-4D97-AF65-F5344CB8AC3E}">
        <p14:creationId xmlns:p14="http://schemas.microsoft.com/office/powerpoint/2010/main" val="11988795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9">
    <p:bg>
      <p:bgPr>
        <a:solidFill>
          <a:srgbClr val="1A1F2A"/>
        </a:solidFill>
        <a:effectLst/>
      </p:bgPr>
    </p:bg>
    <p:spTree>
      <p:nvGrpSpPr>
        <p:cNvPr id="1" name=""/>
        <p:cNvGrpSpPr/>
        <p:nvPr/>
      </p:nvGrpSpPr>
      <p:grpSpPr>
        <a:xfrm>
          <a:off x="0" y="0"/>
          <a:ext cx="0" cy="0"/>
          <a:chOff x="0" y="0"/>
          <a:chExt cx="0" cy="0"/>
        </a:xfrm>
      </p:grpSpPr>
      <p:sp>
        <p:nvSpPr>
          <p:cNvPr id="11" name="Shape 9"/>
          <p:cNvSpPr/>
          <p:nvPr/>
        </p:nvSpPr>
        <p:spPr>
          <a:xfrm>
            <a:off x="548640" y="3931920"/>
            <a:ext cx="8046720" cy="914400"/>
          </a:xfrm>
          <a:prstGeom prst="rect">
            <a:avLst/>
          </a:prstGeom>
          <a:solidFill>
            <a:srgbClr val="222731"/>
          </a:solidFill>
          <a:ln/>
          <a:effectLst/>
        </p:spPr>
        <p:txBody>
          <a:bodyPr/>
          <a:lstStyle/>
          <a:p>
            <a:endParaRPr lang="en-US"/>
          </a:p>
        </p:txBody>
      </p:sp>
      <p:sp>
        <p:nvSpPr>
          <p:cNvPr id="3" name="Shape 1"/>
          <p:cNvSpPr/>
          <p:nvPr/>
        </p:nvSpPr>
        <p:spPr>
          <a:xfrm>
            <a:off x="548639" y="1427934"/>
            <a:ext cx="6080761" cy="615104"/>
          </a:xfrm>
          <a:prstGeom prst="rect">
            <a:avLst/>
          </a:prstGeom>
          <a:solidFill>
            <a:srgbClr val="C75D5D">
              <a:alpha val="80000"/>
            </a:srgbClr>
          </a:solidFill>
          <a:ln w="25400">
            <a:solidFill>
              <a:srgbClr val="C75D5D"/>
            </a:solidFill>
            <a:prstDash val="solid"/>
          </a:ln>
        </p:spPr>
        <p:txBody>
          <a:bodyPr anchor="ctr"/>
          <a:lstStyle/>
          <a:p>
            <a:pPr algn="ctr"/>
            <a:r>
              <a:rPr lang="en-US" b="1">
                <a:solidFill>
                  <a:srgbClr val="F1F0EA"/>
                </a:solidFill>
                <a:latin typeface="Calibri" pitchFamily="34" charset="0"/>
                <a:ea typeface="Calibri" pitchFamily="34" charset="-122"/>
                <a:cs typeface="Calibri" pitchFamily="34" charset="-120"/>
              </a:rPr>
              <a:t>Training data</a:t>
            </a:r>
            <a:br>
              <a:rPr lang="en-US" b="1">
                <a:solidFill>
                  <a:srgbClr val="F1F0EA"/>
                </a:solidFill>
                <a:latin typeface="Calibri" pitchFamily="34" charset="0"/>
                <a:ea typeface="Calibri" pitchFamily="34" charset="-122"/>
                <a:cs typeface="Calibri" pitchFamily="34" charset="-120"/>
              </a:rPr>
            </a:br>
            <a:r>
              <a:rPr lang="en-US" b="1">
                <a:solidFill>
                  <a:srgbClr val="FFB1A7"/>
                </a:solidFill>
                <a:latin typeface="Calibri" pitchFamily="34" charset="0"/>
                <a:ea typeface="Calibri" pitchFamily="34" charset="-122"/>
                <a:cs typeface="Calibri" pitchFamily="34" charset="-120"/>
              </a:rPr>
              <a:t>60 TB</a:t>
            </a:r>
            <a:endParaRPr lang="en-US">
              <a:solidFill>
                <a:srgbClr val="FFB1A7"/>
              </a:solidFill>
            </a:endParaRPr>
          </a:p>
        </p:txBody>
      </p:sp>
      <p:sp>
        <p:nvSpPr>
          <p:cNvPr id="5" name="Shape 3"/>
          <p:cNvSpPr/>
          <p:nvPr/>
        </p:nvSpPr>
        <p:spPr>
          <a:xfrm>
            <a:off x="1531619" y="2190812"/>
            <a:ext cx="4114800" cy="615104"/>
          </a:xfrm>
          <a:prstGeom prst="rect">
            <a:avLst/>
          </a:prstGeom>
          <a:solidFill>
            <a:srgbClr val="E0A458">
              <a:alpha val="80000"/>
            </a:srgbClr>
          </a:solidFill>
          <a:ln w="25400">
            <a:solidFill>
              <a:srgbClr val="E0A458"/>
            </a:solidFill>
            <a:prstDash val="solid"/>
          </a:ln>
        </p:spPr>
        <p:txBody>
          <a:bodyPr anchor="ctr"/>
          <a:lstStyle/>
          <a:p>
            <a:pPr algn="ctr"/>
            <a:r>
              <a:rPr lang="en-US" sz="1600" b="1">
                <a:solidFill>
                  <a:srgbClr val="F1F0EA"/>
                </a:solidFill>
                <a:latin typeface="Calibri" pitchFamily="34" charset="0"/>
                <a:ea typeface="Calibri" pitchFamily="34" charset="-122"/>
                <a:cs typeface="Calibri" pitchFamily="34" charset="-120"/>
              </a:rPr>
              <a:t>Raw weights (FP16)</a:t>
            </a:r>
            <a:br>
              <a:rPr lang="en-US" sz="1600" b="1">
                <a:solidFill>
                  <a:srgbClr val="F1F0EA"/>
                </a:solidFill>
                <a:latin typeface="Calibri" pitchFamily="34" charset="0"/>
                <a:ea typeface="Calibri" pitchFamily="34" charset="-122"/>
                <a:cs typeface="Calibri" pitchFamily="34" charset="-120"/>
              </a:rPr>
            </a:br>
            <a:r>
              <a:rPr lang="en-US" sz="1600" b="1">
                <a:solidFill>
                  <a:schemeClr val="accent4">
                    <a:lumMod val="40000"/>
                    <a:lumOff val="60000"/>
                  </a:schemeClr>
                </a:solidFill>
                <a:latin typeface="Calibri" pitchFamily="34" charset="0"/>
                <a:ea typeface="Calibri" pitchFamily="34" charset="-122"/>
                <a:cs typeface="Calibri" pitchFamily="34" charset="-120"/>
              </a:rPr>
              <a:t>16 GB</a:t>
            </a:r>
            <a:endParaRPr lang="en-US" sz="1600">
              <a:solidFill>
                <a:schemeClr val="accent4">
                  <a:lumMod val="40000"/>
                  <a:lumOff val="60000"/>
                </a:schemeClr>
              </a:solidFill>
            </a:endParaRPr>
          </a:p>
        </p:txBody>
      </p:sp>
      <p:sp>
        <p:nvSpPr>
          <p:cNvPr id="7" name="Shape 5"/>
          <p:cNvSpPr/>
          <p:nvPr/>
        </p:nvSpPr>
        <p:spPr>
          <a:xfrm>
            <a:off x="3040379" y="2922332"/>
            <a:ext cx="1097280" cy="731520"/>
          </a:xfrm>
          <a:prstGeom prst="rect">
            <a:avLst/>
          </a:prstGeom>
          <a:solidFill>
            <a:srgbClr val="7FB69E">
              <a:alpha val="80000"/>
            </a:srgbClr>
          </a:solidFill>
          <a:ln w="25400">
            <a:solidFill>
              <a:srgbClr val="7FB69E"/>
            </a:solidFill>
            <a:prstDash val="solid"/>
          </a:ln>
        </p:spPr>
        <p:txBody>
          <a:bodyPr anchor="ctr"/>
          <a:lstStyle/>
          <a:p>
            <a:pPr algn="ctr"/>
            <a:r>
              <a:rPr lang="en-US" sz="1400" b="1">
                <a:solidFill>
                  <a:srgbClr val="F1F0EA"/>
                </a:solidFill>
                <a:latin typeface="Calibri" pitchFamily="34" charset="0"/>
                <a:ea typeface="Calibri" pitchFamily="34" charset="-122"/>
                <a:cs typeface="Calibri" pitchFamily="34" charset="-120"/>
              </a:rPr>
              <a:t>Effective information    </a:t>
            </a:r>
            <a:r>
              <a:rPr lang="en-US" sz="1400" b="1">
                <a:solidFill>
                  <a:srgbClr val="3BFDB2"/>
                </a:solidFill>
                <a:latin typeface="Calibri" pitchFamily="34" charset="0"/>
                <a:ea typeface="Calibri" pitchFamily="34" charset="-122"/>
                <a:cs typeface="Calibri" pitchFamily="34" charset="-120"/>
              </a:rPr>
              <a:t>~2 GB</a:t>
            </a:r>
            <a:endParaRPr lang="en-US" sz="1400">
              <a:solidFill>
                <a:srgbClr val="3BFDB2"/>
              </a:solidFill>
            </a:endParaRPr>
          </a:p>
        </p:txBody>
      </p:sp>
      <p:sp>
        <p:nvSpPr>
          <p:cNvPr id="9" name="Text 7"/>
          <p:cNvSpPr/>
          <p:nvPr/>
        </p:nvSpPr>
        <p:spPr>
          <a:xfrm>
            <a:off x="6834313" y="1371600"/>
            <a:ext cx="1761048" cy="2258847"/>
          </a:xfrm>
          <a:prstGeom prst="rect">
            <a:avLst/>
          </a:prstGeom>
          <a:solidFill>
            <a:schemeClr val="tx2"/>
          </a:solidFill>
          <a:ln/>
        </p:spPr>
        <p:txBody>
          <a:bodyPr wrap="square" lIns="0" tIns="0" rIns="0" bIns="0" rtlCol="0" anchor="ctr"/>
          <a:lstStyle/>
          <a:p>
            <a:pPr marL="0" indent="0" algn="ctr">
              <a:buNone/>
            </a:pPr>
            <a:r>
              <a:rPr lang="en-US" sz="2400" b="1">
                <a:solidFill>
                  <a:srgbClr val="FFB1A7"/>
                </a:solidFill>
                <a:latin typeface="Georgia" pitchFamily="34" charset="0"/>
                <a:ea typeface="Georgia" pitchFamily="34" charset="-122"/>
                <a:cs typeface="Georgia" pitchFamily="34" charset="-120"/>
              </a:rPr>
              <a:t>30,000 : 1</a:t>
            </a:r>
          </a:p>
          <a:p>
            <a:pPr marL="0" indent="0" algn="ctr">
              <a:buNone/>
            </a:pPr>
            <a:endParaRPr lang="en-US" sz="2400"/>
          </a:p>
        </p:txBody>
      </p:sp>
      <p:sp>
        <p:nvSpPr>
          <p:cNvPr id="10" name="Text 8"/>
          <p:cNvSpPr/>
          <p:nvPr/>
        </p:nvSpPr>
        <p:spPr>
          <a:xfrm>
            <a:off x="6800567" y="2434590"/>
            <a:ext cx="1794793" cy="274320"/>
          </a:xfrm>
          <a:prstGeom prst="rect">
            <a:avLst/>
          </a:prstGeom>
          <a:noFill/>
          <a:ln>
            <a:noFill/>
          </a:ln>
        </p:spPr>
        <p:txBody>
          <a:bodyPr wrap="square" lIns="0" tIns="0" rIns="0" bIns="0" rtlCol="0" anchor="ctr"/>
          <a:lstStyle/>
          <a:p>
            <a:pPr marL="0" indent="0" algn="ctr">
              <a:buNone/>
            </a:pPr>
            <a:r>
              <a:rPr lang="en-US" sz="1100">
                <a:solidFill>
                  <a:schemeClr val="bg1"/>
                </a:solidFill>
                <a:latin typeface="Calibri" pitchFamily="34" charset="0"/>
                <a:ea typeface="Calibri" pitchFamily="34" charset="-122"/>
                <a:cs typeface="Calibri" pitchFamily="34" charset="-120"/>
              </a:rPr>
              <a:t>effective compression</a:t>
            </a:r>
            <a:endParaRPr lang="en-US" sz="1100">
              <a:solidFill>
                <a:schemeClr val="bg1"/>
              </a:solidFill>
            </a:endParaRPr>
          </a:p>
        </p:txBody>
      </p:sp>
      <p:sp>
        <p:nvSpPr>
          <p:cNvPr id="12" name="Text 10"/>
          <p:cNvSpPr/>
          <p:nvPr/>
        </p:nvSpPr>
        <p:spPr>
          <a:xfrm>
            <a:off x="731520" y="4023360"/>
            <a:ext cx="3657600" cy="274320"/>
          </a:xfrm>
          <a:prstGeom prst="rect">
            <a:avLst/>
          </a:prstGeom>
          <a:noFill/>
          <a:ln/>
        </p:spPr>
        <p:txBody>
          <a:bodyPr wrap="square" lIns="0" tIns="0" rIns="0" bIns="0" rtlCol="0" anchor="ctr"/>
          <a:lstStyle/>
          <a:p>
            <a:pPr marL="0" indent="0">
              <a:buNone/>
            </a:pPr>
            <a:r>
              <a:rPr lang="en-US" sz="1400" b="1">
                <a:solidFill>
                  <a:srgbClr val="E0A458"/>
                </a:solidFill>
                <a:latin typeface="Georgia" pitchFamily="34" charset="0"/>
                <a:ea typeface="Georgia" pitchFamily="34" charset="-122"/>
                <a:cs typeface="Georgia" pitchFamily="34" charset="-120"/>
              </a:rPr>
              <a:t>Where did the information go?</a:t>
            </a:r>
            <a:endParaRPr lang="en-US" sz="1400"/>
          </a:p>
        </p:txBody>
      </p:sp>
      <p:sp>
        <p:nvSpPr>
          <p:cNvPr id="13" name="Text 11"/>
          <p:cNvSpPr/>
          <p:nvPr/>
        </p:nvSpPr>
        <p:spPr>
          <a:xfrm>
            <a:off x="731520" y="4343400"/>
            <a:ext cx="7680960" cy="457200"/>
          </a:xfrm>
          <a:prstGeom prst="rect">
            <a:avLst/>
          </a:prstGeom>
          <a:noFill/>
          <a:ln/>
        </p:spPr>
        <p:txBody>
          <a:bodyPr wrap="square" lIns="0" tIns="0" rIns="0" bIns="0" rtlCol="0" anchor="ctr"/>
          <a:lstStyle/>
          <a:p>
            <a:pPr marL="0" indent="0">
              <a:buNone/>
            </a:pPr>
            <a:r>
              <a:rPr lang="en-US" sz="1200">
                <a:solidFill>
                  <a:srgbClr val="D8D6CE"/>
                </a:solidFill>
                <a:latin typeface="Calibri" pitchFamily="34" charset="0"/>
                <a:ea typeface="Calibri" pitchFamily="34" charset="-122"/>
                <a:cs typeface="Calibri" pitchFamily="34" charset="-120"/>
              </a:rPr>
              <a:t>Language is ~80% redundant (Shannon 1951)  ·  Same facts appear thousands of times  ·  Model learns the generating process, not the data  ·  Rare/noisy data is simply discarded</a:t>
            </a:r>
            <a:endParaRPr lang="en-US" sz="1200"/>
          </a:p>
        </p:txBody>
      </p:sp>
      <p:sp>
        <p:nvSpPr>
          <p:cNvPr id="17" name="Text 0">
            <a:extLst>
              <a:ext uri="{FF2B5EF4-FFF2-40B4-BE49-F238E27FC236}">
                <a16:creationId xmlns:a16="http://schemas.microsoft.com/office/drawing/2014/main" id="{6FA9C1BA-4BEC-591B-11BD-362D5B7C593C}"/>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LLMS</a:t>
            </a:r>
          </a:p>
        </p:txBody>
      </p:sp>
      <p:sp>
        <p:nvSpPr>
          <p:cNvPr id="19" name="Text 1">
            <a:extLst>
              <a:ext uri="{FF2B5EF4-FFF2-40B4-BE49-F238E27FC236}">
                <a16:creationId xmlns:a16="http://schemas.microsoft.com/office/drawing/2014/main" id="{3BE0F03E-B6DC-8467-31A7-03B1EAEC59B2}"/>
              </a:ext>
            </a:extLst>
          </p:cNvPr>
          <p:cNvSpPr/>
          <p:nvPr/>
        </p:nvSpPr>
        <p:spPr>
          <a:xfrm>
            <a:off x="548640" y="640080"/>
            <a:ext cx="8229600" cy="640080"/>
          </a:xfrm>
          <a:prstGeom prst="rect">
            <a:avLst/>
          </a:prstGeom>
          <a:noFill/>
          <a:ln/>
        </p:spPr>
        <p:txBody>
          <a:bodyPr wrap="square" lIns="0" tIns="0" rIns="0" bIns="0" rtlCol="0" anchor="ctr"/>
          <a:lstStyle/>
          <a:p>
            <a:r>
              <a:rPr lang="en-US" sz="3600" b="1">
                <a:solidFill>
                  <a:srgbClr val="FFFFFF"/>
                </a:solidFill>
                <a:latin typeface="Georgia" pitchFamily="34" charset="0"/>
                <a:ea typeface="Georgia" pitchFamily="34" charset="-122"/>
                <a:cs typeface="Georgia" pitchFamily="34" charset="-120"/>
              </a:rPr>
              <a:t>How </a:t>
            </a:r>
            <a:r>
              <a:rPr lang="en-US" sz="3600" b="1">
                <a:solidFill>
                  <a:srgbClr val="FFB1A7"/>
                </a:solidFill>
                <a:latin typeface="Georgia" pitchFamily="34" charset="0"/>
                <a:ea typeface="Georgia" pitchFamily="34" charset="-122"/>
                <a:cs typeface="Georgia" pitchFamily="34" charset="-120"/>
              </a:rPr>
              <a:t>compressed</a:t>
            </a:r>
            <a:r>
              <a:rPr lang="en-US" sz="3600" b="1">
                <a:solidFill>
                  <a:srgbClr val="FFFFFF"/>
                </a:solidFill>
                <a:latin typeface="Georgia" pitchFamily="34" charset="0"/>
                <a:ea typeface="Georgia" pitchFamily="34" charset="-122"/>
                <a:cs typeface="Georgia" pitchFamily="34" charset="-120"/>
              </a:rPr>
              <a:t> are LLMs?</a:t>
            </a:r>
            <a:endParaRPr lang="en-US" sz="3600"/>
          </a:p>
        </p:txBody>
      </p:sp>
    </p:spTree>
    <p:extLst>
      <p:ext uri="{BB962C8B-B14F-4D97-AF65-F5344CB8AC3E}">
        <p14:creationId xmlns:p14="http://schemas.microsoft.com/office/powerpoint/2010/main" val="1026602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1">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788671"/>
            <a:ext cx="8046720" cy="1783080"/>
          </a:xfrm>
          <a:prstGeom prst="rect">
            <a:avLst/>
          </a:prstGeom>
          <a:solidFill>
            <a:srgbClr val="222731"/>
          </a:solidFill>
          <a:ln/>
          <a:effectLst/>
        </p:spPr>
        <p:txBody>
          <a:bodyPr/>
          <a:lstStyle/>
          <a:p>
            <a:endParaRPr lang="en-US"/>
          </a:p>
        </p:txBody>
      </p:sp>
      <p:sp>
        <p:nvSpPr>
          <p:cNvPr id="4" name="Text 2"/>
          <p:cNvSpPr/>
          <p:nvPr/>
        </p:nvSpPr>
        <p:spPr>
          <a:xfrm>
            <a:off x="6148834" y="1435465"/>
            <a:ext cx="2227217" cy="914400"/>
          </a:xfrm>
          <a:prstGeom prst="rect">
            <a:avLst/>
          </a:prstGeom>
          <a:noFill/>
          <a:ln/>
        </p:spPr>
        <p:txBody>
          <a:bodyPr wrap="square" lIns="0" tIns="0" rIns="0" bIns="0" rtlCol="0" anchor="ctr"/>
          <a:lstStyle/>
          <a:p>
            <a:pPr marL="0" indent="0" algn="ctr">
              <a:buNone/>
            </a:pPr>
            <a:r>
              <a:rPr lang="en-US" sz="3200" b="1" dirty="0" err="1">
                <a:solidFill>
                  <a:srgbClr val="E0A458"/>
                </a:solidFill>
                <a:latin typeface="Georgia" pitchFamily="34" charset="0"/>
                <a:ea typeface="Georgia" pitchFamily="34" charset="-122"/>
                <a:cs typeface="Georgia" pitchFamily="34" charset="-120"/>
              </a:rPr>
              <a:t>ρ</a:t>
            </a:r>
            <a:r>
              <a:rPr lang="en-US" sz="3200" b="1" dirty="0">
                <a:solidFill>
                  <a:srgbClr val="E0A458"/>
                </a:solidFill>
                <a:latin typeface="Georgia" pitchFamily="34" charset="0"/>
                <a:ea typeface="Georgia" pitchFamily="34" charset="-122"/>
                <a:cs typeface="Georgia" pitchFamily="34" charset="-120"/>
              </a:rPr>
              <a:t>≈−0.93</a:t>
            </a:r>
            <a:endParaRPr lang="en-US" sz="3200" dirty="0"/>
          </a:p>
        </p:txBody>
      </p:sp>
      <p:sp>
        <p:nvSpPr>
          <p:cNvPr id="5" name="Text 3"/>
          <p:cNvSpPr/>
          <p:nvPr/>
        </p:nvSpPr>
        <p:spPr>
          <a:xfrm>
            <a:off x="881239" y="1572625"/>
            <a:ext cx="5267597" cy="640080"/>
          </a:xfrm>
          <a:prstGeom prst="rect">
            <a:avLst/>
          </a:prstGeom>
          <a:noFill/>
          <a:ln/>
        </p:spPr>
        <p:txBody>
          <a:bodyPr wrap="square" lIns="0" tIns="0" rIns="0" bIns="0" rtlCol="0" anchor="ctr"/>
          <a:lstStyle/>
          <a:p>
            <a:pPr marL="0" indent="0" algn="ctr">
              <a:buNone/>
            </a:pPr>
            <a:r>
              <a:rPr lang="en-US" sz="1400">
                <a:solidFill>
                  <a:srgbClr val="D8D6CE"/>
                </a:solidFill>
                <a:latin typeface="Calibri" pitchFamily="34" charset="0"/>
                <a:ea typeface="Calibri" pitchFamily="34" charset="-122"/>
                <a:cs typeface="Calibri" pitchFamily="34" charset="-120"/>
              </a:rPr>
              <a:t>Pearson correlation between compression efficiency (bits per character)</a:t>
            </a:r>
            <a:r>
              <a:rPr lang="en-US" sz="1400"/>
              <a:t> </a:t>
            </a:r>
            <a:r>
              <a:rPr lang="en-US" sz="1400">
                <a:solidFill>
                  <a:srgbClr val="D8D6CE"/>
                </a:solidFill>
                <a:latin typeface="Calibri" pitchFamily="34" charset="0"/>
                <a:ea typeface="Calibri" pitchFamily="34" charset="-122"/>
                <a:cs typeface="Calibri" pitchFamily="34" charset="-120"/>
              </a:rPr>
              <a:t>and benchmark performance across 30+ LLMs</a:t>
            </a:r>
            <a:endParaRPr lang="en-US" sz="1400"/>
          </a:p>
        </p:txBody>
      </p:sp>
      <p:sp>
        <p:nvSpPr>
          <p:cNvPr id="6" name="Text 4"/>
          <p:cNvSpPr/>
          <p:nvPr/>
        </p:nvSpPr>
        <p:spPr>
          <a:xfrm>
            <a:off x="1824485" y="2094051"/>
            <a:ext cx="3381103" cy="237309"/>
          </a:xfrm>
          <a:prstGeom prst="rect">
            <a:avLst/>
          </a:prstGeom>
          <a:noFill/>
          <a:ln/>
        </p:spPr>
        <p:txBody>
          <a:bodyPr wrap="square" lIns="0" tIns="0" rIns="0" bIns="0" rtlCol="0" anchor="ctr"/>
          <a:lstStyle/>
          <a:p>
            <a:pPr marL="0" indent="0" algn="ctr">
              <a:buNone/>
            </a:pPr>
            <a:r>
              <a:rPr lang="en-US" sz="1100" i="1">
                <a:solidFill>
                  <a:srgbClr val="9AA0A8"/>
                </a:solidFill>
                <a:latin typeface="Calibri" pitchFamily="34" charset="0"/>
                <a:ea typeface="Calibri" pitchFamily="34" charset="-122"/>
                <a:cs typeface="Calibri" pitchFamily="34" charset="-120"/>
              </a:rPr>
              <a:t>Huang et al. 2024, COLM</a:t>
            </a:r>
            <a:endParaRPr lang="en-US" sz="1100"/>
          </a:p>
        </p:txBody>
      </p:sp>
      <p:graphicFrame>
        <p:nvGraphicFramePr>
          <p:cNvPr id="7" name="Chart 0"/>
          <p:cNvGraphicFramePr/>
          <p:nvPr/>
        </p:nvGraphicFramePr>
        <p:xfrm>
          <a:off x="548640" y="2695325"/>
          <a:ext cx="8046720" cy="2242435"/>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0">
            <a:extLst>
              <a:ext uri="{FF2B5EF4-FFF2-40B4-BE49-F238E27FC236}">
                <a16:creationId xmlns:a16="http://schemas.microsoft.com/office/drawing/2014/main" id="{18D3A52D-CC52-630D-E08D-A18EAE69C1BC}"/>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LLMS</a:t>
            </a:r>
          </a:p>
        </p:txBody>
      </p:sp>
      <p:sp>
        <p:nvSpPr>
          <p:cNvPr id="11" name="TextBox 10">
            <a:extLst>
              <a:ext uri="{FF2B5EF4-FFF2-40B4-BE49-F238E27FC236}">
                <a16:creationId xmlns:a16="http://schemas.microsoft.com/office/drawing/2014/main" id="{CC06F838-C327-B1E1-320C-DCD577D25E5A}"/>
              </a:ext>
            </a:extLst>
          </p:cNvPr>
          <p:cNvSpPr txBox="1"/>
          <p:nvPr/>
        </p:nvSpPr>
        <p:spPr>
          <a:xfrm>
            <a:off x="1534885" y="912245"/>
            <a:ext cx="6074229" cy="523220"/>
          </a:xfrm>
          <a:prstGeom prst="rect">
            <a:avLst/>
          </a:prstGeom>
          <a:noFill/>
        </p:spPr>
        <p:txBody>
          <a:bodyPr wrap="square">
            <a:spAutoFit/>
          </a:bodyPr>
          <a:lstStyle/>
          <a:p>
            <a:r>
              <a:rPr lang="en-US" sz="2800">
                <a:solidFill>
                  <a:schemeClr val="bg1"/>
                </a:solidFill>
                <a:latin typeface="Georgia" panose="02040502050405020303" pitchFamily="18" charset="0"/>
              </a:rPr>
              <a:t>better compressor </a:t>
            </a:r>
            <a:r>
              <a:rPr lang="en-US" sz="2800">
                <a:solidFill>
                  <a:schemeClr val="accent4">
                    <a:lumMod val="60000"/>
                    <a:lumOff val="40000"/>
                  </a:schemeClr>
                </a:solidFill>
                <a:latin typeface="Georgia" panose="02040502050405020303" pitchFamily="18" charset="0"/>
              </a:rPr>
              <a:t>=</a:t>
            </a:r>
            <a:r>
              <a:rPr lang="en-US" sz="2800">
                <a:solidFill>
                  <a:srgbClr val="3BFDB2"/>
                </a:solidFill>
                <a:latin typeface="Georgia" panose="02040502050405020303" pitchFamily="18" charset="0"/>
              </a:rPr>
              <a:t> </a:t>
            </a:r>
            <a:r>
              <a:rPr lang="en-US" sz="2800">
                <a:solidFill>
                  <a:schemeClr val="bg1"/>
                </a:solidFill>
                <a:latin typeface="Georgia" panose="02040502050405020303" pitchFamily="18" charset="0"/>
              </a:rPr>
              <a:t>smarter model</a:t>
            </a:r>
          </a:p>
        </p:txBody>
      </p:sp>
      <p:pic>
        <p:nvPicPr>
          <p:cNvPr id="12" name="Copied Picture 12" descr="A person in a suit holding a glass of liquid&#10;&#10;AI-generated content may be incorrect.">
            <a:extLst>
              <a:ext uri="{FF2B5EF4-FFF2-40B4-BE49-F238E27FC236}">
                <a16:creationId xmlns:a16="http://schemas.microsoft.com/office/drawing/2014/main" id="{7A9F9ED9-FF93-635B-7F2A-CD306378C4C9}"/>
              </a:ext>
            </a:extLst>
          </p:cNvPr>
          <p:cNvPicPr>
            <a:picLocks noChangeAspect="1"/>
          </p:cNvPicPr>
          <p:nvPr/>
        </p:nvPicPr>
        <p:blipFill>
          <a:blip r:embed="rId4"/>
          <a:stretch>
            <a:fillRect/>
          </a:stretch>
        </p:blipFill>
        <p:spPr>
          <a:xfrm>
            <a:off x="7366000" y="2768600"/>
            <a:ext cx="1092200" cy="1092200"/>
          </a:xfrm>
          <a:prstGeom prst="rect">
            <a:avLst/>
          </a:prstGeom>
        </p:spPr>
      </p:pic>
      <p:sp>
        <p:nvSpPr>
          <p:cNvPr id="2" name="TextBox 1">
            <a:extLst>
              <a:ext uri="{FF2B5EF4-FFF2-40B4-BE49-F238E27FC236}">
                <a16:creationId xmlns:a16="http://schemas.microsoft.com/office/drawing/2014/main" id="{EE908B89-9A3F-F846-954B-A9DC7CC38838}"/>
              </a:ext>
            </a:extLst>
          </p:cNvPr>
          <p:cNvSpPr txBox="1"/>
          <p:nvPr/>
        </p:nvSpPr>
        <p:spPr>
          <a:xfrm>
            <a:off x="7315200" y="3683000"/>
            <a:ext cx="1193800" cy="355600"/>
          </a:xfrm>
          <a:prstGeom prst="rect">
            <a:avLst/>
          </a:prstGeom>
          <a:solidFill>
            <a:srgbClr val="000000"/>
          </a:solidFill>
        </p:spPr>
        <p:txBody>
          <a:bodyPr vertOverflow="overflow" vert="horz" wrap="square" rtlCol="0" anchor="ctr" anchorCtr="0">
            <a:noAutofit/>
          </a:bodyPr>
          <a:lstStyle/>
          <a:p>
            <a:pPr algn="l"/>
            <a:r>
              <a:rPr lang="el-GR" sz="1400" b="1">
                <a:solidFill>
                  <a:srgbClr val="FFFFFF"/>
                </a:solidFill>
                <a:latin typeface="Impact"/>
              </a:rPr>
              <a:t>ρ = −0.93. </a:t>
            </a:r>
            <a:r>
              <a:rPr lang="en-US" sz="1400" b="1">
                <a:solidFill>
                  <a:srgbClr val="FFFFFF"/>
                </a:solidFill>
                <a:latin typeface="Impact"/>
              </a:rPr>
              <a:t>I'll allow it.</a:t>
            </a:r>
          </a:p>
        </p:txBody>
      </p:sp>
    </p:spTree>
    <p:extLst>
      <p:ext uri="{BB962C8B-B14F-4D97-AF65-F5344CB8AC3E}">
        <p14:creationId xmlns:p14="http://schemas.microsoft.com/office/powerpoint/2010/main" val="2976324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0">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1394459"/>
            <a:ext cx="3840480" cy="2140477"/>
          </a:xfrm>
          <a:prstGeom prst="rect">
            <a:avLst/>
          </a:prstGeom>
          <a:solidFill>
            <a:srgbClr val="222731"/>
          </a:solidFill>
          <a:ln/>
          <a:effectLst/>
        </p:spPr>
        <p:txBody>
          <a:bodyPr/>
          <a:lstStyle/>
          <a:p>
            <a:endParaRPr lang="en-US"/>
          </a:p>
        </p:txBody>
      </p:sp>
      <p:sp>
        <p:nvSpPr>
          <p:cNvPr id="4" name="Text 2"/>
          <p:cNvSpPr/>
          <p:nvPr/>
        </p:nvSpPr>
        <p:spPr>
          <a:xfrm>
            <a:off x="548640" y="1571486"/>
            <a:ext cx="3840480" cy="365760"/>
          </a:xfrm>
          <a:prstGeom prst="rect">
            <a:avLst/>
          </a:prstGeom>
          <a:noFill/>
          <a:ln/>
        </p:spPr>
        <p:txBody>
          <a:bodyPr wrap="square" lIns="0" tIns="0" rIns="0" bIns="0" rtlCol="0" anchor="ctr"/>
          <a:lstStyle/>
          <a:p>
            <a:pPr marL="0" indent="0" algn="ctr">
              <a:buNone/>
            </a:pPr>
            <a:r>
              <a:rPr lang="en-US" sz="1400">
                <a:solidFill>
                  <a:srgbClr val="9AA0A8"/>
                </a:solidFill>
                <a:latin typeface="Calibri" pitchFamily="34" charset="0"/>
                <a:ea typeface="Calibri" pitchFamily="34" charset="-122"/>
                <a:cs typeface="Calibri" pitchFamily="34" charset="-120"/>
              </a:rPr>
              <a:t>Shannon's estimate (1951)</a:t>
            </a:r>
            <a:endParaRPr lang="en-US" sz="1400"/>
          </a:p>
        </p:txBody>
      </p:sp>
      <p:sp>
        <p:nvSpPr>
          <p:cNvPr id="5" name="Text 3"/>
          <p:cNvSpPr/>
          <p:nvPr/>
        </p:nvSpPr>
        <p:spPr>
          <a:xfrm>
            <a:off x="548640" y="1840230"/>
            <a:ext cx="3840480" cy="731520"/>
          </a:xfrm>
          <a:prstGeom prst="rect">
            <a:avLst/>
          </a:prstGeom>
          <a:noFill/>
          <a:ln/>
        </p:spPr>
        <p:txBody>
          <a:bodyPr wrap="square" lIns="0" tIns="0" rIns="0" bIns="0" rtlCol="0" anchor="ctr"/>
          <a:lstStyle/>
          <a:p>
            <a:pPr marL="0" indent="0" algn="ctr">
              <a:buNone/>
            </a:pPr>
            <a:r>
              <a:rPr lang="en-US" sz="5600" b="1">
                <a:solidFill>
                  <a:srgbClr val="E0A458"/>
                </a:solidFill>
                <a:latin typeface="Georgia" pitchFamily="34" charset="0"/>
                <a:ea typeface="Georgia" pitchFamily="34" charset="-122"/>
                <a:cs typeface="Georgia" pitchFamily="34" charset="-120"/>
              </a:rPr>
              <a:t>~1.0</a:t>
            </a:r>
            <a:endParaRPr lang="en-US" sz="5600"/>
          </a:p>
        </p:txBody>
      </p:sp>
      <p:sp>
        <p:nvSpPr>
          <p:cNvPr id="6" name="Text 4"/>
          <p:cNvSpPr/>
          <p:nvPr/>
        </p:nvSpPr>
        <p:spPr>
          <a:xfrm>
            <a:off x="548640" y="2571750"/>
            <a:ext cx="3840480" cy="365760"/>
          </a:xfrm>
          <a:prstGeom prst="rect">
            <a:avLst/>
          </a:prstGeom>
          <a:noFill/>
          <a:ln/>
        </p:spPr>
        <p:txBody>
          <a:bodyPr wrap="square" lIns="0" tIns="0" rIns="0" bIns="0" rtlCol="0" anchor="ctr"/>
          <a:lstStyle/>
          <a:p>
            <a:pPr marL="0" indent="0" algn="ctr">
              <a:buNone/>
            </a:pPr>
            <a:r>
              <a:rPr lang="en-US" sz="1600">
                <a:solidFill>
                  <a:srgbClr val="D8D6CE"/>
                </a:solidFill>
                <a:latin typeface="Calibri" pitchFamily="34" charset="0"/>
                <a:ea typeface="Calibri" pitchFamily="34" charset="-122"/>
                <a:cs typeface="Calibri" pitchFamily="34" charset="-120"/>
              </a:rPr>
              <a:t>bits per character</a:t>
            </a:r>
            <a:endParaRPr lang="en-US" sz="1600"/>
          </a:p>
        </p:txBody>
      </p:sp>
      <p:sp>
        <p:nvSpPr>
          <p:cNvPr id="7" name="Text 5"/>
          <p:cNvSpPr/>
          <p:nvPr/>
        </p:nvSpPr>
        <p:spPr>
          <a:xfrm>
            <a:off x="548640" y="2983230"/>
            <a:ext cx="3840480" cy="320040"/>
          </a:xfrm>
          <a:prstGeom prst="rect">
            <a:avLst/>
          </a:prstGeom>
          <a:noFill/>
          <a:ln/>
        </p:spPr>
        <p:txBody>
          <a:bodyPr wrap="square" lIns="0" tIns="0" rIns="0" bIns="0" rtlCol="0" anchor="ctr"/>
          <a:lstStyle/>
          <a:p>
            <a:pPr marL="0" indent="0" algn="ctr">
              <a:buNone/>
            </a:pPr>
            <a:r>
              <a:rPr lang="en-US" sz="1100" i="1">
                <a:solidFill>
                  <a:srgbClr val="9AA0A8"/>
                </a:solidFill>
                <a:latin typeface="Calibri" pitchFamily="34" charset="0"/>
                <a:ea typeface="Calibri" pitchFamily="34" charset="-122"/>
                <a:cs typeface="Calibri" pitchFamily="34" charset="-120"/>
              </a:rPr>
              <a:t>The irreducible entropy of English</a:t>
            </a:r>
            <a:endParaRPr lang="en-US" sz="1100"/>
          </a:p>
        </p:txBody>
      </p:sp>
      <p:sp>
        <p:nvSpPr>
          <p:cNvPr id="8" name="Shape 6"/>
          <p:cNvSpPr/>
          <p:nvPr/>
        </p:nvSpPr>
        <p:spPr>
          <a:xfrm>
            <a:off x="4754880" y="1394459"/>
            <a:ext cx="3840480" cy="2140477"/>
          </a:xfrm>
          <a:prstGeom prst="rect">
            <a:avLst/>
          </a:prstGeom>
          <a:solidFill>
            <a:srgbClr val="222731"/>
          </a:solidFill>
          <a:ln/>
          <a:effectLst/>
        </p:spPr>
        <p:txBody>
          <a:bodyPr/>
          <a:lstStyle/>
          <a:p>
            <a:endParaRPr lang="en-US"/>
          </a:p>
        </p:txBody>
      </p:sp>
      <p:sp>
        <p:nvSpPr>
          <p:cNvPr id="9" name="Text 7"/>
          <p:cNvSpPr/>
          <p:nvPr/>
        </p:nvSpPr>
        <p:spPr>
          <a:xfrm>
            <a:off x="4754880" y="1571486"/>
            <a:ext cx="3840480" cy="365760"/>
          </a:xfrm>
          <a:prstGeom prst="rect">
            <a:avLst/>
          </a:prstGeom>
          <a:noFill/>
          <a:ln/>
        </p:spPr>
        <p:txBody>
          <a:bodyPr wrap="square" lIns="0" tIns="0" rIns="0" bIns="0" rtlCol="0" anchor="ctr"/>
          <a:lstStyle/>
          <a:p>
            <a:pPr marL="0" indent="0" algn="ctr">
              <a:buNone/>
            </a:pPr>
            <a:r>
              <a:rPr lang="en-US" sz="1400">
                <a:solidFill>
                  <a:srgbClr val="9AA0A8"/>
                </a:solidFill>
                <a:latin typeface="Calibri" pitchFamily="34" charset="0"/>
                <a:ea typeface="Calibri" pitchFamily="34" charset="-122"/>
                <a:cs typeface="Calibri" pitchFamily="34" charset="-120"/>
              </a:rPr>
              <a:t>Best LLMs (2024)</a:t>
            </a:r>
            <a:endParaRPr lang="en-US" sz="1400"/>
          </a:p>
        </p:txBody>
      </p:sp>
      <p:sp>
        <p:nvSpPr>
          <p:cNvPr id="10" name="Text 8"/>
          <p:cNvSpPr/>
          <p:nvPr/>
        </p:nvSpPr>
        <p:spPr>
          <a:xfrm>
            <a:off x="4754880" y="1840230"/>
            <a:ext cx="3840480" cy="731520"/>
          </a:xfrm>
          <a:prstGeom prst="rect">
            <a:avLst/>
          </a:prstGeom>
          <a:noFill/>
          <a:ln/>
        </p:spPr>
        <p:txBody>
          <a:bodyPr wrap="square" lIns="0" tIns="0" rIns="0" bIns="0" rtlCol="0" anchor="ctr"/>
          <a:lstStyle/>
          <a:p>
            <a:pPr marL="0" indent="0" algn="ctr">
              <a:buNone/>
            </a:pPr>
            <a:r>
              <a:rPr lang="en-US" sz="5600" b="1">
                <a:solidFill>
                  <a:srgbClr val="7FB69E"/>
                </a:solidFill>
                <a:latin typeface="Georgia" pitchFamily="34" charset="0"/>
                <a:ea typeface="Georgia" pitchFamily="34" charset="-122"/>
                <a:cs typeface="Georgia" pitchFamily="34" charset="-120"/>
              </a:rPr>
              <a:t>~0.9</a:t>
            </a:r>
            <a:endParaRPr lang="en-US" sz="5600"/>
          </a:p>
        </p:txBody>
      </p:sp>
      <p:sp>
        <p:nvSpPr>
          <p:cNvPr id="11" name="Text 9"/>
          <p:cNvSpPr/>
          <p:nvPr/>
        </p:nvSpPr>
        <p:spPr>
          <a:xfrm>
            <a:off x="4754880" y="2571750"/>
            <a:ext cx="3840480" cy="365760"/>
          </a:xfrm>
          <a:prstGeom prst="rect">
            <a:avLst/>
          </a:prstGeom>
          <a:noFill/>
          <a:ln/>
        </p:spPr>
        <p:txBody>
          <a:bodyPr wrap="square" lIns="0" tIns="0" rIns="0" bIns="0" rtlCol="0" anchor="ctr"/>
          <a:lstStyle/>
          <a:p>
            <a:pPr marL="0" indent="0" algn="ctr">
              <a:buNone/>
            </a:pPr>
            <a:r>
              <a:rPr lang="en-US" sz="1600">
                <a:solidFill>
                  <a:srgbClr val="D8D6CE"/>
                </a:solidFill>
                <a:latin typeface="Calibri" pitchFamily="34" charset="0"/>
                <a:ea typeface="Calibri" pitchFamily="34" charset="-122"/>
                <a:cs typeface="Calibri" pitchFamily="34" charset="-120"/>
              </a:rPr>
              <a:t>bits per character</a:t>
            </a:r>
            <a:endParaRPr lang="en-US" sz="1600"/>
          </a:p>
        </p:txBody>
      </p:sp>
      <p:sp>
        <p:nvSpPr>
          <p:cNvPr id="12" name="Text 10"/>
          <p:cNvSpPr/>
          <p:nvPr/>
        </p:nvSpPr>
        <p:spPr>
          <a:xfrm>
            <a:off x="4754880" y="2983230"/>
            <a:ext cx="3840480" cy="320040"/>
          </a:xfrm>
          <a:prstGeom prst="rect">
            <a:avLst/>
          </a:prstGeom>
          <a:noFill/>
          <a:ln/>
        </p:spPr>
        <p:txBody>
          <a:bodyPr wrap="square" lIns="0" tIns="0" rIns="0" bIns="0" rtlCol="0" anchor="ctr"/>
          <a:lstStyle/>
          <a:p>
            <a:pPr marL="0" indent="0" algn="ctr">
              <a:buNone/>
            </a:pPr>
            <a:r>
              <a:rPr lang="en-US" sz="1100" i="1">
                <a:solidFill>
                  <a:srgbClr val="9AA0A8"/>
                </a:solidFill>
                <a:latin typeface="Calibri" pitchFamily="34" charset="0"/>
                <a:ea typeface="Calibri" pitchFamily="34" charset="-122"/>
                <a:cs typeface="Calibri" pitchFamily="34" charset="-120"/>
              </a:rPr>
              <a:t>On wiki text benchmarks</a:t>
            </a:r>
            <a:endParaRPr lang="en-US" sz="1100"/>
          </a:p>
        </p:txBody>
      </p:sp>
      <p:sp>
        <p:nvSpPr>
          <p:cNvPr id="13" name="Shape 11"/>
          <p:cNvSpPr/>
          <p:nvPr/>
        </p:nvSpPr>
        <p:spPr>
          <a:xfrm>
            <a:off x="548640" y="3840480"/>
            <a:ext cx="8046720" cy="1005840"/>
          </a:xfrm>
          <a:prstGeom prst="rect">
            <a:avLst/>
          </a:prstGeom>
          <a:solidFill>
            <a:srgbClr val="222731"/>
          </a:solidFill>
          <a:ln/>
          <a:effectLst/>
        </p:spPr>
        <p:txBody>
          <a:bodyPr/>
          <a:lstStyle/>
          <a:p>
            <a:endParaRPr lang="en-US"/>
          </a:p>
        </p:txBody>
      </p:sp>
      <p:sp>
        <p:nvSpPr>
          <p:cNvPr id="14" name="Text 12"/>
          <p:cNvSpPr/>
          <p:nvPr/>
        </p:nvSpPr>
        <p:spPr>
          <a:xfrm>
            <a:off x="1095050" y="3954780"/>
            <a:ext cx="6953900" cy="777240"/>
          </a:xfrm>
          <a:prstGeom prst="rect">
            <a:avLst/>
          </a:prstGeom>
          <a:noFill/>
          <a:ln/>
        </p:spPr>
        <p:txBody>
          <a:bodyPr wrap="square" lIns="0" tIns="0" rIns="0" bIns="0" rtlCol="0" anchor="ctr"/>
          <a:lstStyle/>
          <a:p>
            <a:pPr marL="0" indent="0" algn="ctr">
              <a:buNone/>
            </a:pPr>
            <a:r>
              <a:rPr lang="en-US" sz="1600" i="1" dirty="0">
                <a:solidFill>
                  <a:srgbClr val="A8CFC0"/>
                </a:solidFill>
                <a:latin typeface="Georgia" pitchFamily="34" charset="0"/>
                <a:ea typeface="Georgia" pitchFamily="34" charset="-122"/>
                <a:cs typeface="Georgia" pitchFamily="34" charset="-120"/>
              </a:rPr>
              <a:t>We are near the fundamental limit of how well English can be predicted.</a:t>
            </a:r>
            <a:endParaRPr lang="en-US" sz="1600" dirty="0"/>
          </a:p>
        </p:txBody>
      </p:sp>
      <p:sp>
        <p:nvSpPr>
          <p:cNvPr id="16" name="Text 0">
            <a:extLst>
              <a:ext uri="{FF2B5EF4-FFF2-40B4-BE49-F238E27FC236}">
                <a16:creationId xmlns:a16="http://schemas.microsoft.com/office/drawing/2014/main" id="{B7986AC6-14D6-627C-1375-43EEF4B180BD}"/>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LLMS</a:t>
            </a:r>
          </a:p>
        </p:txBody>
      </p:sp>
      <p:sp>
        <p:nvSpPr>
          <p:cNvPr id="15" name="Text 1">
            <a:extLst>
              <a:ext uri="{FF2B5EF4-FFF2-40B4-BE49-F238E27FC236}">
                <a16:creationId xmlns:a16="http://schemas.microsoft.com/office/drawing/2014/main" id="{C0C0BCEA-AE10-EF09-EDE6-8F43FBDC9F62}"/>
              </a:ext>
            </a:extLst>
          </p:cNvPr>
          <p:cNvSpPr/>
          <p:nvPr/>
        </p:nvSpPr>
        <p:spPr>
          <a:xfrm>
            <a:off x="548640" y="640080"/>
            <a:ext cx="8229600" cy="640080"/>
          </a:xfrm>
          <a:prstGeom prst="rect">
            <a:avLst/>
          </a:prstGeom>
          <a:noFill/>
          <a:ln/>
        </p:spPr>
        <p:txBody>
          <a:bodyPr wrap="square" lIns="0" tIns="0" rIns="0" bIns="0" rtlCol="0" anchor="ctr"/>
          <a:lstStyle/>
          <a:p>
            <a:r>
              <a:rPr lang="en-US" sz="3600" b="1" dirty="0">
                <a:solidFill>
                  <a:srgbClr val="FFFFFF"/>
                </a:solidFill>
                <a:latin typeface="Georgia" pitchFamily="34" charset="0"/>
                <a:ea typeface="Georgia" pitchFamily="34" charset="-122"/>
                <a:cs typeface="Georgia" pitchFamily="34" charset="-120"/>
              </a:rPr>
              <a:t>The entropy gap</a:t>
            </a:r>
            <a:endParaRPr lang="en-US" sz="3600" dirty="0"/>
          </a:p>
        </p:txBody>
      </p:sp>
      <p:pic>
        <p:nvPicPr>
          <p:cNvPr id="17" name="Copied Picture 17" descr="A skeleton sitting on a bench&#10;&#10;AI-generated content may be incorrect.">
            <a:extLst>
              <a:ext uri="{FF2B5EF4-FFF2-40B4-BE49-F238E27FC236}">
                <a16:creationId xmlns:a16="http://schemas.microsoft.com/office/drawing/2014/main" id="{84E5899F-4381-E7E3-B3FD-377A8DA4BD85}"/>
              </a:ext>
            </a:extLst>
          </p:cNvPr>
          <p:cNvPicPr>
            <a:picLocks noChangeAspect="1"/>
          </p:cNvPicPr>
          <p:nvPr/>
        </p:nvPicPr>
        <p:blipFill>
          <a:blip r:embed="rId3"/>
          <a:stretch>
            <a:fillRect/>
          </a:stretch>
        </p:blipFill>
        <p:spPr>
          <a:xfrm>
            <a:off x="7467600" y="304800"/>
            <a:ext cx="1270000" cy="711200"/>
          </a:xfrm>
          <a:prstGeom prst="rect">
            <a:avLst/>
          </a:prstGeom>
        </p:spPr>
      </p:pic>
      <p:sp>
        <p:nvSpPr>
          <p:cNvPr id="2" name="TextBox 1">
            <a:extLst>
              <a:ext uri="{FF2B5EF4-FFF2-40B4-BE49-F238E27FC236}">
                <a16:creationId xmlns:a16="http://schemas.microsoft.com/office/drawing/2014/main" id="{84699E59-C1A4-A142-BEB8-66C055BFCD04}"/>
              </a:ext>
            </a:extLst>
          </p:cNvPr>
          <p:cNvSpPr txBox="1"/>
          <p:nvPr/>
        </p:nvSpPr>
        <p:spPr>
          <a:xfrm>
            <a:off x="4191000" y="506511"/>
            <a:ext cx="3191386" cy="307777"/>
          </a:xfrm>
          <a:prstGeom prst="rect">
            <a:avLst/>
          </a:prstGeom>
          <a:solidFill>
            <a:srgbClr val="000000"/>
          </a:solidFill>
        </p:spPr>
        <p:txBody>
          <a:bodyPr vertOverflow="overflow" vert="horz" wrap="none" rtlCol="0" anchor="ctr" anchorCtr="0">
            <a:spAutoFit/>
          </a:bodyPr>
          <a:lstStyle/>
          <a:p>
            <a:pPr algn="l"/>
            <a:r>
              <a:rPr lang="en-US" sz="1400" b="1">
                <a:solidFill>
                  <a:srgbClr val="FFFFFF"/>
                </a:solidFill>
                <a:latin typeface="Impact"/>
              </a:rPr>
              <a:t>Shannon, waiting since 1951 to be beaten</a:t>
            </a:r>
          </a:p>
        </p:txBody>
      </p:sp>
    </p:spTree>
    <p:extLst>
      <p:ext uri="{BB962C8B-B14F-4D97-AF65-F5344CB8AC3E}">
        <p14:creationId xmlns:p14="http://schemas.microsoft.com/office/powerpoint/2010/main" val="31753063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8CA29059-A44C-EFC1-CA22-3DF174E22BFB}"/>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9A665C6C-5A67-156A-329F-994DD95B7E2A}"/>
              </a:ext>
            </a:extLst>
          </p:cNvPr>
          <p:cNvSpPr/>
          <p:nvPr/>
        </p:nvSpPr>
        <p:spPr>
          <a:xfrm>
            <a:off x="548640" y="1394459"/>
            <a:ext cx="3840480" cy="2140477"/>
          </a:xfrm>
          <a:prstGeom prst="rect">
            <a:avLst/>
          </a:prstGeom>
          <a:solidFill>
            <a:srgbClr val="222731"/>
          </a:solidFill>
          <a:ln/>
          <a:effectLst/>
        </p:spPr>
        <p:txBody>
          <a:bodyPr/>
          <a:lstStyle/>
          <a:p>
            <a:endParaRPr lang="en-US">
              <a:solidFill>
                <a:schemeClr val="tx2">
                  <a:lumMod val="60000"/>
                  <a:lumOff val="40000"/>
                </a:schemeClr>
              </a:solidFill>
            </a:endParaRPr>
          </a:p>
        </p:txBody>
      </p:sp>
      <p:sp>
        <p:nvSpPr>
          <p:cNvPr id="4" name="Text 2">
            <a:extLst>
              <a:ext uri="{FF2B5EF4-FFF2-40B4-BE49-F238E27FC236}">
                <a16:creationId xmlns:a16="http://schemas.microsoft.com/office/drawing/2014/main" id="{C194D812-EB1A-CAA4-6A20-7D0A617E6D45}"/>
              </a:ext>
            </a:extLst>
          </p:cNvPr>
          <p:cNvSpPr/>
          <p:nvPr/>
        </p:nvSpPr>
        <p:spPr>
          <a:xfrm>
            <a:off x="548640" y="1571486"/>
            <a:ext cx="3840480" cy="365760"/>
          </a:xfrm>
          <a:prstGeom prst="rect">
            <a:avLst/>
          </a:prstGeom>
          <a:noFill/>
          <a:ln/>
        </p:spPr>
        <p:txBody>
          <a:bodyPr wrap="square" lIns="0" tIns="0" rIns="0" bIns="0" rtlCol="0" anchor="ctr"/>
          <a:lstStyle/>
          <a:p>
            <a:pPr marL="0" indent="0" algn="ctr">
              <a:buNone/>
            </a:pPr>
            <a:r>
              <a:rPr lang="en-US" sz="1400" dirty="0">
                <a:solidFill>
                  <a:schemeClr val="tx2">
                    <a:lumMod val="75000"/>
                  </a:schemeClr>
                </a:solidFill>
                <a:latin typeface="Calibri" pitchFamily="34" charset="0"/>
                <a:ea typeface="Calibri" pitchFamily="34" charset="-122"/>
                <a:cs typeface="Calibri" pitchFamily="34" charset="-120"/>
              </a:rPr>
              <a:t>Shannon's estimate (1951)</a:t>
            </a:r>
            <a:endParaRPr lang="en-US" sz="1400" dirty="0">
              <a:solidFill>
                <a:schemeClr val="tx2">
                  <a:lumMod val="75000"/>
                </a:schemeClr>
              </a:solidFill>
            </a:endParaRPr>
          </a:p>
        </p:txBody>
      </p:sp>
      <p:sp>
        <p:nvSpPr>
          <p:cNvPr id="5" name="Text 3">
            <a:extLst>
              <a:ext uri="{FF2B5EF4-FFF2-40B4-BE49-F238E27FC236}">
                <a16:creationId xmlns:a16="http://schemas.microsoft.com/office/drawing/2014/main" id="{25BFF4C0-6D84-5CA8-0B95-69365114AFC5}"/>
              </a:ext>
            </a:extLst>
          </p:cNvPr>
          <p:cNvSpPr/>
          <p:nvPr/>
        </p:nvSpPr>
        <p:spPr>
          <a:xfrm>
            <a:off x="548640" y="1840230"/>
            <a:ext cx="3840480" cy="731520"/>
          </a:xfrm>
          <a:prstGeom prst="rect">
            <a:avLst/>
          </a:prstGeom>
          <a:noFill/>
          <a:ln/>
        </p:spPr>
        <p:txBody>
          <a:bodyPr wrap="square" lIns="0" tIns="0" rIns="0" bIns="0" rtlCol="0" anchor="ctr"/>
          <a:lstStyle/>
          <a:p>
            <a:pPr marL="0" indent="0" algn="ctr">
              <a:buNone/>
            </a:pPr>
            <a:r>
              <a:rPr lang="en-US" sz="5600" b="1" dirty="0">
                <a:solidFill>
                  <a:schemeClr val="tx2">
                    <a:lumMod val="75000"/>
                  </a:schemeClr>
                </a:solidFill>
                <a:latin typeface="Georgia" pitchFamily="34" charset="0"/>
                <a:ea typeface="Georgia" pitchFamily="34" charset="-122"/>
                <a:cs typeface="Georgia" pitchFamily="34" charset="-120"/>
              </a:rPr>
              <a:t>~1.0</a:t>
            </a:r>
            <a:endParaRPr lang="en-US" sz="5600" dirty="0">
              <a:solidFill>
                <a:schemeClr val="tx2">
                  <a:lumMod val="75000"/>
                </a:schemeClr>
              </a:solidFill>
            </a:endParaRPr>
          </a:p>
        </p:txBody>
      </p:sp>
      <p:sp>
        <p:nvSpPr>
          <p:cNvPr id="6" name="Text 4">
            <a:extLst>
              <a:ext uri="{FF2B5EF4-FFF2-40B4-BE49-F238E27FC236}">
                <a16:creationId xmlns:a16="http://schemas.microsoft.com/office/drawing/2014/main" id="{5A973C33-A5CB-F21D-75D2-2D5327C6C710}"/>
              </a:ext>
            </a:extLst>
          </p:cNvPr>
          <p:cNvSpPr/>
          <p:nvPr/>
        </p:nvSpPr>
        <p:spPr>
          <a:xfrm>
            <a:off x="548640" y="2571750"/>
            <a:ext cx="3840480" cy="365760"/>
          </a:xfrm>
          <a:prstGeom prst="rect">
            <a:avLst/>
          </a:prstGeom>
          <a:noFill/>
          <a:ln/>
        </p:spPr>
        <p:txBody>
          <a:bodyPr wrap="square" lIns="0" tIns="0" rIns="0" bIns="0" rtlCol="0" anchor="ctr"/>
          <a:lstStyle/>
          <a:p>
            <a:pPr marL="0" indent="0" algn="ctr">
              <a:buNone/>
            </a:pPr>
            <a:r>
              <a:rPr lang="en-US" sz="1600">
                <a:solidFill>
                  <a:schemeClr val="tx2">
                    <a:lumMod val="75000"/>
                  </a:schemeClr>
                </a:solidFill>
                <a:latin typeface="Calibri" pitchFamily="34" charset="0"/>
                <a:ea typeface="Calibri" pitchFamily="34" charset="-122"/>
                <a:cs typeface="Calibri" pitchFamily="34" charset="-120"/>
              </a:rPr>
              <a:t>bits per character</a:t>
            </a:r>
            <a:endParaRPr lang="en-US" sz="1600">
              <a:solidFill>
                <a:schemeClr val="tx2">
                  <a:lumMod val="75000"/>
                </a:schemeClr>
              </a:solidFill>
            </a:endParaRPr>
          </a:p>
        </p:txBody>
      </p:sp>
      <p:sp>
        <p:nvSpPr>
          <p:cNvPr id="7" name="Text 5">
            <a:extLst>
              <a:ext uri="{FF2B5EF4-FFF2-40B4-BE49-F238E27FC236}">
                <a16:creationId xmlns:a16="http://schemas.microsoft.com/office/drawing/2014/main" id="{1E2D9434-3604-FCF6-71F0-62FE44CBD8D5}"/>
              </a:ext>
            </a:extLst>
          </p:cNvPr>
          <p:cNvSpPr/>
          <p:nvPr/>
        </p:nvSpPr>
        <p:spPr>
          <a:xfrm>
            <a:off x="548640" y="2983230"/>
            <a:ext cx="3840480" cy="320040"/>
          </a:xfrm>
          <a:prstGeom prst="rect">
            <a:avLst/>
          </a:prstGeom>
          <a:noFill/>
          <a:ln/>
        </p:spPr>
        <p:txBody>
          <a:bodyPr wrap="square" lIns="0" tIns="0" rIns="0" bIns="0" rtlCol="0" anchor="ctr"/>
          <a:lstStyle/>
          <a:p>
            <a:pPr marL="0" indent="0" algn="ctr">
              <a:buNone/>
            </a:pPr>
            <a:r>
              <a:rPr lang="en-US" sz="1100" i="1">
                <a:solidFill>
                  <a:schemeClr val="tx2">
                    <a:lumMod val="75000"/>
                  </a:schemeClr>
                </a:solidFill>
                <a:latin typeface="Calibri" pitchFamily="34" charset="0"/>
                <a:ea typeface="Calibri" pitchFamily="34" charset="-122"/>
                <a:cs typeface="Calibri" pitchFamily="34" charset="-120"/>
              </a:rPr>
              <a:t>The irreducible entropy of English</a:t>
            </a:r>
            <a:endParaRPr lang="en-US" sz="1100">
              <a:solidFill>
                <a:schemeClr val="tx2">
                  <a:lumMod val="75000"/>
                </a:schemeClr>
              </a:solidFill>
            </a:endParaRPr>
          </a:p>
        </p:txBody>
      </p:sp>
      <p:sp>
        <p:nvSpPr>
          <p:cNvPr id="8" name="Shape 6">
            <a:extLst>
              <a:ext uri="{FF2B5EF4-FFF2-40B4-BE49-F238E27FC236}">
                <a16:creationId xmlns:a16="http://schemas.microsoft.com/office/drawing/2014/main" id="{8F9CBB02-75FF-6E91-74D5-AB9CC465EDD7}"/>
              </a:ext>
            </a:extLst>
          </p:cNvPr>
          <p:cNvSpPr/>
          <p:nvPr/>
        </p:nvSpPr>
        <p:spPr>
          <a:xfrm>
            <a:off x="4754880" y="1394459"/>
            <a:ext cx="3840480" cy="2140477"/>
          </a:xfrm>
          <a:prstGeom prst="rect">
            <a:avLst/>
          </a:prstGeom>
          <a:solidFill>
            <a:srgbClr val="222731"/>
          </a:solidFill>
          <a:ln/>
          <a:effectLst/>
        </p:spPr>
        <p:txBody>
          <a:bodyPr/>
          <a:lstStyle/>
          <a:p>
            <a:endParaRPr lang="en-US">
              <a:solidFill>
                <a:schemeClr val="tx2">
                  <a:lumMod val="60000"/>
                  <a:lumOff val="40000"/>
                </a:schemeClr>
              </a:solidFill>
            </a:endParaRPr>
          </a:p>
        </p:txBody>
      </p:sp>
      <p:sp>
        <p:nvSpPr>
          <p:cNvPr id="9" name="Text 7">
            <a:extLst>
              <a:ext uri="{FF2B5EF4-FFF2-40B4-BE49-F238E27FC236}">
                <a16:creationId xmlns:a16="http://schemas.microsoft.com/office/drawing/2014/main" id="{978F846D-C104-51C5-1C15-4B391E71BD6B}"/>
              </a:ext>
            </a:extLst>
          </p:cNvPr>
          <p:cNvSpPr/>
          <p:nvPr/>
        </p:nvSpPr>
        <p:spPr>
          <a:xfrm>
            <a:off x="4754880" y="1571486"/>
            <a:ext cx="3840480" cy="365760"/>
          </a:xfrm>
          <a:prstGeom prst="rect">
            <a:avLst/>
          </a:prstGeom>
          <a:noFill/>
          <a:ln/>
        </p:spPr>
        <p:txBody>
          <a:bodyPr wrap="square" lIns="0" tIns="0" rIns="0" bIns="0" rtlCol="0" anchor="ctr"/>
          <a:lstStyle/>
          <a:p>
            <a:pPr marL="0" indent="0" algn="ctr">
              <a:buNone/>
            </a:pPr>
            <a:r>
              <a:rPr lang="en-US" sz="1400" dirty="0">
                <a:solidFill>
                  <a:schemeClr val="tx2">
                    <a:lumMod val="60000"/>
                    <a:lumOff val="40000"/>
                  </a:schemeClr>
                </a:solidFill>
                <a:latin typeface="Calibri" pitchFamily="34" charset="0"/>
                <a:ea typeface="Calibri" pitchFamily="34" charset="-122"/>
                <a:cs typeface="Calibri" pitchFamily="34" charset="-120"/>
              </a:rPr>
              <a:t>Best LLMs (</a:t>
            </a:r>
            <a:r>
              <a:rPr lang="en-US" sz="1400" b="1" u="sng" dirty="0">
                <a:solidFill>
                  <a:schemeClr val="accent4">
                    <a:lumMod val="60000"/>
                    <a:lumOff val="40000"/>
                  </a:schemeClr>
                </a:solidFill>
                <a:latin typeface="Calibri" pitchFamily="34" charset="0"/>
                <a:ea typeface="Calibri" pitchFamily="34" charset="-122"/>
                <a:cs typeface="Calibri" pitchFamily="34" charset="-120"/>
              </a:rPr>
              <a:t>2024</a:t>
            </a:r>
            <a:r>
              <a:rPr lang="en-US" sz="1400" dirty="0">
                <a:solidFill>
                  <a:schemeClr val="tx2">
                    <a:lumMod val="60000"/>
                    <a:lumOff val="40000"/>
                  </a:schemeClr>
                </a:solidFill>
                <a:latin typeface="Calibri" pitchFamily="34" charset="0"/>
                <a:ea typeface="Calibri" pitchFamily="34" charset="-122"/>
                <a:cs typeface="Calibri" pitchFamily="34" charset="-120"/>
              </a:rPr>
              <a:t>)</a:t>
            </a:r>
            <a:endParaRPr lang="en-US" sz="1400" dirty="0">
              <a:solidFill>
                <a:schemeClr val="tx2">
                  <a:lumMod val="60000"/>
                  <a:lumOff val="40000"/>
                </a:schemeClr>
              </a:solidFill>
            </a:endParaRPr>
          </a:p>
        </p:txBody>
      </p:sp>
      <p:sp>
        <p:nvSpPr>
          <p:cNvPr id="10" name="Text 8">
            <a:extLst>
              <a:ext uri="{FF2B5EF4-FFF2-40B4-BE49-F238E27FC236}">
                <a16:creationId xmlns:a16="http://schemas.microsoft.com/office/drawing/2014/main" id="{2E7126ED-3D86-A106-B330-381E07C8898C}"/>
              </a:ext>
            </a:extLst>
          </p:cNvPr>
          <p:cNvSpPr/>
          <p:nvPr/>
        </p:nvSpPr>
        <p:spPr>
          <a:xfrm>
            <a:off x="4754880" y="1840230"/>
            <a:ext cx="3840480" cy="731520"/>
          </a:xfrm>
          <a:prstGeom prst="rect">
            <a:avLst/>
          </a:prstGeom>
          <a:noFill/>
          <a:ln/>
        </p:spPr>
        <p:txBody>
          <a:bodyPr wrap="square" lIns="0" tIns="0" rIns="0" bIns="0" rtlCol="0" anchor="ctr"/>
          <a:lstStyle/>
          <a:p>
            <a:pPr marL="0" indent="0" algn="ctr">
              <a:buNone/>
            </a:pPr>
            <a:r>
              <a:rPr lang="en-US" sz="5600" b="1" dirty="0">
                <a:solidFill>
                  <a:schemeClr val="tx2">
                    <a:lumMod val="75000"/>
                  </a:schemeClr>
                </a:solidFill>
                <a:latin typeface="Georgia" pitchFamily="34" charset="0"/>
                <a:ea typeface="Georgia" pitchFamily="34" charset="-122"/>
                <a:cs typeface="Georgia" pitchFamily="34" charset="-120"/>
              </a:rPr>
              <a:t>~0.9</a:t>
            </a:r>
            <a:endParaRPr lang="en-US" sz="5600" dirty="0">
              <a:solidFill>
                <a:schemeClr val="tx2">
                  <a:lumMod val="75000"/>
                </a:schemeClr>
              </a:solidFill>
            </a:endParaRPr>
          </a:p>
        </p:txBody>
      </p:sp>
      <p:sp>
        <p:nvSpPr>
          <p:cNvPr id="11" name="Text 9">
            <a:extLst>
              <a:ext uri="{FF2B5EF4-FFF2-40B4-BE49-F238E27FC236}">
                <a16:creationId xmlns:a16="http://schemas.microsoft.com/office/drawing/2014/main" id="{63602C20-F613-FD57-1DC3-D8C468C7FC22}"/>
              </a:ext>
            </a:extLst>
          </p:cNvPr>
          <p:cNvSpPr/>
          <p:nvPr/>
        </p:nvSpPr>
        <p:spPr>
          <a:xfrm>
            <a:off x="4754880" y="2571750"/>
            <a:ext cx="3840480" cy="365760"/>
          </a:xfrm>
          <a:prstGeom prst="rect">
            <a:avLst/>
          </a:prstGeom>
          <a:noFill/>
          <a:ln/>
        </p:spPr>
        <p:txBody>
          <a:bodyPr wrap="square" lIns="0" tIns="0" rIns="0" bIns="0" rtlCol="0" anchor="ctr"/>
          <a:lstStyle/>
          <a:p>
            <a:pPr marL="0" indent="0" algn="ctr">
              <a:buNone/>
            </a:pPr>
            <a:r>
              <a:rPr lang="en-US" sz="1600" dirty="0">
                <a:solidFill>
                  <a:schemeClr val="tx2">
                    <a:lumMod val="75000"/>
                  </a:schemeClr>
                </a:solidFill>
                <a:latin typeface="Calibri" pitchFamily="34" charset="0"/>
                <a:ea typeface="Calibri" pitchFamily="34" charset="-122"/>
                <a:cs typeface="Calibri" pitchFamily="34" charset="-120"/>
              </a:rPr>
              <a:t>bits per character</a:t>
            </a:r>
            <a:endParaRPr lang="en-US" sz="1600" dirty="0">
              <a:solidFill>
                <a:schemeClr val="tx2">
                  <a:lumMod val="75000"/>
                </a:schemeClr>
              </a:solidFill>
            </a:endParaRPr>
          </a:p>
        </p:txBody>
      </p:sp>
      <p:sp>
        <p:nvSpPr>
          <p:cNvPr id="12" name="Text 10">
            <a:extLst>
              <a:ext uri="{FF2B5EF4-FFF2-40B4-BE49-F238E27FC236}">
                <a16:creationId xmlns:a16="http://schemas.microsoft.com/office/drawing/2014/main" id="{3317715C-3CC4-A2BE-7E24-7DEF13BF4514}"/>
              </a:ext>
            </a:extLst>
          </p:cNvPr>
          <p:cNvSpPr/>
          <p:nvPr/>
        </p:nvSpPr>
        <p:spPr>
          <a:xfrm>
            <a:off x="4754880" y="2983230"/>
            <a:ext cx="3840480" cy="320040"/>
          </a:xfrm>
          <a:prstGeom prst="rect">
            <a:avLst/>
          </a:prstGeom>
          <a:noFill/>
          <a:ln/>
        </p:spPr>
        <p:txBody>
          <a:bodyPr wrap="square" lIns="0" tIns="0" rIns="0" bIns="0" rtlCol="0" anchor="ctr"/>
          <a:lstStyle/>
          <a:p>
            <a:pPr marL="0" indent="0" algn="ctr">
              <a:buNone/>
            </a:pPr>
            <a:r>
              <a:rPr lang="en-US" sz="1100" i="1">
                <a:solidFill>
                  <a:schemeClr val="tx2">
                    <a:lumMod val="75000"/>
                  </a:schemeClr>
                </a:solidFill>
                <a:latin typeface="Calibri" pitchFamily="34" charset="0"/>
                <a:ea typeface="Calibri" pitchFamily="34" charset="-122"/>
                <a:cs typeface="Calibri" pitchFamily="34" charset="-120"/>
              </a:rPr>
              <a:t>On wiki text benchmarks</a:t>
            </a:r>
            <a:endParaRPr lang="en-US" sz="1100">
              <a:solidFill>
                <a:schemeClr val="tx2">
                  <a:lumMod val="75000"/>
                </a:schemeClr>
              </a:solidFill>
            </a:endParaRPr>
          </a:p>
        </p:txBody>
      </p:sp>
      <p:sp>
        <p:nvSpPr>
          <p:cNvPr id="13" name="Shape 11">
            <a:extLst>
              <a:ext uri="{FF2B5EF4-FFF2-40B4-BE49-F238E27FC236}">
                <a16:creationId xmlns:a16="http://schemas.microsoft.com/office/drawing/2014/main" id="{255BC75F-6107-3C94-2C06-CA567DE0D686}"/>
              </a:ext>
            </a:extLst>
          </p:cNvPr>
          <p:cNvSpPr/>
          <p:nvPr/>
        </p:nvSpPr>
        <p:spPr>
          <a:xfrm>
            <a:off x="548640" y="3840480"/>
            <a:ext cx="8046720" cy="1005840"/>
          </a:xfrm>
          <a:prstGeom prst="rect">
            <a:avLst/>
          </a:prstGeom>
          <a:solidFill>
            <a:srgbClr val="222731"/>
          </a:solidFill>
          <a:ln/>
          <a:effectLst/>
        </p:spPr>
        <p:txBody>
          <a:bodyPr/>
          <a:lstStyle/>
          <a:p>
            <a:endParaRPr lang="en-US">
              <a:solidFill>
                <a:schemeClr val="tx2">
                  <a:lumMod val="60000"/>
                  <a:lumOff val="40000"/>
                </a:schemeClr>
              </a:solidFill>
            </a:endParaRPr>
          </a:p>
        </p:txBody>
      </p:sp>
      <p:sp>
        <p:nvSpPr>
          <p:cNvPr id="14" name="Text 12">
            <a:extLst>
              <a:ext uri="{FF2B5EF4-FFF2-40B4-BE49-F238E27FC236}">
                <a16:creationId xmlns:a16="http://schemas.microsoft.com/office/drawing/2014/main" id="{7E25A392-64B4-EE72-C537-FF2B3BBE28F1}"/>
              </a:ext>
            </a:extLst>
          </p:cNvPr>
          <p:cNvSpPr/>
          <p:nvPr/>
        </p:nvSpPr>
        <p:spPr>
          <a:xfrm>
            <a:off x="548640" y="3954780"/>
            <a:ext cx="8046720" cy="777240"/>
          </a:xfrm>
          <a:prstGeom prst="rect">
            <a:avLst/>
          </a:prstGeom>
          <a:noFill/>
          <a:ln/>
        </p:spPr>
        <p:txBody>
          <a:bodyPr wrap="square" lIns="0" tIns="0" rIns="0" bIns="0" rtlCol="0" anchor="ctr"/>
          <a:lstStyle/>
          <a:p>
            <a:pPr marL="0" indent="0" algn="ctr">
              <a:buNone/>
            </a:pPr>
            <a:r>
              <a:rPr lang="en-US" sz="1600" i="1" dirty="0">
                <a:solidFill>
                  <a:schemeClr val="tx2">
                    <a:lumMod val="75000"/>
                  </a:schemeClr>
                </a:solidFill>
                <a:latin typeface="Georgia" pitchFamily="34" charset="0"/>
                <a:ea typeface="Georgia" pitchFamily="34" charset="-122"/>
                <a:cs typeface="Georgia" pitchFamily="34" charset="-120"/>
              </a:rPr>
              <a:t>We </a:t>
            </a:r>
            <a:r>
              <a:rPr lang="en-US" sz="1600" i="1" strike="sngStrike" dirty="0">
                <a:solidFill>
                  <a:schemeClr val="tx2">
                    <a:lumMod val="75000"/>
                  </a:schemeClr>
                </a:solidFill>
                <a:latin typeface="Georgia" pitchFamily="34" charset="0"/>
                <a:ea typeface="Georgia" pitchFamily="34" charset="-122"/>
                <a:cs typeface="Georgia" pitchFamily="34" charset="-120"/>
              </a:rPr>
              <a:t>are</a:t>
            </a:r>
            <a:r>
              <a:rPr lang="en-US" sz="1600" i="1" dirty="0">
                <a:solidFill>
                  <a:schemeClr val="tx2">
                    <a:lumMod val="75000"/>
                  </a:schemeClr>
                </a:solidFill>
                <a:latin typeface="Georgia" pitchFamily="34" charset="0"/>
                <a:ea typeface="Georgia" pitchFamily="34" charset="-122"/>
                <a:cs typeface="Georgia" pitchFamily="34" charset="-120"/>
              </a:rPr>
              <a:t> </a:t>
            </a:r>
            <a:r>
              <a:rPr lang="en-US" sz="1600" b="1" i="1" dirty="0">
                <a:solidFill>
                  <a:schemeClr val="accent4">
                    <a:lumMod val="40000"/>
                    <a:lumOff val="60000"/>
                  </a:schemeClr>
                </a:solidFill>
                <a:latin typeface="Georgia" pitchFamily="34" charset="0"/>
                <a:ea typeface="Georgia" pitchFamily="34" charset="-122"/>
                <a:cs typeface="Georgia" pitchFamily="34" charset="-120"/>
              </a:rPr>
              <a:t>were</a:t>
            </a:r>
            <a:r>
              <a:rPr lang="en-US" sz="1600" i="1" dirty="0">
                <a:solidFill>
                  <a:schemeClr val="tx2">
                    <a:lumMod val="75000"/>
                  </a:schemeClr>
                </a:solidFill>
                <a:latin typeface="Georgia" pitchFamily="34" charset="0"/>
                <a:ea typeface="Georgia" pitchFamily="34" charset="-122"/>
                <a:cs typeface="Georgia" pitchFamily="34" charset="-120"/>
              </a:rPr>
              <a:t> near the fundamental limit of how well English can be predicted.</a:t>
            </a:r>
            <a:endParaRPr lang="en-US" sz="1600" dirty="0">
              <a:solidFill>
                <a:schemeClr val="tx2">
                  <a:lumMod val="75000"/>
                </a:schemeClr>
              </a:solidFill>
            </a:endParaRPr>
          </a:p>
        </p:txBody>
      </p:sp>
      <p:sp>
        <p:nvSpPr>
          <p:cNvPr id="16" name="Text 0">
            <a:extLst>
              <a:ext uri="{FF2B5EF4-FFF2-40B4-BE49-F238E27FC236}">
                <a16:creationId xmlns:a16="http://schemas.microsoft.com/office/drawing/2014/main" id="{B6F96231-E5A7-351E-7DC9-ED9533B99E0A}"/>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LLMS</a:t>
            </a:r>
          </a:p>
        </p:txBody>
      </p:sp>
      <p:sp>
        <p:nvSpPr>
          <p:cNvPr id="15" name="Text 1">
            <a:extLst>
              <a:ext uri="{FF2B5EF4-FFF2-40B4-BE49-F238E27FC236}">
                <a16:creationId xmlns:a16="http://schemas.microsoft.com/office/drawing/2014/main" id="{9141E9CA-04C5-5586-67A5-E1E07418CB19}"/>
              </a:ext>
            </a:extLst>
          </p:cNvPr>
          <p:cNvSpPr/>
          <p:nvPr/>
        </p:nvSpPr>
        <p:spPr>
          <a:xfrm>
            <a:off x="548640" y="640080"/>
            <a:ext cx="8229600" cy="640080"/>
          </a:xfrm>
          <a:prstGeom prst="rect">
            <a:avLst/>
          </a:prstGeom>
          <a:noFill/>
          <a:ln/>
        </p:spPr>
        <p:txBody>
          <a:bodyPr wrap="square" lIns="0" tIns="0" rIns="0" bIns="0" rtlCol="0" anchor="ctr"/>
          <a:lstStyle/>
          <a:p>
            <a:r>
              <a:rPr lang="en-US" sz="3600" b="1" dirty="0">
                <a:solidFill>
                  <a:schemeClr val="tx2">
                    <a:lumMod val="75000"/>
                  </a:schemeClr>
                </a:solidFill>
                <a:latin typeface="Georgia" pitchFamily="34" charset="0"/>
                <a:ea typeface="Georgia" pitchFamily="34" charset="-122"/>
                <a:cs typeface="Georgia" pitchFamily="34" charset="-120"/>
              </a:rPr>
              <a:t>The entropy gap</a:t>
            </a:r>
            <a:endParaRPr lang="en-US" sz="3600" dirty="0">
              <a:solidFill>
                <a:schemeClr val="tx2">
                  <a:lumMod val="75000"/>
                </a:schemeClr>
              </a:solidFill>
            </a:endParaRPr>
          </a:p>
        </p:txBody>
      </p:sp>
      <p:pic>
        <p:nvPicPr>
          <p:cNvPr id="17" name="Copied Picture 17" descr="A person sitting in a chair with his hands up&#10;&#10;AI-generated content may be incorrect.">
            <a:extLst>
              <a:ext uri="{FF2B5EF4-FFF2-40B4-BE49-F238E27FC236}">
                <a16:creationId xmlns:a16="http://schemas.microsoft.com/office/drawing/2014/main" id="{1F48DAA7-1093-CE22-DBBA-F4619B024265}"/>
              </a:ext>
            </a:extLst>
          </p:cNvPr>
          <p:cNvPicPr>
            <a:picLocks noChangeAspect="1"/>
          </p:cNvPicPr>
          <p:nvPr/>
        </p:nvPicPr>
        <p:blipFill>
          <a:blip r:embed="rId3"/>
          <a:stretch>
            <a:fillRect/>
          </a:stretch>
        </p:blipFill>
        <p:spPr>
          <a:xfrm>
            <a:off x="7543800" y="304800"/>
            <a:ext cx="1092200" cy="914400"/>
          </a:xfrm>
          <a:prstGeom prst="rect">
            <a:avLst/>
          </a:prstGeom>
        </p:spPr>
      </p:pic>
      <p:sp>
        <p:nvSpPr>
          <p:cNvPr id="2" name="TextBox 1">
            <a:extLst>
              <a:ext uri="{FF2B5EF4-FFF2-40B4-BE49-F238E27FC236}">
                <a16:creationId xmlns:a16="http://schemas.microsoft.com/office/drawing/2014/main" id="{66EE087B-216C-294F-9B7E-A25628EA5239}"/>
              </a:ext>
            </a:extLst>
          </p:cNvPr>
          <p:cNvSpPr txBox="1"/>
          <p:nvPr/>
        </p:nvSpPr>
        <p:spPr>
          <a:xfrm>
            <a:off x="4191000" y="493812"/>
            <a:ext cx="2286203" cy="307777"/>
          </a:xfrm>
          <a:prstGeom prst="rect">
            <a:avLst/>
          </a:prstGeom>
          <a:solidFill>
            <a:srgbClr val="000000"/>
          </a:solidFill>
        </p:spPr>
        <p:txBody>
          <a:bodyPr vertOverflow="overflow" vert="horz" wrap="none" rtlCol="0" anchor="ctr" anchorCtr="0">
            <a:spAutoFit/>
          </a:bodyPr>
          <a:lstStyle/>
          <a:p>
            <a:pPr algn="l"/>
            <a:r>
              <a:rPr lang="en-US" sz="1400" b="1">
                <a:solidFill>
                  <a:srgbClr val="FFFFFF"/>
                </a:solidFill>
                <a:latin typeface="Impact"/>
              </a:rPr>
              <a:t>Shannon, watching us hit 0.9</a:t>
            </a:r>
          </a:p>
        </p:txBody>
      </p:sp>
    </p:spTree>
    <p:extLst>
      <p:ext uri="{BB962C8B-B14F-4D97-AF65-F5344CB8AC3E}">
        <p14:creationId xmlns:p14="http://schemas.microsoft.com/office/powerpoint/2010/main" val="41118641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75B6FF63-5EC8-EFF7-3884-20A765AB245D}"/>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2F11F9C2-25C7-860C-DEB9-AF9CFAF6DDD2}"/>
              </a:ext>
            </a:extLst>
          </p:cNvPr>
          <p:cNvSpPr/>
          <p:nvPr/>
        </p:nvSpPr>
        <p:spPr>
          <a:xfrm>
            <a:off x="548640" y="1394459"/>
            <a:ext cx="8046720" cy="2140477"/>
          </a:xfrm>
          <a:prstGeom prst="rect">
            <a:avLst/>
          </a:prstGeom>
          <a:solidFill>
            <a:srgbClr val="222731"/>
          </a:solidFill>
          <a:ln/>
          <a:effectLst/>
        </p:spPr>
        <p:txBody>
          <a:bodyPr/>
          <a:lstStyle/>
          <a:p>
            <a:endParaRPr lang="en-US"/>
          </a:p>
        </p:txBody>
      </p:sp>
      <p:sp>
        <p:nvSpPr>
          <p:cNvPr id="13" name="Shape 11">
            <a:extLst>
              <a:ext uri="{FF2B5EF4-FFF2-40B4-BE49-F238E27FC236}">
                <a16:creationId xmlns:a16="http://schemas.microsoft.com/office/drawing/2014/main" id="{E8E4B6AE-EFB6-32A3-5566-F7BBEDD8BC0F}"/>
              </a:ext>
            </a:extLst>
          </p:cNvPr>
          <p:cNvSpPr/>
          <p:nvPr/>
        </p:nvSpPr>
        <p:spPr>
          <a:xfrm>
            <a:off x="548640" y="3840480"/>
            <a:ext cx="8046720" cy="1005840"/>
          </a:xfrm>
          <a:prstGeom prst="rect">
            <a:avLst/>
          </a:prstGeom>
          <a:solidFill>
            <a:srgbClr val="222731"/>
          </a:solidFill>
          <a:ln/>
          <a:effectLst/>
        </p:spPr>
        <p:txBody>
          <a:bodyPr/>
          <a:lstStyle/>
          <a:p>
            <a:endParaRPr lang="en-US"/>
          </a:p>
        </p:txBody>
      </p:sp>
      <p:sp>
        <p:nvSpPr>
          <p:cNvPr id="16" name="Text 0">
            <a:extLst>
              <a:ext uri="{FF2B5EF4-FFF2-40B4-BE49-F238E27FC236}">
                <a16:creationId xmlns:a16="http://schemas.microsoft.com/office/drawing/2014/main" id="{640B2E50-18EE-C61F-4D53-2F47623F58C1}"/>
              </a:ext>
            </a:extLst>
          </p:cNvPr>
          <p:cNvSpPr/>
          <p:nvPr/>
        </p:nvSpPr>
        <p:spPr>
          <a:xfrm>
            <a:off x="548640" y="274320"/>
            <a:ext cx="2743200" cy="274320"/>
          </a:xfrm>
          <a:prstGeom prst="rect">
            <a:avLst/>
          </a:prstGeom>
          <a:noFill/>
          <a:ln/>
        </p:spPr>
        <p:txBody>
          <a:bodyPr wrap="square" lIns="0" tIns="0" rIns="0" bIns="0" rtlCol="0" anchor="ctr"/>
          <a:lstStyle/>
          <a:p>
            <a:pPr marL="0" indent="0">
              <a:buNone/>
            </a:pPr>
            <a:r>
              <a:rPr lang="en-US" sz="900" b="1" kern="0" spc="400">
                <a:solidFill>
                  <a:srgbClr val="7FB69E"/>
                </a:solidFill>
                <a:latin typeface="Calibri" pitchFamily="34" charset="0"/>
              </a:rPr>
              <a:t>LLMS</a:t>
            </a:r>
          </a:p>
        </p:txBody>
      </p:sp>
      <p:sp>
        <p:nvSpPr>
          <p:cNvPr id="15" name="Text 1">
            <a:extLst>
              <a:ext uri="{FF2B5EF4-FFF2-40B4-BE49-F238E27FC236}">
                <a16:creationId xmlns:a16="http://schemas.microsoft.com/office/drawing/2014/main" id="{EDB0E1B7-80CC-9D8B-0461-A13A44B7EB17}"/>
              </a:ext>
            </a:extLst>
          </p:cNvPr>
          <p:cNvSpPr/>
          <p:nvPr/>
        </p:nvSpPr>
        <p:spPr>
          <a:xfrm>
            <a:off x="548640" y="640080"/>
            <a:ext cx="8229600" cy="640080"/>
          </a:xfrm>
          <a:prstGeom prst="rect">
            <a:avLst/>
          </a:prstGeom>
          <a:noFill/>
          <a:ln/>
        </p:spPr>
        <p:txBody>
          <a:bodyPr wrap="square" lIns="0" tIns="0" rIns="0" bIns="0" rtlCol="0" anchor="ctr"/>
          <a:lstStyle/>
          <a:p>
            <a:r>
              <a:rPr lang="en-US" sz="3600" b="1" dirty="0">
                <a:solidFill>
                  <a:srgbClr val="FFFFFF"/>
                </a:solidFill>
                <a:latin typeface="Georgia" pitchFamily="34" charset="0"/>
                <a:ea typeface="Georgia" pitchFamily="34" charset="-122"/>
                <a:cs typeface="Georgia" pitchFamily="34" charset="-120"/>
              </a:rPr>
              <a:t>The new entropy gap</a:t>
            </a:r>
            <a:endParaRPr lang="en-US" sz="3600" dirty="0"/>
          </a:p>
        </p:txBody>
      </p:sp>
      <p:sp>
        <p:nvSpPr>
          <p:cNvPr id="2" name="TextBox 1">
            <a:extLst>
              <a:ext uri="{FF2B5EF4-FFF2-40B4-BE49-F238E27FC236}">
                <a16:creationId xmlns:a16="http://schemas.microsoft.com/office/drawing/2014/main" id="{2222CEA7-0AC9-5F66-08C7-F6151EAFA3AC}"/>
              </a:ext>
            </a:extLst>
          </p:cNvPr>
          <p:cNvSpPr txBox="1"/>
          <p:nvPr/>
        </p:nvSpPr>
        <p:spPr>
          <a:xfrm>
            <a:off x="548641" y="1585704"/>
            <a:ext cx="8046720" cy="2215991"/>
          </a:xfrm>
          <a:prstGeom prst="rect">
            <a:avLst/>
          </a:prstGeom>
          <a:noFill/>
        </p:spPr>
        <p:txBody>
          <a:bodyPr wrap="square" rtlCol="0">
            <a:spAutoFit/>
          </a:bodyPr>
          <a:lstStyle/>
          <a:p>
            <a:pPr>
              <a:spcAft>
                <a:spcPts val="600"/>
              </a:spcAft>
            </a:pPr>
            <a:r>
              <a:rPr lang="en-US" sz="1600" dirty="0">
                <a:solidFill>
                  <a:schemeClr val="tx2">
                    <a:lumMod val="40000"/>
                    <a:lumOff val="60000"/>
                  </a:schemeClr>
                </a:solidFill>
              </a:rPr>
              <a:t>I nuovi modelli sono addestrati su molti più dati di quelli di qualche anno fa, anche a parità di parametri (e siamo diventati più bravi nel fare training).</a:t>
            </a:r>
          </a:p>
          <a:p>
            <a:pPr>
              <a:spcAft>
                <a:spcPts val="600"/>
              </a:spcAft>
            </a:pPr>
            <a:r>
              <a:rPr lang="en-US" sz="1600" dirty="0">
                <a:solidFill>
                  <a:schemeClr val="tx2">
                    <a:lumMod val="40000"/>
                    <a:lumOff val="60000"/>
                  </a:schemeClr>
                </a:solidFill>
              </a:rPr>
              <a:t>Quindi una parte sempre maggiore dell’informazione del training set viene persa? Yup — ma per un buon motivo: i pesi non possono contenere tutta l’entropia dei dati. Ogni parametro finisce per portare molta meno informazione di quanta potrebbe.</a:t>
            </a:r>
          </a:p>
          <a:p>
            <a:pPr>
              <a:spcAft>
                <a:spcPts val="0"/>
              </a:spcAft>
            </a:pPr>
            <a:r>
              <a:rPr lang="en-US" sz="1600" dirty="0">
                <a:solidFill>
                  <a:schemeClr val="tx2">
                    <a:lumMod val="40000"/>
                    <a:lumOff val="60000"/>
                  </a:schemeClr>
                </a:solidFill>
              </a:rPr>
              <a:t>I pesi sono già una compressione lossy e ridondante del dataset — ed </a:t>
            </a:r>
            <a:r>
              <a:rPr lang="en-US" sz="1600" b="1" dirty="0">
                <a:solidFill>
                  <a:srgbClr val="7FB69E"/>
                </a:solidFill>
              </a:rPr>
              <a:t>è proprio per questo che la quantizzazione funziona</a:t>
            </a:r>
            <a:r>
              <a:rPr lang="en-US" sz="1600" dirty="0">
                <a:solidFill>
                  <a:schemeClr val="tx2">
                    <a:lumMod val="40000"/>
                    <a:lumOff val="60000"/>
                  </a:schemeClr>
                </a:solidFill>
              </a:rPr>
              <a:t>: c’è abbastanza margine nei pesi da rappresentarli con molti meno bit (anche 2!) senza perdere quasi nulla.</a:t>
            </a:r>
          </a:p>
        </p:txBody>
      </p:sp>
      <p:sp>
        <p:nvSpPr>
          <p:cNvPr id="4" name="TextBox 3">
            <a:extLst>
              <a:ext uri="{FF2B5EF4-FFF2-40B4-BE49-F238E27FC236}">
                <a16:creationId xmlns:a16="http://schemas.microsoft.com/office/drawing/2014/main" id="{B1DA07BC-F793-0F0E-A5D0-B190E9539888}"/>
              </a:ext>
            </a:extLst>
          </p:cNvPr>
          <p:cNvSpPr txBox="1"/>
          <p:nvPr/>
        </p:nvSpPr>
        <p:spPr>
          <a:xfrm>
            <a:off x="2494376" y="4158734"/>
            <a:ext cx="4338128" cy="369332"/>
          </a:xfrm>
          <a:prstGeom prst="rect">
            <a:avLst/>
          </a:prstGeom>
          <a:noFill/>
        </p:spPr>
        <p:txBody>
          <a:bodyPr wrap="square" rtlCol="0">
            <a:spAutoFit/>
          </a:bodyPr>
          <a:lstStyle/>
          <a:p>
            <a:pPr algn="ctr"/>
            <a:r>
              <a:rPr lang="en-US" dirty="0">
                <a:solidFill>
                  <a:schemeClr val="bg1"/>
                </a:solidFill>
                <a:highlight>
                  <a:srgbClr val="000000"/>
                </a:highlight>
              </a:rPr>
              <a:t>I don’t know why it wrote this in Italian</a:t>
            </a:r>
          </a:p>
        </p:txBody>
      </p:sp>
      <p:pic>
        <p:nvPicPr>
          <p:cNvPr id="17" name="Copied Picture 17" descr="A collage of a person and person&#10;&#10;AI-generated content may be incorrect.">
            <a:extLst>
              <a:ext uri="{FF2B5EF4-FFF2-40B4-BE49-F238E27FC236}">
                <a16:creationId xmlns:a16="http://schemas.microsoft.com/office/drawing/2014/main" id="{2EA36F54-E2C4-6614-D920-8451B748EDF7}"/>
              </a:ext>
            </a:extLst>
          </p:cNvPr>
          <p:cNvPicPr>
            <a:picLocks noChangeAspect="1"/>
          </p:cNvPicPr>
          <p:nvPr/>
        </p:nvPicPr>
        <p:blipFill>
          <a:blip r:embed="rId3"/>
          <a:stretch>
            <a:fillRect/>
          </a:stretch>
        </p:blipFill>
        <p:spPr>
          <a:xfrm>
            <a:off x="7670800" y="279400"/>
            <a:ext cx="965200" cy="965200"/>
          </a:xfrm>
          <a:prstGeom prst="rect">
            <a:avLst/>
          </a:prstGeom>
        </p:spPr>
      </p:pic>
      <p:sp>
        <p:nvSpPr>
          <p:cNvPr id="5" name="TextBox 4">
            <a:extLst>
              <a:ext uri="{FF2B5EF4-FFF2-40B4-BE49-F238E27FC236}">
                <a16:creationId xmlns:a16="http://schemas.microsoft.com/office/drawing/2014/main" id="{B9EE52FC-AE4E-244C-BC8C-1FAA5B537D44}"/>
              </a:ext>
            </a:extLst>
          </p:cNvPr>
          <p:cNvSpPr txBox="1"/>
          <p:nvPr/>
        </p:nvSpPr>
        <p:spPr>
          <a:xfrm>
            <a:off x="4191000" y="531911"/>
            <a:ext cx="3168368" cy="307777"/>
          </a:xfrm>
          <a:prstGeom prst="rect">
            <a:avLst/>
          </a:prstGeom>
          <a:solidFill>
            <a:srgbClr val="000000"/>
          </a:solidFill>
        </p:spPr>
        <p:txBody>
          <a:bodyPr vertOverflow="overflow" vert="horz" wrap="none" rtlCol="0" anchor="ctr" anchorCtr="0">
            <a:spAutoFit/>
          </a:bodyPr>
          <a:lstStyle/>
          <a:p>
            <a:pPr algn="l"/>
            <a:r>
              <a:rPr lang="en-US" sz="1400" b="1">
                <a:solidFill>
                  <a:srgbClr val="FFFFFF"/>
                </a:solidFill>
                <a:latin typeface="Impact"/>
              </a:rPr>
              <a:t>more data lost… for a good reason, right?</a:t>
            </a:r>
          </a:p>
        </p:txBody>
      </p:sp>
    </p:spTree>
    <p:extLst>
      <p:ext uri="{BB962C8B-B14F-4D97-AF65-F5344CB8AC3E}">
        <p14:creationId xmlns:p14="http://schemas.microsoft.com/office/powerpoint/2010/main" val="3559700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D141F"/>
        </a:solidFill>
        <a:effectLst/>
      </p:bgPr>
    </p:bg>
    <p:spTree>
      <p:nvGrpSpPr>
        <p:cNvPr id="1" name=""/>
        <p:cNvGrpSpPr/>
        <p:nvPr/>
      </p:nvGrpSpPr>
      <p:grpSpPr>
        <a:xfrm>
          <a:off x="0" y="0"/>
          <a:ext cx="0" cy="0"/>
          <a:chOff x="0" y="0"/>
          <a:chExt cx="0" cy="0"/>
        </a:xfrm>
      </p:grpSpPr>
      <p:sp>
        <p:nvSpPr>
          <p:cNvPr id="4" name="Text 1"/>
          <p:cNvSpPr/>
          <p:nvPr/>
        </p:nvSpPr>
        <p:spPr>
          <a:xfrm>
            <a:off x="548640" y="1371600"/>
            <a:ext cx="3657600" cy="365760"/>
          </a:xfrm>
          <a:prstGeom prst="rect">
            <a:avLst/>
          </a:prstGeom>
          <a:noFill/>
          <a:ln/>
        </p:spPr>
        <p:txBody>
          <a:bodyPr wrap="square" lIns="0" tIns="0" rIns="0" bIns="0" rtlCol="0" anchor="ctr"/>
          <a:lstStyle/>
          <a:p>
            <a:pPr marL="0" indent="0">
              <a:buNone/>
            </a:pPr>
            <a:r>
              <a:rPr lang="en-US" sz="1400" b="1" kern="0" spc="600">
                <a:solidFill>
                  <a:srgbClr val="3BFDB2"/>
                </a:solidFill>
                <a:latin typeface="Calibri" pitchFamily="34" charset="0"/>
                <a:ea typeface="Calibri" pitchFamily="34" charset="-122"/>
                <a:cs typeface="Calibri" pitchFamily="34" charset="-120"/>
              </a:rPr>
              <a:t>PART 4</a:t>
            </a:r>
            <a:endParaRPr lang="en-US" sz="1400">
              <a:solidFill>
                <a:srgbClr val="3BFDB2"/>
              </a:solidFill>
            </a:endParaRPr>
          </a:p>
        </p:txBody>
      </p:sp>
      <p:sp>
        <p:nvSpPr>
          <p:cNvPr id="5" name="Text 2"/>
          <p:cNvSpPr/>
          <p:nvPr/>
        </p:nvSpPr>
        <p:spPr>
          <a:xfrm>
            <a:off x="548640" y="1828800"/>
            <a:ext cx="7315200" cy="1828800"/>
          </a:xfrm>
          <a:prstGeom prst="rect">
            <a:avLst/>
          </a:prstGeom>
          <a:noFill/>
          <a:ln/>
        </p:spPr>
        <p:txBody>
          <a:bodyPr wrap="square" lIns="0" tIns="0" rIns="0" bIns="0" rtlCol="0" anchor="ctr"/>
          <a:lstStyle/>
          <a:p>
            <a:pPr marL="0" indent="0">
              <a:lnSpc>
                <a:spcPct val="105000"/>
              </a:lnSpc>
              <a:buNone/>
            </a:pPr>
            <a:r>
              <a:rPr lang="en-US" sz="5200" b="1">
                <a:solidFill>
                  <a:srgbClr val="F1F0EA"/>
                </a:solidFill>
                <a:latin typeface="Georgia" pitchFamily="34" charset="0"/>
                <a:ea typeface="Georgia" pitchFamily="34" charset="-122"/>
                <a:cs typeface="Georgia" pitchFamily="34" charset="-120"/>
              </a:rPr>
              <a:t>Universal</a:t>
            </a:r>
            <a:endParaRPr lang="en-US" sz="5200"/>
          </a:p>
          <a:p>
            <a:pPr marL="0" indent="0">
              <a:lnSpc>
                <a:spcPct val="105000"/>
              </a:lnSpc>
              <a:buNone/>
            </a:pPr>
            <a:r>
              <a:rPr lang="en-US" sz="5200" b="1">
                <a:solidFill>
                  <a:srgbClr val="F1F0EA"/>
                </a:solidFill>
                <a:latin typeface="Georgia" pitchFamily="34" charset="0"/>
                <a:ea typeface="Georgia" pitchFamily="34" charset="-122"/>
                <a:cs typeface="Georgia" pitchFamily="34" charset="-120"/>
              </a:rPr>
              <a:t>Intelligence</a:t>
            </a:r>
            <a:endParaRPr lang="en-US" sz="5200"/>
          </a:p>
        </p:txBody>
      </p:sp>
      <p:sp>
        <p:nvSpPr>
          <p:cNvPr id="6" name="Text 3"/>
          <p:cNvSpPr/>
          <p:nvPr/>
        </p:nvSpPr>
        <p:spPr>
          <a:xfrm>
            <a:off x="548640" y="3474720"/>
            <a:ext cx="7315200" cy="548640"/>
          </a:xfrm>
          <a:prstGeom prst="rect">
            <a:avLst/>
          </a:prstGeom>
          <a:noFill/>
          <a:ln/>
        </p:spPr>
        <p:txBody>
          <a:bodyPr wrap="square" lIns="0" tIns="0" rIns="0" bIns="0" rtlCol="0" anchor="ctr"/>
          <a:lstStyle/>
          <a:p>
            <a:pPr marL="0" indent="0">
              <a:buNone/>
            </a:pPr>
            <a:r>
              <a:rPr lang="en-US" sz="2200">
                <a:solidFill>
                  <a:srgbClr val="90969E"/>
                </a:solidFill>
                <a:latin typeface="Calibri" pitchFamily="34" charset="0"/>
                <a:ea typeface="Calibri" pitchFamily="34" charset="-122"/>
                <a:cs typeface="Calibri" pitchFamily="34" charset="-120"/>
              </a:rPr>
              <a:t>Intelligence as an equation</a:t>
            </a:r>
            <a:endParaRPr lang="en-US" sz="2200"/>
          </a:p>
        </p:txBody>
      </p:sp>
      <p:sp>
        <p:nvSpPr>
          <p:cNvPr id="7" name="Text 4"/>
          <p:cNvSpPr/>
          <p:nvPr/>
        </p:nvSpPr>
        <p:spPr>
          <a:xfrm>
            <a:off x="8503920" y="4709160"/>
            <a:ext cx="457200" cy="320040"/>
          </a:xfrm>
          <a:prstGeom prst="rect">
            <a:avLst/>
          </a:prstGeom>
          <a:noFill/>
          <a:ln/>
        </p:spPr>
        <p:txBody>
          <a:bodyPr wrap="square" lIns="0" tIns="0" rIns="0" bIns="0" rtlCol="0" anchor="ctr"/>
          <a:lstStyle/>
          <a:p>
            <a:pPr marL="0" indent="0" algn="r">
              <a:buNone/>
            </a:pPr>
            <a:r>
              <a:rPr lang="en-US" sz="1000" kern="0">
                <a:solidFill>
                  <a:srgbClr val="90969E"/>
                </a:solidFill>
                <a:latin typeface="Calibri" pitchFamily="34" charset="0"/>
              </a:rPr>
              <a:t>17 / 32</a:t>
            </a:r>
          </a:p>
        </p:txBody>
      </p:sp>
      <p:pic>
        <p:nvPicPr>
          <p:cNvPr id="8" name="Copied Picture 8" descr="A green creature with pointy ears&#10;&#10;AI-generated content may be incorrect.">
            <a:extLst>
              <a:ext uri="{FF2B5EF4-FFF2-40B4-BE49-F238E27FC236}">
                <a16:creationId xmlns:a16="http://schemas.microsoft.com/office/drawing/2014/main" id="{8334A001-A792-E4E5-257D-4133AB718F44}"/>
              </a:ext>
            </a:extLst>
          </p:cNvPr>
          <p:cNvPicPr>
            <a:picLocks noChangeAspect="1"/>
          </p:cNvPicPr>
          <p:nvPr/>
        </p:nvPicPr>
        <p:blipFill>
          <a:blip r:embed="rId3"/>
          <a:stretch>
            <a:fillRect/>
          </a:stretch>
        </p:blipFill>
        <p:spPr>
          <a:xfrm>
            <a:off x="6413500" y="1905000"/>
            <a:ext cx="1905000" cy="1905000"/>
          </a:xfrm>
          <a:prstGeom prst="rect">
            <a:avLst/>
          </a:prstGeom>
        </p:spPr>
      </p:pic>
      <p:sp>
        <p:nvSpPr>
          <p:cNvPr id="2" name="TextBox 1">
            <a:extLst>
              <a:ext uri="{FF2B5EF4-FFF2-40B4-BE49-F238E27FC236}">
                <a16:creationId xmlns:a16="http://schemas.microsoft.com/office/drawing/2014/main" id="{A1E182FA-D7C1-D148-BA0F-6B557DB675DF}"/>
              </a:ext>
            </a:extLst>
          </p:cNvPr>
          <p:cNvSpPr txBox="1"/>
          <p:nvPr/>
        </p:nvSpPr>
        <p:spPr>
          <a:xfrm>
            <a:off x="5969000" y="3860800"/>
            <a:ext cx="2794000" cy="3302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Intelligence, define we must.</a:t>
            </a:r>
          </a:p>
        </p:txBody>
      </p:sp>
    </p:spTree>
    <p:extLst>
      <p:ext uri="{BB962C8B-B14F-4D97-AF65-F5344CB8AC3E}">
        <p14:creationId xmlns:p14="http://schemas.microsoft.com/office/powerpoint/2010/main" val="1999366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2">
    <p:bg>
      <p:bgPr>
        <a:solidFill>
          <a:srgbClr val="0E141F"/>
        </a:solidFill>
        <a:effectLst/>
      </p:bgPr>
    </p:bg>
    <p:spTree>
      <p:nvGrpSpPr>
        <p:cNvPr id="1" name=""/>
        <p:cNvGrpSpPr/>
        <p:nvPr/>
      </p:nvGrpSpPr>
      <p:grpSpPr>
        <a:xfrm>
          <a:off x="0" y="0"/>
          <a:ext cx="0" cy="0"/>
          <a:chOff x="0" y="0"/>
          <a:chExt cx="0" cy="0"/>
        </a:xfrm>
      </p:grpSpPr>
      <p:sp>
        <p:nvSpPr>
          <p:cNvPr id="4" name="Text 1"/>
          <p:cNvSpPr/>
          <p:nvPr/>
        </p:nvSpPr>
        <p:spPr>
          <a:xfrm>
            <a:off x="914400" y="2011680"/>
            <a:ext cx="7315200" cy="1463040"/>
          </a:xfrm>
          <a:prstGeom prst="rect">
            <a:avLst/>
          </a:prstGeom>
          <a:noFill/>
          <a:ln/>
        </p:spPr>
        <p:txBody>
          <a:bodyPr wrap="square" lIns="0" tIns="0" rIns="0" bIns="0" rtlCol="0" anchor="ctr"/>
          <a:lstStyle/>
          <a:p>
            <a:pPr marL="0" indent="0" algn="ctr">
              <a:lnSpc>
                <a:spcPct val="115000"/>
              </a:lnSpc>
              <a:buNone/>
            </a:pPr>
            <a:r>
              <a:rPr lang="en-US" sz="3600" b="1">
                <a:solidFill>
                  <a:srgbClr val="F1F0EA"/>
                </a:solidFill>
                <a:latin typeface="Georgia" pitchFamily="34" charset="0"/>
                <a:ea typeface="Georgia" pitchFamily="34" charset="-122"/>
                <a:cs typeface="Georgia" pitchFamily="34" charset="-120"/>
              </a:rPr>
              <a:t>Can we define intelligence?</a:t>
            </a:r>
            <a:endParaRPr lang="en-US" sz="3600"/>
          </a:p>
        </p:txBody>
      </p:sp>
      <p:sp>
        <p:nvSpPr>
          <p:cNvPr id="5" name="Text 2"/>
          <p:cNvSpPr/>
          <p:nvPr/>
        </p:nvSpPr>
        <p:spPr>
          <a:xfrm>
            <a:off x="914400" y="3657600"/>
            <a:ext cx="7315200" cy="457200"/>
          </a:xfrm>
          <a:prstGeom prst="rect">
            <a:avLst/>
          </a:prstGeom>
          <a:noFill/>
          <a:ln/>
        </p:spPr>
        <p:txBody>
          <a:bodyPr wrap="square" lIns="0" tIns="0" rIns="0" bIns="0" rtlCol="0" anchor="ctr"/>
          <a:lstStyle/>
          <a:p>
            <a:pPr marL="0" indent="0" algn="ctr">
              <a:buNone/>
            </a:pPr>
            <a:r>
              <a:rPr lang="en-US" sz="1600" i="1">
                <a:solidFill>
                  <a:srgbClr val="E0A458"/>
                </a:solidFill>
                <a:latin typeface="Calibri" pitchFamily="34" charset="0"/>
                <a:ea typeface="Calibri" pitchFamily="34" charset="-122"/>
                <a:cs typeface="Calibri" pitchFamily="34" charset="-120"/>
              </a:rPr>
              <a:t>I mean, defining it in a </a:t>
            </a:r>
            <a:r>
              <a:rPr lang="en-US" sz="1600" b="1" i="1">
                <a:solidFill>
                  <a:srgbClr val="E0A458"/>
                </a:solidFill>
                <a:latin typeface="Calibri" pitchFamily="34" charset="0"/>
                <a:ea typeface="Calibri" pitchFamily="34" charset="-122"/>
                <a:cs typeface="Calibri" pitchFamily="34" charset="-120"/>
              </a:rPr>
              <a:t>formal</a:t>
            </a:r>
            <a:r>
              <a:rPr lang="en-US" sz="1600" i="1">
                <a:solidFill>
                  <a:srgbClr val="E0A458"/>
                </a:solidFill>
                <a:latin typeface="Calibri" pitchFamily="34" charset="0"/>
                <a:ea typeface="Calibri" pitchFamily="34" charset="-122"/>
                <a:cs typeface="Calibri" pitchFamily="34" charset="-120"/>
              </a:rPr>
              <a:t> mathematical way</a:t>
            </a:r>
            <a:endParaRPr lang="en-US" sz="1600"/>
          </a:p>
        </p:txBody>
      </p:sp>
      <p:pic>
        <p:nvPicPr>
          <p:cNvPr id="6" name="Graphic 6" descr="Question mark"/>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14800" y="914400"/>
            <a:ext cx="914400" cy="914400"/>
          </a:xfrm>
          <a:prstGeom prst="rect">
            <a:avLst/>
          </a:prstGeom>
        </p:spPr>
      </p:pic>
      <p:sp>
        <p:nvSpPr>
          <p:cNvPr id="2" name="SlideNumber"/>
          <p:cNvSpPr/>
          <p:nvPr/>
        </p:nvSpPr>
        <p:spPr>
          <a:xfrm>
            <a:off x="8509000" y="4711700"/>
            <a:ext cx="457200" cy="317500"/>
          </a:xfrm>
          <a:prstGeom prst="rect">
            <a:avLst/>
          </a:prstGeom>
          <a:noFill/>
          <a:ln/>
        </p:spPr>
        <p:txBody>
          <a:bodyPr wrap="square" lIns="0" tIns="0" rIns="0" bIns="0" rtlCol="0" anchor="ctr"/>
          <a:lstStyle/>
          <a:p>
            <a:pPr marL="0" indent="0" algn="r">
              <a:buNone/>
            </a:pPr>
            <a:r>
              <a:rPr lang="en-US" sz="1000" kern="0">
                <a:solidFill>
                  <a:srgbClr val="90969E"/>
                </a:solidFill>
                <a:latin typeface="Calibri" pitchFamily="34" charset="0"/>
              </a:rPr>
              <a:t>18 / 32</a:t>
            </a:r>
          </a:p>
        </p:txBody>
      </p:sp>
      <p:pic>
        <p:nvPicPr>
          <p:cNvPr id="7" name="Copied Picture 7" descr="A cartoon of a person in a classroom&#10;&#10;AI-generated content may be incorrect.">
            <a:extLst>
              <a:ext uri="{FF2B5EF4-FFF2-40B4-BE49-F238E27FC236}">
                <a16:creationId xmlns:a16="http://schemas.microsoft.com/office/drawing/2014/main" id="{10C9F1CA-D865-8642-8266-5DB5915F2950}"/>
              </a:ext>
            </a:extLst>
          </p:cNvPr>
          <p:cNvPicPr>
            <a:picLocks noChangeAspect="1"/>
          </p:cNvPicPr>
          <p:nvPr/>
        </p:nvPicPr>
        <p:blipFill rotWithShape="1">
          <a:blip r:embed="rId5"/>
          <a:srcRect l="-50210" r="-50210"/>
          <a:stretch>
            <a:fillRect/>
          </a:stretch>
        </p:blipFill>
        <p:spPr>
          <a:xfrm>
            <a:off x="766885" y="1181100"/>
            <a:ext cx="3805115" cy="3124200"/>
          </a:xfrm>
          <a:prstGeom prst="rect">
            <a:avLst/>
          </a:prstGeom>
        </p:spPr>
      </p:pic>
      <p:sp>
        <p:nvSpPr>
          <p:cNvPr id="3" name="TextBox 2">
            <a:extLst>
              <a:ext uri="{FF2B5EF4-FFF2-40B4-BE49-F238E27FC236}">
                <a16:creationId xmlns:a16="http://schemas.microsoft.com/office/drawing/2014/main" id="{FE092967-BFCD-C543-88CB-B8076E6B630F}"/>
              </a:ext>
            </a:extLst>
          </p:cNvPr>
          <p:cNvSpPr txBox="1"/>
          <p:nvPr/>
        </p:nvSpPr>
        <p:spPr>
          <a:xfrm>
            <a:off x="1066800" y="4297680"/>
            <a:ext cx="3048000" cy="508000"/>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define intelligence. mathematically. go.</a:t>
            </a:r>
          </a:p>
        </p:txBody>
      </p:sp>
    </p:spTree>
    <p:extLst>
      <p:ext uri="{BB962C8B-B14F-4D97-AF65-F5344CB8AC3E}">
        <p14:creationId xmlns:p14="http://schemas.microsoft.com/office/powerpoint/2010/main" val="25616436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3">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685800" y="1900736"/>
            <a:ext cx="7772400" cy="1733187"/>
          </a:xfrm>
          <a:prstGeom prst="rect">
            <a:avLst/>
          </a:prstGeom>
          <a:solidFill>
            <a:srgbClr val="222731"/>
          </a:solidFill>
          <a:ln>
            <a:solidFill>
              <a:srgbClr val="888888"/>
            </a:solidFill>
          </a:ln>
          <a:effectLst/>
        </p:spPr>
        <p:txBody>
          <a:bodyPr/>
          <a:lstStyle/>
          <a:p>
            <a:endParaRPr lang="en-US"/>
          </a:p>
        </p:txBody>
      </p:sp>
      <p:sp>
        <p:nvSpPr>
          <p:cNvPr id="19" name="SlideNumber"/>
          <p:cNvSpPr/>
          <p:nvPr/>
        </p:nvSpPr>
        <p:spPr>
          <a:xfrm>
            <a:off x="8509000" y="4711700"/>
            <a:ext cx="457200" cy="317500"/>
          </a:xfrm>
          <a:prstGeom prst="rect">
            <a:avLst/>
          </a:prstGeom>
          <a:noFill/>
          <a:ln/>
        </p:spPr>
        <p:txBody>
          <a:bodyPr wrap="square" lIns="0" tIns="0" rIns="0" bIns="0" rtlCol="0" anchor="ctr"/>
          <a:lstStyle/>
          <a:p>
            <a:pPr marL="0" indent="0" algn="r">
              <a:buNone/>
            </a:pPr>
            <a:r>
              <a:rPr lang="en-US" sz="1000" kern="0">
                <a:solidFill>
                  <a:srgbClr val="90969E"/>
                </a:solidFill>
                <a:latin typeface="Calibri" pitchFamily="34" charset="0"/>
              </a:rPr>
              <a:t>19 / 32</a:t>
            </a:r>
          </a:p>
        </p:txBody>
      </p:sp>
      <p:sp>
        <p:nvSpPr>
          <p:cNvPr id="5" name="Text 16">
            <a:extLst>
              <a:ext uri="{FF2B5EF4-FFF2-40B4-BE49-F238E27FC236}">
                <a16:creationId xmlns:a16="http://schemas.microsoft.com/office/drawing/2014/main" id="{5B4DBA33-4A83-BE4F-880D-EE1DBA140738}"/>
              </a:ext>
            </a:extLst>
          </p:cNvPr>
          <p:cNvSpPr/>
          <p:nvPr/>
        </p:nvSpPr>
        <p:spPr>
          <a:xfrm>
            <a:off x="685800" y="1900736"/>
            <a:ext cx="7772400" cy="1733187"/>
          </a:xfrm>
          <a:prstGeom prst="rect">
            <a:avLst/>
          </a:prstGeom>
          <a:noFill/>
          <a:ln/>
        </p:spPr>
        <p:txBody>
          <a:bodyPr wrap="square" lIns="0" tIns="0" rIns="0" bIns="0" rtlCol="0" anchor="ctr"/>
          <a:lstStyle/>
          <a:p>
            <a:pPr marL="0" indent="0" algn="ctr">
              <a:buNone/>
            </a:pPr>
            <a:r>
              <a:rPr lang="en-US" sz="2400" i="1" dirty="0">
                <a:solidFill>
                  <a:srgbClr val="A8CFC0"/>
                </a:solidFill>
                <a:latin typeface="Georgia" pitchFamily="34" charset="0"/>
                <a:ea typeface="Georgia" pitchFamily="34" charset="-122"/>
                <a:cs typeface="Georgia" pitchFamily="34" charset="-120"/>
              </a:rPr>
              <a:t>"Intelligence is an agent's ability to produce</a:t>
            </a:r>
          </a:p>
          <a:p>
            <a:pPr marL="0" indent="0" algn="ctr">
              <a:buNone/>
            </a:pPr>
            <a:r>
              <a:rPr lang="en-US" sz="2400" i="1" dirty="0">
                <a:solidFill>
                  <a:srgbClr val="A8CFC0"/>
                </a:solidFill>
                <a:latin typeface="Georgia" pitchFamily="34" charset="0"/>
                <a:ea typeface="Georgia" pitchFamily="34" charset="-122"/>
                <a:cs typeface="Georgia" pitchFamily="34" charset="-120"/>
              </a:rPr>
              <a:t>great-looking and clear images</a:t>
            </a:r>
          </a:p>
          <a:p>
            <a:pPr marL="0" indent="0" algn="ctr">
              <a:buNone/>
            </a:pPr>
            <a:r>
              <a:rPr lang="en-US" sz="2400" i="1" dirty="0">
                <a:solidFill>
                  <a:srgbClr val="A8CFC0"/>
                </a:solidFill>
                <a:latin typeface="Georgia" pitchFamily="34" charset="0"/>
                <a:ea typeface="Georgia" pitchFamily="34" charset="-122"/>
                <a:cs typeface="Georgia" pitchFamily="34" charset="-120"/>
              </a:rPr>
              <a:t>of pelicans riding bikes."</a:t>
            </a:r>
            <a:endParaRPr lang="en-US" sz="2400" dirty="0"/>
          </a:p>
        </p:txBody>
      </p:sp>
      <p:sp>
        <p:nvSpPr>
          <p:cNvPr id="20" name="Text 1">
            <a:extLst>
              <a:ext uri="{FF2B5EF4-FFF2-40B4-BE49-F238E27FC236}">
                <a16:creationId xmlns:a16="http://schemas.microsoft.com/office/drawing/2014/main" id="{B2F5496C-07A4-67FA-5FCF-872157CC6F88}"/>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a:solidFill>
                  <a:srgbClr val="F1F0EA"/>
                </a:solidFill>
                <a:latin typeface="Georgia" pitchFamily="34" charset="0"/>
                <a:ea typeface="Georgia" pitchFamily="34" charset="-122"/>
                <a:cs typeface="Georgia" pitchFamily="34" charset="-120"/>
              </a:rPr>
              <a:t>A definition of intelligence</a:t>
            </a:r>
            <a:endParaRPr lang="en-US" sz="3400"/>
          </a:p>
        </p:txBody>
      </p:sp>
      <p:sp>
        <p:nvSpPr>
          <p:cNvPr id="21" name="Text 0">
            <a:extLst>
              <a:ext uri="{FF2B5EF4-FFF2-40B4-BE49-F238E27FC236}">
                <a16:creationId xmlns:a16="http://schemas.microsoft.com/office/drawing/2014/main" id="{26040435-BDB1-224C-B9BB-AF3C33A98A04}"/>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pic>
        <p:nvPicPr>
          <p:cNvPr id="22" name="Copied Picture 22" descr="A collage of a monkey doll&#10;&#10;AI-generated content may be incorrect.">
            <a:extLst>
              <a:ext uri="{FF2B5EF4-FFF2-40B4-BE49-F238E27FC236}">
                <a16:creationId xmlns:a16="http://schemas.microsoft.com/office/drawing/2014/main" id="{4AF89E16-4A11-0F32-FCC5-5CD2568365AD}"/>
              </a:ext>
            </a:extLst>
          </p:cNvPr>
          <p:cNvPicPr>
            <a:picLocks noChangeAspect="1"/>
          </p:cNvPicPr>
          <p:nvPr/>
        </p:nvPicPr>
        <p:blipFill>
          <a:blip r:embed="rId3"/>
          <a:stretch>
            <a:fillRect/>
          </a:stretch>
        </p:blipFill>
        <p:spPr>
          <a:xfrm>
            <a:off x="3962400" y="3657600"/>
            <a:ext cx="1117600" cy="1117600"/>
          </a:xfrm>
          <a:prstGeom prst="rect">
            <a:avLst/>
          </a:prstGeom>
        </p:spPr>
      </p:pic>
      <p:sp>
        <p:nvSpPr>
          <p:cNvPr id="2" name="TextBox 1">
            <a:extLst>
              <a:ext uri="{FF2B5EF4-FFF2-40B4-BE49-F238E27FC236}">
                <a16:creationId xmlns:a16="http://schemas.microsoft.com/office/drawing/2014/main" id="{0AA70D96-2B94-344A-9A46-0C5C357B7776}"/>
              </a:ext>
            </a:extLst>
          </p:cNvPr>
          <p:cNvSpPr txBox="1"/>
          <p:nvPr/>
        </p:nvSpPr>
        <p:spPr>
          <a:xfrm>
            <a:off x="3403600" y="4826000"/>
            <a:ext cx="2235200" cy="2540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…pelicans riding bikes. ok.</a:t>
            </a:r>
          </a:p>
        </p:txBody>
      </p:sp>
    </p:spTree>
    <p:extLst>
      <p:ext uri="{BB962C8B-B14F-4D97-AF65-F5344CB8AC3E}">
        <p14:creationId xmlns:p14="http://schemas.microsoft.com/office/powerpoint/2010/main" val="14868522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EF98ECE3-2CA6-CA49-028C-3552C99652C7}"/>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C9483C01-A23C-869D-5EDF-71DC70EEA518}"/>
              </a:ext>
            </a:extLst>
          </p:cNvPr>
          <p:cNvSpPr/>
          <p:nvPr/>
        </p:nvSpPr>
        <p:spPr>
          <a:xfrm>
            <a:off x="685800" y="1900736"/>
            <a:ext cx="7772400" cy="1733187"/>
          </a:xfrm>
          <a:prstGeom prst="rect">
            <a:avLst/>
          </a:prstGeom>
          <a:solidFill>
            <a:srgbClr val="222731"/>
          </a:solidFill>
          <a:ln>
            <a:solidFill>
              <a:srgbClr val="888888"/>
            </a:solidFill>
          </a:ln>
          <a:effectLst/>
        </p:spPr>
        <p:txBody>
          <a:bodyPr/>
          <a:lstStyle/>
          <a:p>
            <a:endParaRPr lang="en-US"/>
          </a:p>
        </p:txBody>
      </p:sp>
      <p:sp>
        <p:nvSpPr>
          <p:cNvPr id="19" name="SlideNumber">
            <a:extLst>
              <a:ext uri="{FF2B5EF4-FFF2-40B4-BE49-F238E27FC236}">
                <a16:creationId xmlns:a16="http://schemas.microsoft.com/office/drawing/2014/main" id="{BFD490AE-FC92-C18F-B986-B243E31C9E5F}"/>
              </a:ext>
            </a:extLst>
          </p:cNvPr>
          <p:cNvSpPr/>
          <p:nvPr/>
        </p:nvSpPr>
        <p:spPr>
          <a:xfrm>
            <a:off x="8509000" y="4711700"/>
            <a:ext cx="457200" cy="317500"/>
          </a:xfrm>
          <a:prstGeom prst="rect">
            <a:avLst/>
          </a:prstGeom>
          <a:noFill/>
          <a:ln/>
        </p:spPr>
        <p:txBody>
          <a:bodyPr wrap="square" lIns="0" tIns="0" rIns="0" bIns="0" rtlCol="0" anchor="ctr"/>
          <a:lstStyle/>
          <a:p>
            <a:pPr marL="0" indent="0" algn="r">
              <a:buNone/>
            </a:pPr>
            <a:r>
              <a:rPr lang="en-US" sz="1000" kern="0">
                <a:solidFill>
                  <a:srgbClr val="90969E"/>
                </a:solidFill>
                <a:latin typeface="Calibri" pitchFamily="34" charset="0"/>
              </a:rPr>
              <a:t>19 / 32</a:t>
            </a:r>
          </a:p>
        </p:txBody>
      </p:sp>
      <p:sp>
        <p:nvSpPr>
          <p:cNvPr id="5" name="Text 16">
            <a:extLst>
              <a:ext uri="{FF2B5EF4-FFF2-40B4-BE49-F238E27FC236}">
                <a16:creationId xmlns:a16="http://schemas.microsoft.com/office/drawing/2014/main" id="{B6408A85-E418-B2C2-B093-5D43EC2FADAA}"/>
              </a:ext>
            </a:extLst>
          </p:cNvPr>
          <p:cNvSpPr/>
          <p:nvPr/>
        </p:nvSpPr>
        <p:spPr>
          <a:xfrm>
            <a:off x="934357" y="2538729"/>
            <a:ext cx="7275286" cy="457200"/>
          </a:xfrm>
          <a:prstGeom prst="rect">
            <a:avLst/>
          </a:prstGeom>
          <a:noFill/>
          <a:ln/>
        </p:spPr>
        <p:txBody>
          <a:bodyPr wrap="square" lIns="0" tIns="0" rIns="0" bIns="0" rtlCol="0" anchor="ctr"/>
          <a:lstStyle/>
          <a:p>
            <a:pPr marL="0" indent="0" algn="ctr">
              <a:buNone/>
            </a:pPr>
            <a:r>
              <a:rPr lang="en-US" sz="2400" i="1">
                <a:solidFill>
                  <a:srgbClr val="A8CFC0"/>
                </a:solidFill>
                <a:latin typeface="Georgia" pitchFamily="34" charset="0"/>
                <a:ea typeface="Georgia" pitchFamily="34" charset="-122"/>
                <a:cs typeface="Georgia" pitchFamily="34" charset="-120"/>
              </a:rPr>
              <a:t>"Intelligence is an agent's ability to achieve goals across a wide range of environments."</a:t>
            </a:r>
            <a:endParaRPr lang="en-US" sz="2400"/>
          </a:p>
        </p:txBody>
      </p:sp>
      <p:sp>
        <p:nvSpPr>
          <p:cNvPr id="20" name="Text 1">
            <a:extLst>
              <a:ext uri="{FF2B5EF4-FFF2-40B4-BE49-F238E27FC236}">
                <a16:creationId xmlns:a16="http://schemas.microsoft.com/office/drawing/2014/main" id="{792F58A2-D09E-E358-83CD-762CECA11624}"/>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a:solidFill>
                  <a:srgbClr val="F1F0EA"/>
                </a:solidFill>
                <a:latin typeface="Georgia" pitchFamily="34" charset="0"/>
                <a:ea typeface="Georgia" pitchFamily="34" charset="-122"/>
                <a:cs typeface="Georgia" pitchFamily="34" charset="-120"/>
              </a:rPr>
              <a:t>A definition of intelligence</a:t>
            </a:r>
            <a:endParaRPr lang="en-US" sz="3400"/>
          </a:p>
        </p:txBody>
      </p:sp>
      <p:sp>
        <p:nvSpPr>
          <p:cNvPr id="21" name="Text 0">
            <a:extLst>
              <a:ext uri="{FF2B5EF4-FFF2-40B4-BE49-F238E27FC236}">
                <a16:creationId xmlns:a16="http://schemas.microsoft.com/office/drawing/2014/main" id="{844C60CB-5B92-B528-7DD7-E873CA8A4D31}"/>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
        <p:nvSpPr>
          <p:cNvPr id="2" name="TextBox 1">
            <a:extLst>
              <a:ext uri="{FF2B5EF4-FFF2-40B4-BE49-F238E27FC236}">
                <a16:creationId xmlns:a16="http://schemas.microsoft.com/office/drawing/2014/main" id="{3EC82EDF-1DFC-1D4E-9E2C-36741A9CC218}"/>
              </a:ext>
            </a:extLst>
          </p:cNvPr>
          <p:cNvSpPr txBox="1"/>
          <p:nvPr/>
        </p:nvSpPr>
        <p:spPr>
          <a:xfrm>
            <a:off x="3784600" y="4775200"/>
            <a:ext cx="1905000" cy="2794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…across a wide range of environments.</a:t>
            </a:r>
          </a:p>
        </p:txBody>
      </p:sp>
      <p:pic>
        <p:nvPicPr>
          <p:cNvPr id="22" name="Copied Picture 22" descr="A group of men posing for a picture&#10;&#10;AI-generated content may be incorrect.">
            <a:extLst>
              <a:ext uri="{FF2B5EF4-FFF2-40B4-BE49-F238E27FC236}">
                <a16:creationId xmlns:a16="http://schemas.microsoft.com/office/drawing/2014/main" id="{08FF14D7-3760-91DE-536E-5FF4F11C42B5}"/>
              </a:ext>
            </a:extLst>
          </p:cNvPr>
          <p:cNvPicPr>
            <a:picLocks noChangeAspect="1"/>
          </p:cNvPicPr>
          <p:nvPr/>
        </p:nvPicPr>
        <p:blipFill>
          <a:blip r:embed="rId3"/>
          <a:stretch>
            <a:fillRect/>
          </a:stretch>
        </p:blipFill>
        <p:spPr>
          <a:xfrm>
            <a:off x="3810000" y="3657600"/>
            <a:ext cx="1879600" cy="1092200"/>
          </a:xfrm>
          <a:prstGeom prst="rect">
            <a:avLst/>
          </a:prstGeom>
        </p:spPr>
      </p:pic>
    </p:spTree>
    <p:extLst>
      <p:ext uri="{BB962C8B-B14F-4D97-AF65-F5344CB8AC3E}">
        <p14:creationId xmlns:p14="http://schemas.microsoft.com/office/powerpoint/2010/main" val="23096069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07519E93-EE75-6FA2-B766-805A40FFBA70}"/>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F955C78B-6DB1-C315-E415-D74953A3E583}"/>
              </a:ext>
            </a:extLst>
          </p:cNvPr>
          <p:cNvSpPr/>
          <p:nvPr/>
        </p:nvSpPr>
        <p:spPr>
          <a:xfrm>
            <a:off x="685800" y="1900736"/>
            <a:ext cx="7772400" cy="1733187"/>
          </a:xfrm>
          <a:prstGeom prst="rect">
            <a:avLst/>
          </a:prstGeom>
          <a:solidFill>
            <a:srgbClr val="222731"/>
          </a:solidFill>
          <a:ln>
            <a:solidFill>
              <a:srgbClr val="888888"/>
            </a:solidFill>
          </a:ln>
          <a:effectLst/>
        </p:spPr>
        <p:txBody>
          <a:bodyPr/>
          <a:lstStyle/>
          <a:p>
            <a:endParaRPr lang="en-US"/>
          </a:p>
        </p:txBody>
      </p:sp>
      <mc:AlternateContent xmlns:mc="http://schemas.openxmlformats.org/markup-compatibility/2006">
        <mc:Choice xmlns:a14="http://schemas.microsoft.com/office/drawing/2010/main" Requires="a14">
          <p:sp>
            <p:nvSpPr>
              <p:cNvPr id="4" name="Text 2">
                <a:extLst>
                  <a:ext uri="{FF2B5EF4-FFF2-40B4-BE49-F238E27FC236}">
                    <a16:creationId xmlns:a16="http://schemas.microsoft.com/office/drawing/2014/main" id="{8122FA00-04E2-F776-787B-14D3CD17205F}"/>
                  </a:ext>
                </a:extLst>
              </p:cNvPr>
              <p:cNvSpPr/>
              <p:nvPr/>
            </p:nvSpPr>
            <p:spPr>
              <a:xfrm>
                <a:off x="731520" y="2310130"/>
                <a:ext cx="7680960" cy="9144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3400" b="0" i="1" smtClean="0">
                          <a:solidFill>
                            <a:srgbClr val="E0A458"/>
                          </a:solidFill>
                          <a:latin typeface="Cambria Math" panose="02040503050406030204" pitchFamily="18" charset="0"/>
                          <a:ea typeface="Cambria Math" panose="02040503050406030204" pitchFamily="18" charset="0"/>
                          <a:cs typeface="Consolas" pitchFamily="34" charset="-120"/>
                        </a:rPr>
                        <m:t>Υ</m:t>
                      </m:r>
                      <m:d>
                        <m:dPr>
                          <m:ctrlPr>
                            <a:rPr lang="en-US" sz="3400" b="0" i="1" smtClean="0">
                              <a:solidFill>
                                <a:srgbClr val="E0A458"/>
                              </a:solidFill>
                              <a:latin typeface="Cambria Math" panose="02040503050406030204" pitchFamily="18" charset="0"/>
                              <a:ea typeface="Consolas" pitchFamily="34" charset="-122"/>
                              <a:cs typeface="Consolas" pitchFamily="34" charset="-120"/>
                            </a:rPr>
                          </m:ctrlPr>
                        </m:dPr>
                        <m:e>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𝜋</m:t>
                          </m:r>
                        </m:e>
                      </m:d>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 </m:t>
                      </m:r>
                      <m:nary>
                        <m:naryPr>
                          <m:chr m:val="∑"/>
                          <m:supHide m:val="on"/>
                          <m:ctrlP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ctrlPr>
                        </m:naryPr>
                        <m:sub>
                          <m:r>
                            <m:rPr>
                              <m:brk m:alnAt="7"/>
                            </m:rP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𝐸</m:t>
                          </m:r>
                        </m:sub>
                        <m:sup/>
                        <m:e>
                          <m:sSup>
                            <m:sSupPr>
                              <m:ctrlP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ctrlPr>
                            </m:sSupPr>
                            <m:e>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2</m:t>
                              </m:r>
                            </m:e>
                            <m:sup>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𝐾</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 </m:t>
                              </m:r>
                            </m:sup>
                          </m:sSup>
                          <m:sSubSup>
                            <m:sSubSupPr>
                              <m:ctrlPr>
                                <a:rPr lang="en-US" sz="3400" i="1">
                                  <a:solidFill>
                                    <a:srgbClr val="E0A458"/>
                                  </a:solidFill>
                                  <a:latin typeface="Cambria Math" panose="02040503050406030204" pitchFamily="18" charset="0"/>
                                  <a:ea typeface="Cambria Math" panose="02040503050406030204" pitchFamily="18" charset="0"/>
                                  <a:cs typeface="Consolas" pitchFamily="34" charset="-120"/>
                                </a:rPr>
                              </m:ctrlPr>
                            </m:sSubSupPr>
                            <m:e>
                              <m:r>
                                <a:rPr lang="en-US" sz="3400" i="1">
                                  <a:solidFill>
                                    <a:srgbClr val="E0A458"/>
                                  </a:solidFill>
                                  <a:latin typeface="Cambria Math" panose="02040503050406030204" pitchFamily="18" charset="0"/>
                                  <a:ea typeface="Cambria Math" panose="02040503050406030204" pitchFamily="18" charset="0"/>
                                  <a:cs typeface="Consolas" pitchFamily="34" charset="-120"/>
                                </a:rPr>
                                <m:t>𝑉</m:t>
                              </m:r>
                            </m:e>
                            <m:sub>
                              <m:r>
                                <a:rPr lang="en-US" sz="3400" i="1">
                                  <a:solidFill>
                                    <a:srgbClr val="E0A458"/>
                                  </a:solidFill>
                                  <a:latin typeface="Cambria Math" panose="02040503050406030204" pitchFamily="18" charset="0"/>
                                  <a:ea typeface="Cambria Math" panose="02040503050406030204" pitchFamily="18" charset="0"/>
                                  <a:cs typeface="Consolas" pitchFamily="34" charset="-120"/>
                                </a:rPr>
                                <m:t>𝜇</m:t>
                              </m:r>
                            </m:sub>
                            <m:sup>
                              <m:r>
                                <a:rPr lang="en-US" sz="3400" i="1">
                                  <a:solidFill>
                                    <a:srgbClr val="E0A458"/>
                                  </a:solidFill>
                                  <a:latin typeface="Cambria Math" panose="02040503050406030204" pitchFamily="18" charset="0"/>
                                  <a:ea typeface="Cambria Math" panose="02040503050406030204" pitchFamily="18" charset="0"/>
                                  <a:cs typeface="Consolas" pitchFamily="34" charset="-120"/>
                                </a:rPr>
                                <m:t>𝜋</m:t>
                              </m:r>
                            </m:sup>
                          </m:sSubSup>
                        </m:e>
                      </m:nary>
                    </m:oMath>
                  </m:oMathPara>
                </a14:m>
                <a:endParaRPr lang="en-US" sz="3400">
                  <a:solidFill>
                    <a:srgbClr val="E0A458"/>
                  </a:solidFill>
                  <a:latin typeface="Consolas" pitchFamily="34" charset="0"/>
                  <a:ea typeface="Consolas" pitchFamily="34" charset="-122"/>
                  <a:cs typeface="Consolas" pitchFamily="34" charset="-120"/>
                </a:endParaRPr>
              </a:p>
            </p:txBody>
          </p:sp>
        </mc:Choice>
        <mc:Fallback>
          <p:sp>
            <p:nvSpPr>
              <p:cNvPr id="4" name="Text 2">
                <a:extLst>
                  <a:ext uri="{FF2B5EF4-FFF2-40B4-BE49-F238E27FC236}">
                    <a16:creationId xmlns:a16="http://schemas.microsoft.com/office/drawing/2014/main" id="{8122FA00-04E2-F776-787B-14D3CD17205F}"/>
                  </a:ext>
                </a:extLst>
              </p:cNvPr>
              <p:cNvSpPr>
                <a:spLocks noRot="1" noChangeAspect="1" noMove="1" noResize="1" noEditPoints="1" noAdjustHandles="1" noChangeArrowheads="1" noChangeShapeType="1" noTextEdit="1"/>
              </p:cNvSpPr>
              <p:nvPr/>
            </p:nvSpPr>
            <p:spPr>
              <a:xfrm>
                <a:off x="731520" y="2310130"/>
                <a:ext cx="7680960" cy="914400"/>
              </a:xfrm>
              <a:prstGeom prst="rect">
                <a:avLst/>
              </a:prstGeom>
              <a:blipFill>
                <a:blip r:embed="rId3"/>
                <a:stretch>
                  <a:fillRect t="-226027" b="-300000"/>
                </a:stretch>
              </a:blipFill>
              <a:ln/>
            </p:spPr>
            <p:txBody>
              <a:bodyPr/>
              <a:lstStyle/>
              <a:p>
                <a:r>
                  <a:rPr lang="en-US">
                    <a:noFill/>
                  </a:rPr>
                  <a:t> </a:t>
                </a:r>
              </a:p>
            </p:txBody>
          </p:sp>
        </mc:Fallback>
      </mc:AlternateContent>
      <p:sp>
        <p:nvSpPr>
          <p:cNvPr id="19" name="SlideNumber">
            <a:extLst>
              <a:ext uri="{FF2B5EF4-FFF2-40B4-BE49-F238E27FC236}">
                <a16:creationId xmlns:a16="http://schemas.microsoft.com/office/drawing/2014/main" id="{BB440D08-A22B-8CC3-FC9F-3D8E7D1F3AD0}"/>
              </a:ext>
            </a:extLst>
          </p:cNvPr>
          <p:cNvSpPr/>
          <p:nvPr/>
        </p:nvSpPr>
        <p:spPr>
          <a:xfrm>
            <a:off x="8509000" y="4711700"/>
            <a:ext cx="457200" cy="317500"/>
          </a:xfrm>
          <a:prstGeom prst="rect">
            <a:avLst/>
          </a:prstGeom>
          <a:noFill/>
          <a:ln/>
        </p:spPr>
        <p:txBody>
          <a:bodyPr wrap="square" lIns="0" tIns="0" rIns="0" bIns="0" rtlCol="0" anchor="ctr"/>
          <a:lstStyle/>
          <a:p>
            <a:pPr marL="0" indent="0" algn="r">
              <a:buNone/>
            </a:pPr>
            <a:r>
              <a:rPr lang="en-US" sz="1000" kern="0">
                <a:solidFill>
                  <a:srgbClr val="90969E"/>
                </a:solidFill>
                <a:latin typeface="Calibri" pitchFamily="34" charset="0"/>
              </a:rPr>
              <a:t>19 / 32</a:t>
            </a:r>
          </a:p>
        </p:txBody>
      </p:sp>
      <p:sp>
        <p:nvSpPr>
          <p:cNvPr id="5" name="Text 16">
            <a:extLst>
              <a:ext uri="{FF2B5EF4-FFF2-40B4-BE49-F238E27FC236}">
                <a16:creationId xmlns:a16="http://schemas.microsoft.com/office/drawing/2014/main" id="{23BB072B-8700-BBB6-03FA-8111AEDAB597}"/>
              </a:ext>
            </a:extLst>
          </p:cNvPr>
          <p:cNvSpPr/>
          <p:nvPr/>
        </p:nvSpPr>
        <p:spPr>
          <a:xfrm>
            <a:off x="934357" y="3657112"/>
            <a:ext cx="7275286" cy="457200"/>
          </a:xfrm>
          <a:prstGeom prst="rect">
            <a:avLst/>
          </a:prstGeom>
          <a:noFill/>
          <a:ln/>
        </p:spPr>
        <p:txBody>
          <a:bodyPr wrap="square" lIns="0" tIns="0" rIns="0" bIns="0" rtlCol="0" anchor="ctr"/>
          <a:lstStyle/>
          <a:p>
            <a:pPr marL="0" indent="0" algn="ctr">
              <a:buNone/>
            </a:pPr>
            <a:r>
              <a:rPr lang="en-US" sz="1400" i="1">
                <a:solidFill>
                  <a:srgbClr val="A8CFC0"/>
                </a:solidFill>
                <a:latin typeface="Georgia" pitchFamily="34" charset="0"/>
                <a:ea typeface="Georgia" pitchFamily="34" charset="-122"/>
                <a:cs typeface="Georgia" pitchFamily="34" charset="-120"/>
              </a:rPr>
              <a:t>"Intelligence is an agent's ability to achieve goals across a wide range of environments."</a:t>
            </a:r>
            <a:endParaRPr lang="en-US" sz="1400"/>
          </a:p>
        </p:txBody>
      </p:sp>
      <p:sp>
        <p:nvSpPr>
          <p:cNvPr id="6" name="Text 1">
            <a:extLst>
              <a:ext uri="{FF2B5EF4-FFF2-40B4-BE49-F238E27FC236}">
                <a16:creationId xmlns:a16="http://schemas.microsoft.com/office/drawing/2014/main" id="{BE39BA2E-4035-5D51-1508-3086F0D7C6B3}"/>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a:solidFill>
                  <a:srgbClr val="F1F0EA"/>
                </a:solidFill>
                <a:latin typeface="Georgia" pitchFamily="34" charset="0"/>
                <a:ea typeface="Georgia" pitchFamily="34" charset="-122"/>
                <a:cs typeface="Georgia" pitchFamily="34" charset="-120"/>
              </a:rPr>
              <a:t>A </a:t>
            </a:r>
            <a:r>
              <a:rPr lang="en-US" sz="3400" b="1">
                <a:solidFill>
                  <a:srgbClr val="3BFDB2"/>
                </a:solidFill>
                <a:latin typeface="Georgia" pitchFamily="34" charset="0"/>
                <a:ea typeface="Georgia" pitchFamily="34" charset="-122"/>
                <a:cs typeface="Georgia" pitchFamily="34" charset="-120"/>
              </a:rPr>
              <a:t>formal</a:t>
            </a:r>
            <a:r>
              <a:rPr lang="en-US" sz="3400" b="1">
                <a:solidFill>
                  <a:srgbClr val="F1F0EA"/>
                </a:solidFill>
                <a:latin typeface="Georgia" pitchFamily="34" charset="0"/>
                <a:ea typeface="Georgia" pitchFamily="34" charset="-122"/>
                <a:cs typeface="Georgia" pitchFamily="34" charset="-120"/>
              </a:rPr>
              <a:t> definition of intelligence</a:t>
            </a:r>
            <a:endParaRPr lang="en-US" sz="3400"/>
          </a:p>
        </p:txBody>
      </p:sp>
      <p:sp>
        <p:nvSpPr>
          <p:cNvPr id="7" name="Text 0">
            <a:extLst>
              <a:ext uri="{FF2B5EF4-FFF2-40B4-BE49-F238E27FC236}">
                <a16:creationId xmlns:a16="http://schemas.microsoft.com/office/drawing/2014/main" id="{4B6BF3DC-D45E-8DAF-E084-457F2067D2CD}"/>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Tree>
    <p:extLst>
      <p:ext uri="{BB962C8B-B14F-4D97-AF65-F5344CB8AC3E}">
        <p14:creationId xmlns:p14="http://schemas.microsoft.com/office/powerpoint/2010/main" val="29676094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3F086922-4126-AC97-F7D7-E11C0F9B84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444CD8C-DD69-C8F7-805E-CA11BB93B3B3}"/>
              </a:ext>
            </a:extLst>
          </p:cNvPr>
          <p:cNvSpPr/>
          <p:nvPr/>
        </p:nvSpPr>
        <p:spPr>
          <a:xfrm>
            <a:off x="548640" y="274320"/>
            <a:ext cx="8229600" cy="548640"/>
          </a:xfrm>
          <a:prstGeom prst="rect">
            <a:avLst/>
          </a:prstGeom>
          <a:noFill/>
          <a:ln/>
        </p:spPr>
        <p:txBody>
          <a:bodyPr wrap="square" lIns="0" tIns="0" rIns="0" bIns="0" rtlCol="0" anchor="ctr"/>
          <a:lstStyle/>
          <a:p>
            <a:pPr marL="0" indent="0">
              <a:buNone/>
            </a:pPr>
            <a:endParaRPr lang="en-US" sz="2600"/>
          </a:p>
        </p:txBody>
      </p:sp>
      <p:sp>
        <p:nvSpPr>
          <p:cNvPr id="3" name="Shape 1">
            <a:extLst>
              <a:ext uri="{FF2B5EF4-FFF2-40B4-BE49-F238E27FC236}">
                <a16:creationId xmlns:a16="http://schemas.microsoft.com/office/drawing/2014/main" id="{75CDDB32-5B03-9102-1652-0D9FBC1AB7AC}"/>
              </a:ext>
            </a:extLst>
          </p:cNvPr>
          <p:cNvSpPr/>
          <p:nvPr/>
        </p:nvSpPr>
        <p:spPr>
          <a:xfrm>
            <a:off x="548640" y="1028114"/>
            <a:ext cx="8007531" cy="1371600"/>
          </a:xfrm>
          <a:prstGeom prst="rect">
            <a:avLst/>
          </a:prstGeom>
          <a:solidFill>
            <a:srgbClr val="222731"/>
          </a:solidFill>
          <a:ln>
            <a:solidFill>
              <a:srgbClr val="888888"/>
            </a:solidFill>
          </a:ln>
          <a:effectLst/>
        </p:spPr>
        <p:txBody>
          <a:bodyPr/>
          <a:lstStyle/>
          <a:p>
            <a:endParaRPr lang="en-US"/>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279FF87C-308E-FDBF-B0BD-6A955E6E7A93}"/>
                  </a:ext>
                </a:extLst>
              </p:cNvPr>
              <p:cNvSpPr/>
              <p:nvPr/>
            </p:nvSpPr>
            <p:spPr>
              <a:xfrm>
                <a:off x="731520" y="1209822"/>
                <a:ext cx="7680960" cy="9144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3400" b="0" i="1" smtClean="0">
                          <a:solidFill>
                            <a:srgbClr val="E0A458"/>
                          </a:solidFill>
                          <a:latin typeface="Cambria Math" panose="02040503050406030204" pitchFamily="18" charset="0"/>
                          <a:ea typeface="Cambria Math" panose="02040503050406030204" pitchFamily="18" charset="0"/>
                          <a:cs typeface="Consolas" pitchFamily="34" charset="-120"/>
                        </a:rPr>
                        <m:t>Υ</m:t>
                      </m:r>
                      <m:d>
                        <m:dPr>
                          <m:ctrlPr>
                            <a:rPr lang="en-US" sz="3400" b="0" i="1" smtClean="0">
                              <a:solidFill>
                                <a:srgbClr val="E0A458"/>
                              </a:solidFill>
                              <a:latin typeface="Cambria Math" panose="02040503050406030204" pitchFamily="18" charset="0"/>
                              <a:ea typeface="Consolas" pitchFamily="34" charset="-122"/>
                              <a:cs typeface="Consolas" pitchFamily="34" charset="-120"/>
                            </a:rPr>
                          </m:ctrlPr>
                        </m:dPr>
                        <m:e>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𝜋</m:t>
                          </m:r>
                        </m:e>
                      </m:d>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 </m:t>
                      </m:r>
                      <m:nary>
                        <m:naryPr>
                          <m:chr m:val="∑"/>
                          <m:supHide m:val="on"/>
                          <m:ctrl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ctrlPr>
                        </m:naryPr>
                        <m:sub>
                          <m:r>
                            <m:rPr>
                              <m:brk m:alnAt="7"/>
                            </m:r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𝐸</m:t>
                          </m:r>
                        </m:sub>
                        <m:sup/>
                        <m:e>
                          <m:sSup>
                            <m:sSupPr>
                              <m:ctrl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ctrlPr>
                            </m:sSupPr>
                            <m:e>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2</m:t>
                              </m:r>
                            </m:e>
                            <m:sup>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𝐾</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 </m:t>
                              </m:r>
                            </m:sup>
                          </m:sSup>
                          <m:sSubSup>
                            <m:sSubSupPr>
                              <m:ctrlPr>
                                <a:rPr lang="en-US" sz="3400" i="1">
                                  <a:solidFill>
                                    <a:schemeClr val="tx2"/>
                                  </a:solidFill>
                                  <a:latin typeface="Cambria Math" panose="02040503050406030204" pitchFamily="18" charset="0"/>
                                  <a:ea typeface="Cambria Math" panose="02040503050406030204" pitchFamily="18" charset="0"/>
                                  <a:cs typeface="Consolas" pitchFamily="34" charset="-120"/>
                                </a:rPr>
                              </m:ctrlPr>
                            </m:sSubSupPr>
                            <m:e>
                              <m:r>
                                <a:rPr lang="en-US" sz="3400" i="1">
                                  <a:solidFill>
                                    <a:schemeClr val="tx2"/>
                                  </a:solidFill>
                                  <a:latin typeface="Cambria Math" panose="02040503050406030204" pitchFamily="18" charset="0"/>
                                  <a:ea typeface="Cambria Math" panose="02040503050406030204" pitchFamily="18" charset="0"/>
                                  <a:cs typeface="Consolas" pitchFamily="34" charset="-120"/>
                                </a:rPr>
                                <m:t>𝑉</m:t>
                              </m:r>
                            </m:e>
                            <m:sub>
                              <m:r>
                                <a:rPr lang="en-US" sz="3400" i="1">
                                  <a:solidFill>
                                    <a:schemeClr val="tx2"/>
                                  </a:solidFill>
                                  <a:latin typeface="Cambria Math" panose="02040503050406030204" pitchFamily="18" charset="0"/>
                                  <a:ea typeface="Cambria Math" panose="02040503050406030204" pitchFamily="18" charset="0"/>
                                  <a:cs typeface="Consolas" pitchFamily="34" charset="-120"/>
                                </a:rPr>
                                <m:t>𝜇</m:t>
                              </m:r>
                            </m:sub>
                            <m:sup>
                              <m:r>
                                <a:rPr lang="en-US" sz="3400" i="1">
                                  <a:solidFill>
                                    <a:schemeClr val="tx2"/>
                                  </a:solidFill>
                                  <a:latin typeface="Cambria Math" panose="02040503050406030204" pitchFamily="18" charset="0"/>
                                  <a:ea typeface="Cambria Math" panose="02040503050406030204" pitchFamily="18" charset="0"/>
                                  <a:cs typeface="Consolas" pitchFamily="34" charset="-120"/>
                                </a:rPr>
                                <m:t>𝜋</m:t>
                              </m:r>
                            </m:sup>
                          </m:sSubSup>
                        </m:e>
                      </m:nary>
                    </m:oMath>
                  </m:oMathPara>
                </a14:m>
                <a:endParaRPr lang="en-US" sz="3400">
                  <a:solidFill>
                    <a:srgbClr val="E0A458"/>
                  </a:solidFill>
                  <a:latin typeface="Consolas" pitchFamily="34" charset="0"/>
                  <a:ea typeface="Consolas" pitchFamily="34" charset="-122"/>
                  <a:cs typeface="Consolas" pitchFamily="34" charset="-120"/>
                </a:endParaRPr>
              </a:p>
            </p:txBody>
          </p:sp>
        </mc:Choice>
        <mc:Fallback xmlns="">
          <p:sp>
            <p:nvSpPr>
              <p:cNvPr id="4" name="Text 2">
                <a:extLst>
                  <a:ext uri="{FF2B5EF4-FFF2-40B4-BE49-F238E27FC236}">
                    <a16:creationId xmlns:a16="http://schemas.microsoft.com/office/drawing/2014/main" id="{279FF87C-308E-FDBF-B0BD-6A955E6E7A93}"/>
                  </a:ext>
                </a:extLst>
              </p:cNvPr>
              <p:cNvSpPr>
                <a:spLocks noRot="1" noChangeAspect="1" noMove="1" noResize="1" noEditPoints="1" noAdjustHandles="1" noChangeArrowheads="1" noChangeShapeType="1" noTextEdit="1"/>
              </p:cNvSpPr>
              <p:nvPr/>
            </p:nvSpPr>
            <p:spPr>
              <a:xfrm>
                <a:off x="731520" y="1209822"/>
                <a:ext cx="7680960" cy="914400"/>
              </a:xfrm>
              <a:prstGeom prst="rect">
                <a:avLst/>
              </a:prstGeom>
              <a:blipFill>
                <a:blip r:embed="rId3"/>
                <a:stretch>
                  <a:fillRect t="-226027" b="-298630"/>
                </a:stretch>
              </a:blipFill>
              <a:ln/>
            </p:spPr>
            <p:txBody>
              <a:bodyPr/>
              <a:lstStyle/>
              <a:p>
                <a:r>
                  <a:rPr lang="en-US">
                    <a:noFill/>
                  </a:rPr>
                  <a:t> </a:t>
                </a:r>
              </a:p>
            </p:txBody>
          </p:sp>
        </mc:Fallback>
      </mc:AlternateContent>
      <p:sp>
        <p:nvSpPr>
          <p:cNvPr id="6" name="Shape 4">
            <a:extLst>
              <a:ext uri="{FF2B5EF4-FFF2-40B4-BE49-F238E27FC236}">
                <a16:creationId xmlns:a16="http://schemas.microsoft.com/office/drawing/2014/main" id="{BC3BE0D3-116E-CC84-EC24-301727BFD38C}"/>
              </a:ext>
            </a:extLst>
          </p:cNvPr>
          <p:cNvSpPr/>
          <p:nvPr/>
        </p:nvSpPr>
        <p:spPr>
          <a:xfrm>
            <a:off x="548640" y="2651760"/>
            <a:ext cx="1828800" cy="1645920"/>
          </a:xfrm>
          <a:prstGeom prst="rect">
            <a:avLst/>
          </a:prstGeom>
          <a:solidFill>
            <a:srgbClr val="222731"/>
          </a:solidFill>
          <a:ln>
            <a:solidFill>
              <a:srgbClr val="888888"/>
            </a:solidFill>
          </a:ln>
          <a:effectLst/>
        </p:spPr>
        <p:txBody>
          <a:bodyPr/>
          <a:lstStyle/>
          <a:p>
            <a:endParaRPr lang="en-US"/>
          </a:p>
        </p:txBody>
      </p:sp>
      <mc:AlternateContent xmlns:mc="http://schemas.openxmlformats.org/markup-compatibility/2006" xmlns:a14="http://schemas.microsoft.com/office/drawing/2010/main">
        <mc:Choice Requires="a14">
          <p:sp>
            <p:nvSpPr>
              <p:cNvPr id="7" name="Text 5">
                <a:extLst>
                  <a:ext uri="{FF2B5EF4-FFF2-40B4-BE49-F238E27FC236}">
                    <a16:creationId xmlns:a16="http://schemas.microsoft.com/office/drawing/2014/main" id="{80013705-0D76-D48F-4DBE-3E2B9D5D336A}"/>
                  </a:ext>
                </a:extLst>
              </p:cNvPr>
              <p:cNvSpPr/>
              <p:nvPr/>
            </p:nvSpPr>
            <p:spPr>
              <a:xfrm>
                <a:off x="500380" y="2864729"/>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2000" i="1" smtClean="0">
                          <a:solidFill>
                            <a:schemeClr val="accent4"/>
                          </a:solidFill>
                          <a:latin typeface="Cambria Math" panose="02040503050406030204" pitchFamily="18" charset="0"/>
                          <a:ea typeface="Cambria Math" panose="02040503050406030204" pitchFamily="18" charset="0"/>
                          <a:cs typeface="Consolas" pitchFamily="34" charset="-120"/>
                        </a:rPr>
                        <m:t>Υ</m:t>
                      </m:r>
                      <m:d>
                        <m:dPr>
                          <m:ctrlPr>
                            <a:rPr lang="en-US" sz="2000" i="1">
                              <a:solidFill>
                                <a:schemeClr val="accent4"/>
                              </a:solidFill>
                              <a:latin typeface="Cambria Math" panose="02040503050406030204" pitchFamily="18" charset="0"/>
                              <a:ea typeface="Consolas" pitchFamily="34" charset="-122"/>
                              <a:cs typeface="Consolas" pitchFamily="34" charset="-120"/>
                            </a:rPr>
                          </m:ctrlPr>
                        </m:dPr>
                        <m:e>
                          <m:r>
                            <a:rPr lang="en-US" sz="2000" i="1">
                              <a:solidFill>
                                <a:schemeClr val="accent4"/>
                              </a:solidFill>
                              <a:latin typeface="Cambria Math" panose="02040503050406030204" pitchFamily="18" charset="0"/>
                              <a:ea typeface="Cambria Math" panose="02040503050406030204" pitchFamily="18" charset="0"/>
                              <a:cs typeface="Consolas" pitchFamily="34" charset="-120"/>
                            </a:rPr>
                            <m:t>𝜋</m:t>
                          </m:r>
                        </m:e>
                      </m:d>
                    </m:oMath>
                  </m:oMathPara>
                </a14:m>
                <a:endParaRPr lang="en-US" sz="2000">
                  <a:solidFill>
                    <a:schemeClr val="accent4"/>
                  </a:solidFill>
                </a:endParaRPr>
              </a:p>
            </p:txBody>
          </p:sp>
        </mc:Choice>
        <mc:Fallback xmlns="">
          <p:sp>
            <p:nvSpPr>
              <p:cNvPr id="7" name="Text 5">
                <a:extLst>
                  <a:ext uri="{FF2B5EF4-FFF2-40B4-BE49-F238E27FC236}">
                    <a16:creationId xmlns:a16="http://schemas.microsoft.com/office/drawing/2014/main" id="{80013705-0D76-D48F-4DBE-3E2B9D5D336A}"/>
                  </a:ext>
                </a:extLst>
              </p:cNvPr>
              <p:cNvSpPr>
                <a:spLocks noRot="1" noChangeAspect="1" noMove="1" noResize="1" noEditPoints="1" noAdjustHandles="1" noChangeArrowheads="1" noChangeShapeType="1" noTextEdit="1"/>
              </p:cNvSpPr>
              <p:nvPr/>
            </p:nvSpPr>
            <p:spPr>
              <a:xfrm>
                <a:off x="500380" y="2864729"/>
                <a:ext cx="1920240" cy="548640"/>
              </a:xfrm>
              <a:prstGeom prst="rect">
                <a:avLst/>
              </a:prstGeom>
              <a:blipFill>
                <a:blip r:embed="rId4"/>
                <a:stretch>
                  <a:fillRect/>
                </a:stretch>
              </a:blipFill>
              <a:ln/>
            </p:spPr>
            <p:txBody>
              <a:bodyPr/>
              <a:lstStyle/>
              <a:p>
                <a:r>
                  <a:rPr lang="en-US">
                    <a:noFill/>
                  </a:rPr>
                  <a:t> </a:t>
                </a:r>
              </a:p>
            </p:txBody>
          </p:sp>
        </mc:Fallback>
      </mc:AlternateContent>
      <p:sp>
        <p:nvSpPr>
          <p:cNvPr id="8" name="Text 6">
            <a:extLst>
              <a:ext uri="{FF2B5EF4-FFF2-40B4-BE49-F238E27FC236}">
                <a16:creationId xmlns:a16="http://schemas.microsoft.com/office/drawing/2014/main" id="{27D282F7-EED3-C35D-4687-3E5745F1FC7A}"/>
              </a:ext>
            </a:extLst>
          </p:cNvPr>
          <p:cNvSpPr/>
          <p:nvPr/>
        </p:nvSpPr>
        <p:spPr>
          <a:xfrm>
            <a:off x="591819" y="3542732"/>
            <a:ext cx="1737360" cy="594360"/>
          </a:xfrm>
          <a:prstGeom prst="rect">
            <a:avLst/>
          </a:prstGeom>
          <a:noFill/>
          <a:ln/>
        </p:spPr>
        <p:txBody>
          <a:bodyPr wrap="square" lIns="0" tIns="0" rIns="0" bIns="0" rtlCol="0" anchor="t"/>
          <a:lstStyle/>
          <a:p>
            <a:pPr marL="0" indent="0" algn="ctr">
              <a:buNone/>
            </a:pPr>
            <a:r>
              <a:rPr lang="en-US" sz="1200">
                <a:solidFill>
                  <a:schemeClr val="bg2"/>
                </a:solidFill>
                <a:latin typeface="Calibri" pitchFamily="34" charset="0"/>
                <a:ea typeface="Calibri" pitchFamily="34" charset="-122"/>
                <a:cs typeface="Calibri" pitchFamily="34" charset="-120"/>
              </a:rPr>
              <a:t>Intelligence</a:t>
            </a:r>
            <a:r>
              <a:rPr lang="en-US" sz="1200">
                <a:solidFill>
                  <a:srgbClr val="D8D6CE"/>
                </a:solidFill>
                <a:latin typeface="Calibri" pitchFamily="34" charset="0"/>
                <a:ea typeface="Calibri" pitchFamily="34" charset="-122"/>
                <a:cs typeface="Calibri" pitchFamily="34" charset="-120"/>
              </a:rPr>
              <a:t> of agent π</a:t>
            </a:r>
            <a:endParaRPr lang="en-US" sz="1200"/>
          </a:p>
        </p:txBody>
      </p:sp>
      <p:sp>
        <p:nvSpPr>
          <p:cNvPr id="9" name="Shape 7">
            <a:extLst>
              <a:ext uri="{FF2B5EF4-FFF2-40B4-BE49-F238E27FC236}">
                <a16:creationId xmlns:a16="http://schemas.microsoft.com/office/drawing/2014/main" id="{7C33629C-AF97-8625-D610-2847F463E2FA}"/>
              </a:ext>
            </a:extLst>
          </p:cNvPr>
          <p:cNvSpPr/>
          <p:nvPr/>
        </p:nvSpPr>
        <p:spPr>
          <a:xfrm>
            <a:off x="258318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0" name="Text 8">
                <a:extLst>
                  <a:ext uri="{FF2B5EF4-FFF2-40B4-BE49-F238E27FC236}">
                    <a16:creationId xmlns:a16="http://schemas.microsoft.com/office/drawing/2014/main" id="{9F5BCA0E-B5E4-D52E-6C66-088D42E9BA36}"/>
                  </a:ext>
                </a:extLst>
              </p:cNvPr>
              <p:cNvSpPr/>
              <p:nvPr/>
            </p:nvSpPr>
            <p:spPr>
              <a:xfrm>
                <a:off x="2532380" y="2826825"/>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naryPr>
                        <m:sub>
                          <m:r>
                            <m:rPr>
                              <m:brk m:alnAt="7"/>
                            </m:rP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𝐸</m:t>
                          </m:r>
                        </m:sub>
                        <m:sup/>
                        <m:e>
                          <m:r>
                            <a:rPr lang="en-US" sz="2000" b="0" i="1" smtClean="0">
                              <a:solidFill>
                                <a:schemeClr val="tx2"/>
                              </a:solidFill>
                              <a:latin typeface="Cambria Math" panose="02040503050406030204" pitchFamily="18" charset="0"/>
                              <a:ea typeface="Cambria Math" panose="02040503050406030204" pitchFamily="18" charset="0"/>
                              <a:cs typeface="Consolas" pitchFamily="34" charset="-120"/>
                            </a:rPr>
                            <m:t> </m:t>
                          </m:r>
                        </m:e>
                      </m:nary>
                    </m:oMath>
                  </m:oMathPara>
                </a14:m>
                <a:endParaRPr lang="en-US" sz="2000" dirty="0">
                  <a:solidFill>
                    <a:schemeClr val="tx2"/>
                  </a:solidFill>
                </a:endParaRPr>
              </a:p>
            </p:txBody>
          </p:sp>
        </mc:Choice>
        <mc:Fallback xmlns="">
          <p:sp>
            <p:nvSpPr>
              <p:cNvPr id="10" name="Text 8">
                <a:extLst>
                  <a:ext uri="{FF2B5EF4-FFF2-40B4-BE49-F238E27FC236}">
                    <a16:creationId xmlns:a16="http://schemas.microsoft.com/office/drawing/2014/main" id="{9F5BCA0E-B5E4-D52E-6C66-088D42E9BA36}"/>
                  </a:ext>
                </a:extLst>
              </p:cNvPr>
              <p:cNvSpPr>
                <a:spLocks noRot="1" noChangeAspect="1" noMove="1" noResize="1" noEditPoints="1" noAdjustHandles="1" noChangeArrowheads="1" noChangeShapeType="1" noTextEdit="1"/>
              </p:cNvSpPr>
              <p:nvPr/>
            </p:nvSpPr>
            <p:spPr>
              <a:xfrm>
                <a:off x="2532380" y="2826825"/>
                <a:ext cx="1920240" cy="548640"/>
              </a:xfrm>
              <a:prstGeom prst="rect">
                <a:avLst/>
              </a:prstGeom>
              <a:blipFill>
                <a:blip r:embed="rId5"/>
                <a:stretch>
                  <a:fillRect l="-13158" t="-218182" b="-290909"/>
                </a:stretch>
              </a:blipFill>
              <a:ln/>
            </p:spPr>
            <p:txBody>
              <a:bodyPr/>
              <a:lstStyle/>
              <a:p>
                <a:r>
                  <a:rPr lang="en-US">
                    <a:noFill/>
                  </a:rPr>
                  <a:t> </a:t>
                </a:r>
              </a:p>
            </p:txBody>
          </p:sp>
        </mc:Fallback>
      </mc:AlternateContent>
      <p:sp>
        <p:nvSpPr>
          <p:cNvPr id="11" name="Text 9">
            <a:extLst>
              <a:ext uri="{FF2B5EF4-FFF2-40B4-BE49-F238E27FC236}">
                <a16:creationId xmlns:a16="http://schemas.microsoft.com/office/drawing/2014/main" id="{BC1B1452-7557-37CA-CADF-1F57812652C2}"/>
              </a:ext>
            </a:extLst>
          </p:cNvPr>
          <p:cNvSpPr/>
          <p:nvPr/>
        </p:nvSpPr>
        <p:spPr>
          <a:xfrm>
            <a:off x="26238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Sum over ALL possible</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computable environments</a:t>
            </a:r>
            <a:endParaRPr lang="en-US" sz="1200">
              <a:solidFill>
                <a:schemeClr val="tx2"/>
              </a:solidFill>
            </a:endParaRPr>
          </a:p>
        </p:txBody>
      </p:sp>
      <p:sp>
        <p:nvSpPr>
          <p:cNvPr id="12" name="Shape 10">
            <a:extLst>
              <a:ext uri="{FF2B5EF4-FFF2-40B4-BE49-F238E27FC236}">
                <a16:creationId xmlns:a16="http://schemas.microsoft.com/office/drawing/2014/main" id="{D4D9F599-6D7B-16B3-AAA8-EEFCF7422A49}"/>
              </a:ext>
            </a:extLst>
          </p:cNvPr>
          <p:cNvSpPr/>
          <p:nvPr/>
        </p:nvSpPr>
        <p:spPr>
          <a:xfrm>
            <a:off x="467487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3" name="Text 11">
                <a:extLst>
                  <a:ext uri="{FF2B5EF4-FFF2-40B4-BE49-F238E27FC236}">
                    <a16:creationId xmlns:a16="http://schemas.microsoft.com/office/drawing/2014/main" id="{0B2AE0D9-745A-9C49-F4D1-966982951C80}"/>
                  </a:ext>
                </a:extLst>
              </p:cNvPr>
              <p:cNvSpPr/>
              <p:nvPr/>
            </p:nvSpPr>
            <p:spPr>
              <a:xfrm>
                <a:off x="46278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sSupPr>
                        <m:e>
                          <m:r>
                            <a:rPr lang="en-US" sz="2000" i="1">
                              <a:solidFill>
                                <a:schemeClr val="tx2"/>
                              </a:solidFill>
                              <a:latin typeface="Cambria Math" panose="02040503050406030204" pitchFamily="18" charset="0"/>
                              <a:ea typeface="Cambria Math" panose="02040503050406030204" pitchFamily="18" charset="0"/>
                              <a:cs typeface="Consolas" pitchFamily="34" charset="-120"/>
                            </a:rPr>
                            <m:t>2</m:t>
                          </m:r>
                        </m:e>
                        <m:sup>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𝐾</m:t>
                          </m:r>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tx2"/>
                              </a:solidFill>
                              <a:latin typeface="Cambria Math" panose="02040503050406030204" pitchFamily="18" charset="0"/>
                              <a:ea typeface="Cambria Math" panose="02040503050406030204" pitchFamily="18" charset="0"/>
                              <a:cs typeface="Consolas" pitchFamily="34" charset="-120"/>
                            </a:rPr>
                            <m:t>) </m:t>
                          </m:r>
                        </m:sup>
                      </m:sSup>
                    </m:oMath>
                  </m:oMathPara>
                </a14:m>
                <a:endParaRPr lang="en-US" sz="2000">
                  <a:solidFill>
                    <a:schemeClr val="tx2"/>
                  </a:solidFill>
                </a:endParaRPr>
              </a:p>
            </p:txBody>
          </p:sp>
        </mc:Choice>
        <mc:Fallback xmlns="">
          <p:sp>
            <p:nvSpPr>
              <p:cNvPr id="13" name="Text 11">
                <a:extLst>
                  <a:ext uri="{FF2B5EF4-FFF2-40B4-BE49-F238E27FC236}">
                    <a16:creationId xmlns:a16="http://schemas.microsoft.com/office/drawing/2014/main" id="{0B2AE0D9-745A-9C49-F4D1-966982951C80}"/>
                  </a:ext>
                </a:extLst>
              </p:cNvPr>
              <p:cNvSpPr>
                <a:spLocks noRot="1" noChangeAspect="1" noMove="1" noResize="1" noEditPoints="1" noAdjustHandles="1" noChangeArrowheads="1" noChangeShapeType="1" noTextEdit="1"/>
              </p:cNvSpPr>
              <p:nvPr/>
            </p:nvSpPr>
            <p:spPr>
              <a:xfrm>
                <a:off x="4627880" y="2811194"/>
                <a:ext cx="1920240" cy="548640"/>
              </a:xfrm>
              <a:prstGeom prst="rect">
                <a:avLst/>
              </a:prstGeom>
              <a:blipFill>
                <a:blip r:embed="rId6"/>
                <a:stretch>
                  <a:fillRect/>
                </a:stretch>
              </a:blipFill>
              <a:ln/>
            </p:spPr>
            <p:txBody>
              <a:bodyPr/>
              <a:lstStyle/>
              <a:p>
                <a:r>
                  <a:rPr lang="en-US">
                    <a:noFill/>
                  </a:rPr>
                  <a:t> </a:t>
                </a:r>
              </a:p>
            </p:txBody>
          </p:sp>
        </mc:Fallback>
      </mc:AlternateContent>
      <p:sp>
        <p:nvSpPr>
          <p:cNvPr id="14" name="Text 12">
            <a:extLst>
              <a:ext uri="{FF2B5EF4-FFF2-40B4-BE49-F238E27FC236}">
                <a16:creationId xmlns:a16="http://schemas.microsoft.com/office/drawing/2014/main" id="{1C122E6B-E79C-027F-D5D9-D7C45C90912A}"/>
              </a:ext>
            </a:extLst>
          </p:cNvPr>
          <p:cNvSpPr/>
          <p:nvPr/>
        </p:nvSpPr>
        <p:spPr>
          <a:xfrm>
            <a:off x="47193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Weight: simpler environments</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count more (Occam's razor)</a:t>
            </a:r>
            <a:endParaRPr lang="en-US" sz="1200">
              <a:solidFill>
                <a:schemeClr val="tx2"/>
              </a:solidFill>
            </a:endParaRPr>
          </a:p>
        </p:txBody>
      </p:sp>
      <p:sp>
        <p:nvSpPr>
          <p:cNvPr id="15" name="Shape 13">
            <a:extLst>
              <a:ext uri="{FF2B5EF4-FFF2-40B4-BE49-F238E27FC236}">
                <a16:creationId xmlns:a16="http://schemas.microsoft.com/office/drawing/2014/main" id="{911962FF-EEDF-30AF-C5BC-F41B43899171}"/>
              </a:ext>
            </a:extLst>
          </p:cNvPr>
          <p:cNvSpPr/>
          <p:nvPr/>
        </p:nvSpPr>
        <p:spPr>
          <a:xfrm>
            <a:off x="676656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6" name="Text 14">
                <a:extLst>
                  <a:ext uri="{FF2B5EF4-FFF2-40B4-BE49-F238E27FC236}">
                    <a16:creationId xmlns:a16="http://schemas.microsoft.com/office/drawing/2014/main" id="{3E893462-2166-087C-4558-7BEFD96729D9}"/>
                  </a:ext>
                </a:extLst>
              </p:cNvPr>
              <p:cNvSpPr/>
              <p:nvPr/>
            </p:nvSpPr>
            <p:spPr>
              <a:xfrm>
                <a:off x="67233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sSubSupPr>
                        <m:e>
                          <m:r>
                            <a:rPr lang="en-US" sz="2000" i="1">
                              <a:solidFill>
                                <a:schemeClr val="tx2"/>
                              </a:solidFill>
                              <a:latin typeface="Cambria Math" panose="02040503050406030204" pitchFamily="18" charset="0"/>
                              <a:ea typeface="Cambria Math" panose="02040503050406030204" pitchFamily="18" charset="0"/>
                              <a:cs typeface="Consolas" pitchFamily="34" charset="-120"/>
                            </a:rPr>
                            <m:t>𝑉</m:t>
                          </m:r>
                        </m:e>
                        <m:sub>
                          <m: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sub>
                        <m:sup>
                          <m:r>
                            <a:rPr lang="en-US" sz="2000" i="1">
                              <a:solidFill>
                                <a:schemeClr val="tx2"/>
                              </a:solidFill>
                              <a:latin typeface="Cambria Math" panose="02040503050406030204" pitchFamily="18" charset="0"/>
                              <a:ea typeface="Cambria Math" panose="02040503050406030204" pitchFamily="18" charset="0"/>
                              <a:cs typeface="Consolas" pitchFamily="34" charset="-120"/>
                            </a:rPr>
                            <m:t>𝜋</m:t>
                          </m:r>
                        </m:sup>
                      </m:sSubSup>
                    </m:oMath>
                  </m:oMathPara>
                </a14:m>
                <a:endParaRPr lang="en-US" sz="2000">
                  <a:solidFill>
                    <a:schemeClr val="tx2"/>
                  </a:solidFill>
                </a:endParaRPr>
              </a:p>
            </p:txBody>
          </p:sp>
        </mc:Choice>
        <mc:Fallback xmlns="">
          <p:sp>
            <p:nvSpPr>
              <p:cNvPr id="16" name="Text 14">
                <a:extLst>
                  <a:ext uri="{FF2B5EF4-FFF2-40B4-BE49-F238E27FC236}">
                    <a16:creationId xmlns:a16="http://schemas.microsoft.com/office/drawing/2014/main" id="{3E893462-2166-087C-4558-7BEFD96729D9}"/>
                  </a:ext>
                </a:extLst>
              </p:cNvPr>
              <p:cNvSpPr>
                <a:spLocks noRot="1" noChangeAspect="1" noMove="1" noResize="1" noEditPoints="1" noAdjustHandles="1" noChangeArrowheads="1" noChangeShapeType="1" noTextEdit="1"/>
              </p:cNvSpPr>
              <p:nvPr/>
            </p:nvSpPr>
            <p:spPr>
              <a:xfrm>
                <a:off x="6723380" y="2811194"/>
                <a:ext cx="1920240" cy="548640"/>
              </a:xfrm>
              <a:prstGeom prst="rect">
                <a:avLst/>
              </a:prstGeom>
              <a:blipFill>
                <a:blip r:embed="rId7"/>
                <a:stretch>
                  <a:fillRect/>
                </a:stretch>
              </a:blipFill>
              <a:ln/>
            </p:spPr>
            <p:txBody>
              <a:bodyPr/>
              <a:lstStyle/>
              <a:p>
                <a:r>
                  <a:rPr lang="en-US">
                    <a:noFill/>
                  </a:rPr>
                  <a:t> </a:t>
                </a:r>
              </a:p>
            </p:txBody>
          </p:sp>
        </mc:Fallback>
      </mc:AlternateContent>
      <p:sp>
        <p:nvSpPr>
          <p:cNvPr id="17" name="Text 15">
            <a:extLst>
              <a:ext uri="{FF2B5EF4-FFF2-40B4-BE49-F238E27FC236}">
                <a16:creationId xmlns:a16="http://schemas.microsoft.com/office/drawing/2014/main" id="{867DEC00-CFDC-3E3B-9713-C51E9862427B}"/>
              </a:ext>
            </a:extLst>
          </p:cNvPr>
          <p:cNvSpPr/>
          <p:nvPr/>
        </p:nvSpPr>
        <p:spPr>
          <a:xfrm>
            <a:off x="68148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Reward agent π earns</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in environment μ</a:t>
            </a:r>
            <a:endParaRPr lang="en-US" sz="1200">
              <a:solidFill>
                <a:schemeClr val="tx2"/>
              </a:solidFill>
            </a:endParaRPr>
          </a:p>
        </p:txBody>
      </p:sp>
      <p:sp>
        <p:nvSpPr>
          <p:cNvPr id="18" name="Text 16">
            <a:extLst>
              <a:ext uri="{FF2B5EF4-FFF2-40B4-BE49-F238E27FC236}">
                <a16:creationId xmlns:a16="http://schemas.microsoft.com/office/drawing/2014/main" id="{DAC9B7E5-A21D-4218-8FF4-A6C252626B31}"/>
              </a:ext>
            </a:extLst>
          </p:cNvPr>
          <p:cNvSpPr/>
          <p:nvPr/>
        </p:nvSpPr>
        <p:spPr>
          <a:xfrm>
            <a:off x="548640" y="4480560"/>
            <a:ext cx="8229600" cy="457200"/>
          </a:xfrm>
          <a:prstGeom prst="rect">
            <a:avLst/>
          </a:prstGeom>
          <a:noFill/>
          <a:ln/>
        </p:spPr>
        <p:txBody>
          <a:bodyPr wrap="square" lIns="0" tIns="0" rIns="0" bIns="0" rtlCol="0" anchor="ctr"/>
          <a:lstStyle/>
          <a:p>
            <a:pPr marL="0" indent="0" algn="ctr">
              <a:buNone/>
            </a:pPr>
            <a:r>
              <a:rPr lang="en-US" sz="1400" i="1">
                <a:solidFill>
                  <a:srgbClr val="A8CFC0"/>
                </a:solidFill>
                <a:latin typeface="Georgia" pitchFamily="34" charset="0"/>
                <a:ea typeface="Georgia" pitchFamily="34" charset="-122"/>
                <a:cs typeface="Georgia" pitchFamily="34" charset="-120"/>
              </a:rPr>
              <a:t>"</a:t>
            </a:r>
            <a:r>
              <a:rPr lang="en-US" sz="1400" i="1">
                <a:solidFill>
                  <a:schemeClr val="bg1"/>
                </a:solidFill>
                <a:latin typeface="Georgia" pitchFamily="34" charset="0"/>
                <a:ea typeface="Georgia" pitchFamily="34" charset="-122"/>
                <a:cs typeface="Georgia" pitchFamily="34" charset="-120"/>
              </a:rPr>
              <a:t>Intelligence</a:t>
            </a:r>
            <a:r>
              <a:rPr lang="en-US" sz="1400" i="1">
                <a:solidFill>
                  <a:srgbClr val="A8CFC0"/>
                </a:solidFill>
                <a:latin typeface="Georgia" pitchFamily="34" charset="0"/>
                <a:ea typeface="Georgia" pitchFamily="34" charset="-122"/>
                <a:cs typeface="Georgia" pitchFamily="34" charset="-120"/>
              </a:rPr>
              <a:t> is an agent's ability to achieve goals across a wide range of environments."</a:t>
            </a:r>
            <a:endParaRPr lang="en-US" sz="1400"/>
          </a:p>
        </p:txBody>
      </p:sp>
      <p:sp>
        <p:nvSpPr>
          <p:cNvPr id="19" name="Text 0">
            <a:extLst>
              <a:ext uri="{FF2B5EF4-FFF2-40B4-BE49-F238E27FC236}">
                <a16:creationId xmlns:a16="http://schemas.microsoft.com/office/drawing/2014/main" id="{7FC8BC0A-A94A-663B-45B1-E44EB539AC27}"/>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Tree>
    <p:extLst>
      <p:ext uri="{BB962C8B-B14F-4D97-AF65-F5344CB8AC3E}">
        <p14:creationId xmlns:p14="http://schemas.microsoft.com/office/powerpoint/2010/main" val="5435870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2FF4EAE8-3B4B-8F46-CB0D-B99628D2CEC2}"/>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BD621B0F-01D7-32CE-24D3-E598B533F700}"/>
              </a:ext>
            </a:extLst>
          </p:cNvPr>
          <p:cNvSpPr/>
          <p:nvPr/>
        </p:nvSpPr>
        <p:spPr>
          <a:xfrm>
            <a:off x="548640" y="1028114"/>
            <a:ext cx="8007531" cy="1371600"/>
          </a:xfrm>
          <a:prstGeom prst="rect">
            <a:avLst/>
          </a:prstGeom>
          <a:solidFill>
            <a:srgbClr val="222731"/>
          </a:solidFill>
          <a:ln>
            <a:solidFill>
              <a:srgbClr val="888888"/>
            </a:solidFill>
          </a:ln>
          <a:effectLst/>
        </p:spPr>
        <p:txBody>
          <a:bodyPr/>
          <a:lstStyle/>
          <a:p>
            <a:endParaRPr lang="en-US"/>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A10084CD-DA59-BAFE-F92E-030C5D99FD75}"/>
                  </a:ext>
                </a:extLst>
              </p:cNvPr>
              <p:cNvSpPr/>
              <p:nvPr/>
            </p:nvSpPr>
            <p:spPr>
              <a:xfrm>
                <a:off x="731520" y="1209822"/>
                <a:ext cx="7680960" cy="9144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3400" b="0" i="1" smtClean="0">
                          <a:solidFill>
                            <a:schemeClr val="tx2"/>
                          </a:solidFill>
                          <a:latin typeface="Cambria Math" panose="02040503050406030204" pitchFamily="18" charset="0"/>
                          <a:ea typeface="Cambria Math" panose="02040503050406030204" pitchFamily="18" charset="0"/>
                          <a:cs typeface="Consolas" pitchFamily="34" charset="-120"/>
                        </a:rPr>
                        <m:t>Υ</m:t>
                      </m:r>
                      <m:d>
                        <m:dPr>
                          <m:ctrlPr>
                            <a:rPr lang="en-US" sz="3400" b="0" i="1" smtClean="0">
                              <a:solidFill>
                                <a:schemeClr val="tx2"/>
                              </a:solidFill>
                              <a:latin typeface="Cambria Math" panose="02040503050406030204" pitchFamily="18" charset="0"/>
                              <a:ea typeface="Consolas" pitchFamily="34" charset="-122"/>
                              <a:cs typeface="Consolas" pitchFamily="34" charset="-120"/>
                            </a:rPr>
                          </m:ctrlPr>
                        </m:dPr>
                        <m:e>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𝜋</m:t>
                          </m:r>
                        </m:e>
                      </m:d>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 </m:t>
                      </m:r>
                      <m:nary>
                        <m:naryPr>
                          <m:chr m:val="∑"/>
                          <m:supHide m:val="on"/>
                          <m:ctrlP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ctrlPr>
                        </m:naryPr>
                        <m:sub>
                          <m:r>
                            <m:rPr>
                              <m:brk m:alnAt="7"/>
                            </m:rP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𝐸</m:t>
                          </m:r>
                        </m:sub>
                        <m:sup/>
                        <m:e>
                          <m:sSup>
                            <m:sSupPr>
                              <m:ctrl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ctrlPr>
                            </m:sSupPr>
                            <m:e>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2</m:t>
                              </m:r>
                            </m:e>
                            <m:sup>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𝐾</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 </m:t>
                              </m:r>
                            </m:sup>
                          </m:sSup>
                          <m:sSubSup>
                            <m:sSubSupPr>
                              <m:ctrlPr>
                                <a:rPr lang="en-US" sz="3400" i="1">
                                  <a:solidFill>
                                    <a:schemeClr val="tx2"/>
                                  </a:solidFill>
                                  <a:latin typeface="Cambria Math" panose="02040503050406030204" pitchFamily="18" charset="0"/>
                                  <a:ea typeface="Cambria Math" panose="02040503050406030204" pitchFamily="18" charset="0"/>
                                  <a:cs typeface="Consolas" pitchFamily="34" charset="-120"/>
                                </a:rPr>
                              </m:ctrlPr>
                            </m:sSubSupPr>
                            <m:e>
                              <m:r>
                                <a:rPr lang="en-US" sz="3400" i="1">
                                  <a:solidFill>
                                    <a:schemeClr val="tx2"/>
                                  </a:solidFill>
                                  <a:latin typeface="Cambria Math" panose="02040503050406030204" pitchFamily="18" charset="0"/>
                                  <a:ea typeface="Cambria Math" panose="02040503050406030204" pitchFamily="18" charset="0"/>
                                  <a:cs typeface="Consolas" pitchFamily="34" charset="-120"/>
                                </a:rPr>
                                <m:t>𝑉</m:t>
                              </m:r>
                            </m:e>
                            <m:sub>
                              <m:r>
                                <a:rPr lang="en-US" sz="3400" i="1">
                                  <a:solidFill>
                                    <a:schemeClr val="tx2"/>
                                  </a:solidFill>
                                  <a:latin typeface="Cambria Math" panose="02040503050406030204" pitchFamily="18" charset="0"/>
                                  <a:ea typeface="Cambria Math" panose="02040503050406030204" pitchFamily="18" charset="0"/>
                                  <a:cs typeface="Consolas" pitchFamily="34" charset="-120"/>
                                </a:rPr>
                                <m:t>𝜇</m:t>
                              </m:r>
                            </m:sub>
                            <m:sup>
                              <m:r>
                                <a:rPr lang="en-US" sz="3400" i="1">
                                  <a:solidFill>
                                    <a:schemeClr val="tx2"/>
                                  </a:solidFill>
                                  <a:latin typeface="Cambria Math" panose="02040503050406030204" pitchFamily="18" charset="0"/>
                                  <a:ea typeface="Cambria Math" panose="02040503050406030204" pitchFamily="18" charset="0"/>
                                  <a:cs typeface="Consolas" pitchFamily="34" charset="-120"/>
                                </a:rPr>
                                <m:t>𝜋</m:t>
                              </m:r>
                            </m:sup>
                          </m:sSubSup>
                        </m:e>
                      </m:nary>
                    </m:oMath>
                  </m:oMathPara>
                </a14:m>
                <a:endParaRPr lang="en-US" sz="3400">
                  <a:solidFill>
                    <a:srgbClr val="E0A458"/>
                  </a:solidFill>
                  <a:latin typeface="Consolas" pitchFamily="34" charset="0"/>
                  <a:ea typeface="Consolas" pitchFamily="34" charset="-122"/>
                  <a:cs typeface="Consolas" pitchFamily="34" charset="-120"/>
                </a:endParaRPr>
              </a:p>
            </p:txBody>
          </p:sp>
        </mc:Choice>
        <mc:Fallback xmlns="">
          <p:sp>
            <p:nvSpPr>
              <p:cNvPr id="4" name="Text 2">
                <a:extLst>
                  <a:ext uri="{FF2B5EF4-FFF2-40B4-BE49-F238E27FC236}">
                    <a16:creationId xmlns:a16="http://schemas.microsoft.com/office/drawing/2014/main" id="{A10084CD-DA59-BAFE-F92E-030C5D99FD75}"/>
                  </a:ext>
                </a:extLst>
              </p:cNvPr>
              <p:cNvSpPr>
                <a:spLocks noRot="1" noChangeAspect="1" noMove="1" noResize="1" noEditPoints="1" noAdjustHandles="1" noChangeArrowheads="1" noChangeShapeType="1" noTextEdit="1"/>
              </p:cNvSpPr>
              <p:nvPr/>
            </p:nvSpPr>
            <p:spPr>
              <a:xfrm>
                <a:off x="731520" y="1209822"/>
                <a:ext cx="7680960" cy="914400"/>
              </a:xfrm>
              <a:prstGeom prst="rect">
                <a:avLst/>
              </a:prstGeom>
              <a:blipFill>
                <a:blip r:embed="rId3"/>
                <a:stretch>
                  <a:fillRect t="-226027" b="-298630"/>
                </a:stretch>
              </a:blipFill>
              <a:ln/>
            </p:spPr>
            <p:txBody>
              <a:bodyPr/>
              <a:lstStyle/>
              <a:p>
                <a:r>
                  <a:rPr lang="en-US">
                    <a:noFill/>
                  </a:rPr>
                  <a:t> </a:t>
                </a:r>
              </a:p>
            </p:txBody>
          </p:sp>
        </mc:Fallback>
      </mc:AlternateContent>
      <p:sp>
        <p:nvSpPr>
          <p:cNvPr id="6" name="Shape 4">
            <a:extLst>
              <a:ext uri="{FF2B5EF4-FFF2-40B4-BE49-F238E27FC236}">
                <a16:creationId xmlns:a16="http://schemas.microsoft.com/office/drawing/2014/main" id="{A7470B9D-4D85-FDDC-63A6-6A60E3105BD7}"/>
              </a:ext>
            </a:extLst>
          </p:cNvPr>
          <p:cNvSpPr/>
          <p:nvPr/>
        </p:nvSpPr>
        <p:spPr>
          <a:xfrm>
            <a:off x="5461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7" name="Text 5">
                <a:extLst>
                  <a:ext uri="{FF2B5EF4-FFF2-40B4-BE49-F238E27FC236}">
                    <a16:creationId xmlns:a16="http://schemas.microsoft.com/office/drawing/2014/main" id="{83815F15-B686-1C45-1835-1D004FAC6A8D}"/>
                  </a:ext>
                </a:extLst>
              </p:cNvPr>
              <p:cNvSpPr/>
              <p:nvPr/>
            </p:nvSpPr>
            <p:spPr>
              <a:xfrm>
                <a:off x="500380" y="2864729"/>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2000" i="1" smtClean="0">
                          <a:solidFill>
                            <a:schemeClr val="tx2"/>
                          </a:solidFill>
                          <a:latin typeface="Cambria Math" panose="02040503050406030204" pitchFamily="18" charset="0"/>
                          <a:ea typeface="Cambria Math" panose="02040503050406030204" pitchFamily="18" charset="0"/>
                          <a:cs typeface="Consolas" pitchFamily="34" charset="-120"/>
                        </a:rPr>
                        <m:t>Υ</m:t>
                      </m:r>
                      <m:d>
                        <m:dPr>
                          <m:ctrlPr>
                            <a:rPr lang="en-US" sz="2000" i="1">
                              <a:solidFill>
                                <a:schemeClr val="tx2"/>
                              </a:solidFill>
                              <a:latin typeface="Cambria Math" panose="02040503050406030204" pitchFamily="18" charset="0"/>
                              <a:ea typeface="Consolas" pitchFamily="34" charset="-122"/>
                              <a:cs typeface="Consolas" pitchFamily="34" charset="-120"/>
                            </a:rPr>
                          </m:ctrlPr>
                        </m:dPr>
                        <m:e>
                          <m:r>
                            <a:rPr lang="en-US" sz="2000" i="1">
                              <a:solidFill>
                                <a:schemeClr val="tx2"/>
                              </a:solidFill>
                              <a:latin typeface="Cambria Math" panose="02040503050406030204" pitchFamily="18" charset="0"/>
                              <a:ea typeface="Cambria Math" panose="02040503050406030204" pitchFamily="18" charset="0"/>
                              <a:cs typeface="Consolas" pitchFamily="34" charset="-120"/>
                            </a:rPr>
                            <m:t>𝜋</m:t>
                          </m:r>
                        </m:e>
                      </m:d>
                    </m:oMath>
                  </m:oMathPara>
                </a14:m>
                <a:endParaRPr lang="en-US" sz="2000">
                  <a:solidFill>
                    <a:schemeClr val="tx2"/>
                  </a:solidFill>
                </a:endParaRPr>
              </a:p>
            </p:txBody>
          </p:sp>
        </mc:Choice>
        <mc:Fallback xmlns="">
          <p:sp>
            <p:nvSpPr>
              <p:cNvPr id="7" name="Text 5">
                <a:extLst>
                  <a:ext uri="{FF2B5EF4-FFF2-40B4-BE49-F238E27FC236}">
                    <a16:creationId xmlns:a16="http://schemas.microsoft.com/office/drawing/2014/main" id="{83815F15-B686-1C45-1835-1D004FAC6A8D}"/>
                  </a:ext>
                </a:extLst>
              </p:cNvPr>
              <p:cNvSpPr>
                <a:spLocks noRot="1" noChangeAspect="1" noMove="1" noResize="1" noEditPoints="1" noAdjustHandles="1" noChangeArrowheads="1" noChangeShapeType="1" noTextEdit="1"/>
              </p:cNvSpPr>
              <p:nvPr/>
            </p:nvSpPr>
            <p:spPr>
              <a:xfrm>
                <a:off x="500380" y="2864729"/>
                <a:ext cx="1920240" cy="548640"/>
              </a:xfrm>
              <a:prstGeom prst="rect">
                <a:avLst/>
              </a:prstGeom>
              <a:blipFill>
                <a:blip r:embed="rId4"/>
                <a:stretch>
                  <a:fillRect/>
                </a:stretch>
              </a:blipFill>
              <a:ln/>
            </p:spPr>
            <p:txBody>
              <a:bodyPr/>
              <a:lstStyle/>
              <a:p>
                <a:r>
                  <a:rPr lang="en-US">
                    <a:noFill/>
                  </a:rPr>
                  <a:t> </a:t>
                </a:r>
              </a:p>
            </p:txBody>
          </p:sp>
        </mc:Fallback>
      </mc:AlternateContent>
      <p:sp>
        <p:nvSpPr>
          <p:cNvPr id="8" name="Text 6">
            <a:extLst>
              <a:ext uri="{FF2B5EF4-FFF2-40B4-BE49-F238E27FC236}">
                <a16:creationId xmlns:a16="http://schemas.microsoft.com/office/drawing/2014/main" id="{4E91852D-7F22-5364-AEF7-91822E0F6852}"/>
              </a:ext>
            </a:extLst>
          </p:cNvPr>
          <p:cNvSpPr/>
          <p:nvPr/>
        </p:nvSpPr>
        <p:spPr>
          <a:xfrm>
            <a:off x="591819"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Intelligence of agent π</a:t>
            </a:r>
            <a:endParaRPr lang="en-US" sz="1200">
              <a:solidFill>
                <a:schemeClr val="tx2"/>
              </a:solidFill>
            </a:endParaRPr>
          </a:p>
        </p:txBody>
      </p:sp>
      <p:sp>
        <p:nvSpPr>
          <p:cNvPr id="9" name="Shape 7">
            <a:extLst>
              <a:ext uri="{FF2B5EF4-FFF2-40B4-BE49-F238E27FC236}">
                <a16:creationId xmlns:a16="http://schemas.microsoft.com/office/drawing/2014/main" id="{D96054CE-2E4B-40D9-9C9F-26CEC4103BAA}"/>
              </a:ext>
            </a:extLst>
          </p:cNvPr>
          <p:cNvSpPr/>
          <p:nvPr/>
        </p:nvSpPr>
        <p:spPr>
          <a:xfrm>
            <a:off x="2578100" y="2651760"/>
            <a:ext cx="1828800" cy="1645920"/>
          </a:xfrm>
          <a:prstGeom prst="rect">
            <a:avLst/>
          </a:prstGeom>
          <a:solidFill>
            <a:srgbClr val="222731"/>
          </a:solidFill>
          <a:ln>
            <a:solidFill>
              <a:srgbClr val="888888"/>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0" name="Text 8">
                <a:extLst>
                  <a:ext uri="{FF2B5EF4-FFF2-40B4-BE49-F238E27FC236}">
                    <a16:creationId xmlns:a16="http://schemas.microsoft.com/office/drawing/2014/main" id="{9DBF982D-92EA-6058-0C22-48BAC45AE31A}"/>
                  </a:ext>
                </a:extLst>
              </p:cNvPr>
              <p:cNvSpPr/>
              <p:nvPr/>
            </p:nvSpPr>
            <p:spPr>
              <a:xfrm>
                <a:off x="2532380" y="2826825"/>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US" sz="2000" i="1" smtClean="0">
                              <a:solidFill>
                                <a:schemeClr val="accent4"/>
                              </a:solidFill>
                              <a:latin typeface="Cambria Math" panose="02040503050406030204" pitchFamily="18" charset="0"/>
                              <a:ea typeface="Cambria Math" panose="02040503050406030204" pitchFamily="18" charset="0"/>
                              <a:cs typeface="Consolas" pitchFamily="34" charset="-120"/>
                            </a:rPr>
                          </m:ctrlPr>
                        </m:naryPr>
                        <m:sub>
                          <m:r>
                            <m:rPr>
                              <m:brk m:alnAt="7"/>
                            </m:rPr>
                            <a:rPr lang="en-US" sz="200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bg2">
                                  <a:lumMod val="75000"/>
                                </a:schemeClr>
                              </a:solidFill>
                              <a:latin typeface="Cambria Math" panose="02040503050406030204" pitchFamily="18" charset="0"/>
                              <a:ea typeface="Cambria Math" panose="02040503050406030204" pitchFamily="18" charset="0"/>
                              <a:cs typeface="Consolas" pitchFamily="34" charset="-120"/>
                            </a:rPr>
                            <m:t>∈</m:t>
                          </m:r>
                          <m:r>
                            <a:rPr lang="en-US" sz="2000" i="1">
                              <a:solidFill>
                                <a:schemeClr val="bg2">
                                  <a:lumMod val="75000"/>
                                </a:schemeClr>
                              </a:solidFill>
                              <a:latin typeface="Cambria Math" panose="02040503050406030204" pitchFamily="18" charset="0"/>
                              <a:ea typeface="Cambria Math" panose="02040503050406030204" pitchFamily="18" charset="0"/>
                              <a:cs typeface="Consolas" pitchFamily="34" charset="-120"/>
                            </a:rPr>
                            <m:t>𝐸</m:t>
                          </m:r>
                        </m:sub>
                        <m:sup/>
                        <m:e>
                          <m:r>
                            <a:rPr lang="en-US" sz="2000" b="0" i="1" smtClean="0">
                              <a:solidFill>
                                <a:schemeClr val="accent4"/>
                              </a:solidFill>
                              <a:latin typeface="Cambria Math" panose="02040503050406030204" pitchFamily="18" charset="0"/>
                              <a:ea typeface="Cambria Math" panose="02040503050406030204" pitchFamily="18" charset="0"/>
                              <a:cs typeface="Consolas" pitchFamily="34" charset="-120"/>
                            </a:rPr>
                            <m:t> </m:t>
                          </m:r>
                        </m:e>
                      </m:nary>
                    </m:oMath>
                  </m:oMathPara>
                </a14:m>
                <a:endParaRPr lang="en-US" sz="2000">
                  <a:solidFill>
                    <a:schemeClr val="accent4"/>
                  </a:solidFill>
                </a:endParaRPr>
              </a:p>
            </p:txBody>
          </p:sp>
        </mc:Choice>
        <mc:Fallback xmlns="">
          <p:sp>
            <p:nvSpPr>
              <p:cNvPr id="10" name="Text 8">
                <a:extLst>
                  <a:ext uri="{FF2B5EF4-FFF2-40B4-BE49-F238E27FC236}">
                    <a16:creationId xmlns:a16="http://schemas.microsoft.com/office/drawing/2014/main" id="{9DBF982D-92EA-6058-0C22-48BAC45AE31A}"/>
                  </a:ext>
                </a:extLst>
              </p:cNvPr>
              <p:cNvSpPr>
                <a:spLocks noRot="1" noChangeAspect="1" noMove="1" noResize="1" noEditPoints="1" noAdjustHandles="1" noChangeArrowheads="1" noChangeShapeType="1" noTextEdit="1"/>
              </p:cNvSpPr>
              <p:nvPr/>
            </p:nvSpPr>
            <p:spPr>
              <a:xfrm>
                <a:off x="2532380" y="2826825"/>
                <a:ext cx="1920240" cy="548640"/>
              </a:xfrm>
              <a:prstGeom prst="rect">
                <a:avLst/>
              </a:prstGeom>
              <a:blipFill>
                <a:blip r:embed="rId5"/>
                <a:stretch>
                  <a:fillRect l="-13158" t="-218182" b="-290909"/>
                </a:stretch>
              </a:blipFill>
              <a:ln/>
            </p:spPr>
            <p:txBody>
              <a:bodyPr/>
              <a:lstStyle/>
              <a:p>
                <a:r>
                  <a:rPr lang="en-US">
                    <a:noFill/>
                  </a:rPr>
                  <a:t> </a:t>
                </a:r>
              </a:p>
            </p:txBody>
          </p:sp>
        </mc:Fallback>
      </mc:AlternateContent>
      <p:sp>
        <p:nvSpPr>
          <p:cNvPr id="11" name="Text 9">
            <a:extLst>
              <a:ext uri="{FF2B5EF4-FFF2-40B4-BE49-F238E27FC236}">
                <a16:creationId xmlns:a16="http://schemas.microsoft.com/office/drawing/2014/main" id="{CCD27E8D-8D29-DA21-9594-61822BE9A929}"/>
              </a:ext>
            </a:extLst>
          </p:cNvPr>
          <p:cNvSpPr/>
          <p:nvPr/>
        </p:nvSpPr>
        <p:spPr>
          <a:xfrm>
            <a:off x="2623820" y="3566160"/>
            <a:ext cx="1737360" cy="594360"/>
          </a:xfrm>
          <a:prstGeom prst="rect">
            <a:avLst/>
          </a:prstGeom>
          <a:noFill/>
          <a:ln/>
        </p:spPr>
        <p:txBody>
          <a:bodyPr wrap="square" lIns="0" tIns="0" rIns="0" bIns="0" rtlCol="0" anchor="t"/>
          <a:lstStyle/>
          <a:p>
            <a:pPr marL="0" indent="0" algn="ctr">
              <a:buNone/>
            </a:pPr>
            <a:r>
              <a:rPr lang="en-US" sz="1200">
                <a:solidFill>
                  <a:schemeClr val="bg2"/>
                </a:solidFill>
                <a:latin typeface="Calibri" pitchFamily="34" charset="0"/>
                <a:ea typeface="Calibri" pitchFamily="34" charset="-122"/>
                <a:cs typeface="Calibri" pitchFamily="34" charset="-120"/>
              </a:rPr>
              <a:t>Sum over ALL possible</a:t>
            </a:r>
            <a:endParaRPr lang="en-US" sz="1200">
              <a:solidFill>
                <a:schemeClr val="bg2"/>
              </a:solidFill>
            </a:endParaRPr>
          </a:p>
          <a:p>
            <a:pPr marL="0" indent="0" algn="ctr">
              <a:buNone/>
            </a:pPr>
            <a:r>
              <a:rPr lang="en-US" sz="1200">
                <a:solidFill>
                  <a:schemeClr val="bg2"/>
                </a:solidFill>
                <a:latin typeface="Calibri" pitchFamily="34" charset="0"/>
                <a:ea typeface="Calibri" pitchFamily="34" charset="-122"/>
                <a:cs typeface="Calibri" pitchFamily="34" charset="-120"/>
              </a:rPr>
              <a:t>computable environments</a:t>
            </a:r>
            <a:endParaRPr lang="en-US" sz="1200">
              <a:solidFill>
                <a:schemeClr val="bg2"/>
              </a:solidFill>
            </a:endParaRPr>
          </a:p>
        </p:txBody>
      </p:sp>
      <p:sp>
        <p:nvSpPr>
          <p:cNvPr id="12" name="Shape 10">
            <a:extLst>
              <a:ext uri="{FF2B5EF4-FFF2-40B4-BE49-F238E27FC236}">
                <a16:creationId xmlns:a16="http://schemas.microsoft.com/office/drawing/2014/main" id="{28BB7802-F628-EA3C-FCA8-21FF0018D643}"/>
              </a:ext>
            </a:extLst>
          </p:cNvPr>
          <p:cNvSpPr/>
          <p:nvPr/>
        </p:nvSpPr>
        <p:spPr>
          <a:xfrm>
            <a:off x="46736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3" name="Text 11">
                <a:extLst>
                  <a:ext uri="{FF2B5EF4-FFF2-40B4-BE49-F238E27FC236}">
                    <a16:creationId xmlns:a16="http://schemas.microsoft.com/office/drawing/2014/main" id="{8A031A01-CCAF-D087-1C36-CFE14824464A}"/>
                  </a:ext>
                </a:extLst>
              </p:cNvPr>
              <p:cNvSpPr/>
              <p:nvPr/>
            </p:nvSpPr>
            <p:spPr>
              <a:xfrm>
                <a:off x="46278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sSupPr>
                        <m:e>
                          <m:r>
                            <a:rPr lang="en-US" sz="2000" i="1">
                              <a:solidFill>
                                <a:schemeClr val="tx2"/>
                              </a:solidFill>
                              <a:latin typeface="Cambria Math" panose="02040503050406030204" pitchFamily="18" charset="0"/>
                              <a:ea typeface="Cambria Math" panose="02040503050406030204" pitchFamily="18" charset="0"/>
                              <a:cs typeface="Consolas" pitchFamily="34" charset="-120"/>
                            </a:rPr>
                            <m:t>2</m:t>
                          </m:r>
                        </m:e>
                        <m:sup>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𝐾</m:t>
                          </m:r>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tx2"/>
                              </a:solidFill>
                              <a:latin typeface="Cambria Math" panose="02040503050406030204" pitchFamily="18" charset="0"/>
                              <a:ea typeface="Cambria Math" panose="02040503050406030204" pitchFamily="18" charset="0"/>
                              <a:cs typeface="Consolas" pitchFamily="34" charset="-120"/>
                            </a:rPr>
                            <m:t>) </m:t>
                          </m:r>
                        </m:sup>
                      </m:sSup>
                    </m:oMath>
                  </m:oMathPara>
                </a14:m>
                <a:endParaRPr lang="en-US" sz="2000">
                  <a:solidFill>
                    <a:schemeClr val="tx2"/>
                  </a:solidFill>
                </a:endParaRPr>
              </a:p>
            </p:txBody>
          </p:sp>
        </mc:Choice>
        <mc:Fallback xmlns="">
          <p:sp>
            <p:nvSpPr>
              <p:cNvPr id="13" name="Text 11">
                <a:extLst>
                  <a:ext uri="{FF2B5EF4-FFF2-40B4-BE49-F238E27FC236}">
                    <a16:creationId xmlns:a16="http://schemas.microsoft.com/office/drawing/2014/main" id="{8A031A01-CCAF-D087-1C36-CFE14824464A}"/>
                  </a:ext>
                </a:extLst>
              </p:cNvPr>
              <p:cNvSpPr>
                <a:spLocks noRot="1" noChangeAspect="1" noMove="1" noResize="1" noEditPoints="1" noAdjustHandles="1" noChangeArrowheads="1" noChangeShapeType="1" noTextEdit="1"/>
              </p:cNvSpPr>
              <p:nvPr/>
            </p:nvSpPr>
            <p:spPr>
              <a:xfrm>
                <a:off x="4627880" y="2811194"/>
                <a:ext cx="1920240" cy="548640"/>
              </a:xfrm>
              <a:prstGeom prst="rect">
                <a:avLst/>
              </a:prstGeom>
              <a:blipFill>
                <a:blip r:embed="rId6"/>
                <a:stretch>
                  <a:fillRect/>
                </a:stretch>
              </a:blipFill>
              <a:ln/>
            </p:spPr>
            <p:txBody>
              <a:bodyPr/>
              <a:lstStyle/>
              <a:p>
                <a:r>
                  <a:rPr lang="en-US">
                    <a:noFill/>
                  </a:rPr>
                  <a:t> </a:t>
                </a:r>
              </a:p>
            </p:txBody>
          </p:sp>
        </mc:Fallback>
      </mc:AlternateContent>
      <p:sp>
        <p:nvSpPr>
          <p:cNvPr id="14" name="Text 12">
            <a:extLst>
              <a:ext uri="{FF2B5EF4-FFF2-40B4-BE49-F238E27FC236}">
                <a16:creationId xmlns:a16="http://schemas.microsoft.com/office/drawing/2014/main" id="{93203311-EEC5-E880-91AE-20AE08B4AEA4}"/>
              </a:ext>
            </a:extLst>
          </p:cNvPr>
          <p:cNvSpPr/>
          <p:nvPr/>
        </p:nvSpPr>
        <p:spPr>
          <a:xfrm>
            <a:off x="47193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Weight: simpler environments</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count more (Occam's razor)</a:t>
            </a:r>
            <a:endParaRPr lang="en-US" sz="1200">
              <a:solidFill>
                <a:schemeClr val="tx2"/>
              </a:solidFill>
            </a:endParaRPr>
          </a:p>
        </p:txBody>
      </p:sp>
      <p:sp>
        <p:nvSpPr>
          <p:cNvPr id="15" name="Shape 13">
            <a:extLst>
              <a:ext uri="{FF2B5EF4-FFF2-40B4-BE49-F238E27FC236}">
                <a16:creationId xmlns:a16="http://schemas.microsoft.com/office/drawing/2014/main" id="{07234204-DEE3-907A-1508-9DD26B4FA242}"/>
              </a:ext>
            </a:extLst>
          </p:cNvPr>
          <p:cNvSpPr/>
          <p:nvPr/>
        </p:nvSpPr>
        <p:spPr>
          <a:xfrm>
            <a:off x="67691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6" name="Text 14">
                <a:extLst>
                  <a:ext uri="{FF2B5EF4-FFF2-40B4-BE49-F238E27FC236}">
                    <a16:creationId xmlns:a16="http://schemas.microsoft.com/office/drawing/2014/main" id="{DF1E7876-856F-4606-AE0C-080D400AB3A4}"/>
                  </a:ext>
                </a:extLst>
              </p:cNvPr>
              <p:cNvSpPr/>
              <p:nvPr/>
            </p:nvSpPr>
            <p:spPr>
              <a:xfrm>
                <a:off x="67233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sSubSupPr>
                        <m:e>
                          <m:r>
                            <a:rPr lang="en-US" sz="2000" i="1">
                              <a:solidFill>
                                <a:schemeClr val="tx2"/>
                              </a:solidFill>
                              <a:latin typeface="Cambria Math" panose="02040503050406030204" pitchFamily="18" charset="0"/>
                              <a:ea typeface="Cambria Math" panose="02040503050406030204" pitchFamily="18" charset="0"/>
                              <a:cs typeface="Consolas" pitchFamily="34" charset="-120"/>
                            </a:rPr>
                            <m:t>𝑉</m:t>
                          </m:r>
                        </m:e>
                        <m:sub>
                          <m: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sub>
                        <m:sup>
                          <m:r>
                            <a:rPr lang="en-US" sz="2000" i="1">
                              <a:solidFill>
                                <a:schemeClr val="tx2"/>
                              </a:solidFill>
                              <a:latin typeface="Cambria Math" panose="02040503050406030204" pitchFamily="18" charset="0"/>
                              <a:ea typeface="Cambria Math" panose="02040503050406030204" pitchFamily="18" charset="0"/>
                              <a:cs typeface="Consolas" pitchFamily="34" charset="-120"/>
                            </a:rPr>
                            <m:t>𝜋</m:t>
                          </m:r>
                        </m:sup>
                      </m:sSubSup>
                    </m:oMath>
                  </m:oMathPara>
                </a14:m>
                <a:endParaRPr lang="en-US" sz="2000">
                  <a:solidFill>
                    <a:schemeClr val="tx2"/>
                  </a:solidFill>
                </a:endParaRPr>
              </a:p>
            </p:txBody>
          </p:sp>
        </mc:Choice>
        <mc:Fallback xmlns="">
          <p:sp>
            <p:nvSpPr>
              <p:cNvPr id="16" name="Text 14">
                <a:extLst>
                  <a:ext uri="{FF2B5EF4-FFF2-40B4-BE49-F238E27FC236}">
                    <a16:creationId xmlns:a16="http://schemas.microsoft.com/office/drawing/2014/main" id="{DF1E7876-856F-4606-AE0C-080D400AB3A4}"/>
                  </a:ext>
                </a:extLst>
              </p:cNvPr>
              <p:cNvSpPr>
                <a:spLocks noRot="1" noChangeAspect="1" noMove="1" noResize="1" noEditPoints="1" noAdjustHandles="1" noChangeArrowheads="1" noChangeShapeType="1" noTextEdit="1"/>
              </p:cNvSpPr>
              <p:nvPr/>
            </p:nvSpPr>
            <p:spPr>
              <a:xfrm>
                <a:off x="6723380" y="2811194"/>
                <a:ext cx="1920240" cy="548640"/>
              </a:xfrm>
              <a:prstGeom prst="rect">
                <a:avLst/>
              </a:prstGeom>
              <a:blipFill>
                <a:blip r:embed="rId7"/>
                <a:stretch>
                  <a:fillRect/>
                </a:stretch>
              </a:blipFill>
              <a:ln/>
            </p:spPr>
            <p:txBody>
              <a:bodyPr/>
              <a:lstStyle/>
              <a:p>
                <a:r>
                  <a:rPr lang="en-US">
                    <a:noFill/>
                  </a:rPr>
                  <a:t> </a:t>
                </a:r>
              </a:p>
            </p:txBody>
          </p:sp>
        </mc:Fallback>
      </mc:AlternateContent>
      <p:sp>
        <p:nvSpPr>
          <p:cNvPr id="17" name="Text 15">
            <a:extLst>
              <a:ext uri="{FF2B5EF4-FFF2-40B4-BE49-F238E27FC236}">
                <a16:creationId xmlns:a16="http://schemas.microsoft.com/office/drawing/2014/main" id="{8F52640E-14B0-020C-9A4D-72949AADFFD0}"/>
              </a:ext>
            </a:extLst>
          </p:cNvPr>
          <p:cNvSpPr/>
          <p:nvPr/>
        </p:nvSpPr>
        <p:spPr>
          <a:xfrm>
            <a:off x="68148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Reward agent π earns</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in environment μ</a:t>
            </a:r>
            <a:endParaRPr lang="en-US" sz="1200">
              <a:solidFill>
                <a:schemeClr val="tx2"/>
              </a:solidFill>
            </a:endParaRPr>
          </a:p>
        </p:txBody>
      </p:sp>
      <p:sp>
        <p:nvSpPr>
          <p:cNvPr id="18" name="Text 16">
            <a:extLst>
              <a:ext uri="{FF2B5EF4-FFF2-40B4-BE49-F238E27FC236}">
                <a16:creationId xmlns:a16="http://schemas.microsoft.com/office/drawing/2014/main" id="{547D63AA-4E82-F49C-9729-4AB58DA97247}"/>
              </a:ext>
            </a:extLst>
          </p:cNvPr>
          <p:cNvSpPr/>
          <p:nvPr/>
        </p:nvSpPr>
        <p:spPr>
          <a:xfrm>
            <a:off x="548640" y="4480560"/>
            <a:ext cx="8229600" cy="457200"/>
          </a:xfrm>
          <a:prstGeom prst="rect">
            <a:avLst/>
          </a:prstGeom>
          <a:noFill/>
          <a:ln/>
        </p:spPr>
        <p:txBody>
          <a:bodyPr wrap="square" lIns="0" tIns="0" rIns="0" bIns="0" rtlCol="0" anchor="ctr"/>
          <a:lstStyle/>
          <a:p>
            <a:pPr marL="0" indent="0" algn="ctr">
              <a:buNone/>
            </a:pPr>
            <a:r>
              <a:rPr lang="en-US" sz="1400" i="1">
                <a:solidFill>
                  <a:srgbClr val="A8CFC0"/>
                </a:solidFill>
                <a:latin typeface="Georgia" pitchFamily="34" charset="0"/>
                <a:ea typeface="Georgia" pitchFamily="34" charset="-122"/>
                <a:cs typeface="Georgia" pitchFamily="34" charset="-120"/>
              </a:rPr>
              <a:t>"Intelligence is an agent's ability to achieve goals </a:t>
            </a:r>
            <a:r>
              <a:rPr lang="en-US" sz="1400" i="1">
                <a:solidFill>
                  <a:schemeClr val="bg1"/>
                </a:solidFill>
                <a:latin typeface="Georgia" pitchFamily="34" charset="0"/>
                <a:ea typeface="Georgia" pitchFamily="34" charset="-122"/>
                <a:cs typeface="Georgia" pitchFamily="34" charset="-120"/>
              </a:rPr>
              <a:t>across a wide range of environments."</a:t>
            </a:r>
            <a:endParaRPr lang="en-US" sz="1400">
              <a:solidFill>
                <a:schemeClr val="bg1"/>
              </a:solidFill>
            </a:endParaRPr>
          </a:p>
        </p:txBody>
      </p:sp>
      <p:sp>
        <p:nvSpPr>
          <p:cNvPr id="5" name="Text 0">
            <a:extLst>
              <a:ext uri="{FF2B5EF4-FFF2-40B4-BE49-F238E27FC236}">
                <a16:creationId xmlns:a16="http://schemas.microsoft.com/office/drawing/2014/main" id="{F3894F9B-E6E2-121A-92DC-5AFD105C0813}"/>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Tree>
    <p:extLst>
      <p:ext uri="{BB962C8B-B14F-4D97-AF65-F5344CB8AC3E}">
        <p14:creationId xmlns:p14="http://schemas.microsoft.com/office/powerpoint/2010/main" val="1292408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6368E8ED-D998-3FBF-3900-89C61BBEC369}"/>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68B379F2-F990-EEA6-A5B7-4A45E776122A}"/>
              </a:ext>
            </a:extLst>
          </p:cNvPr>
          <p:cNvSpPr/>
          <p:nvPr/>
        </p:nvSpPr>
        <p:spPr>
          <a:xfrm>
            <a:off x="548640" y="1028114"/>
            <a:ext cx="8007531" cy="1371600"/>
          </a:xfrm>
          <a:prstGeom prst="rect">
            <a:avLst/>
          </a:prstGeom>
          <a:solidFill>
            <a:srgbClr val="222731"/>
          </a:solidFill>
          <a:ln>
            <a:solidFill>
              <a:srgbClr val="888888"/>
            </a:solidFill>
          </a:ln>
          <a:effectLst/>
        </p:spPr>
        <p:txBody>
          <a:bodyPr/>
          <a:lstStyle/>
          <a:p>
            <a:endParaRPr lang="en-US"/>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80AC73FF-11D2-BA30-8CC6-799D0EF7D4FB}"/>
                  </a:ext>
                </a:extLst>
              </p:cNvPr>
              <p:cNvSpPr/>
              <p:nvPr/>
            </p:nvSpPr>
            <p:spPr>
              <a:xfrm>
                <a:off x="731520" y="1209822"/>
                <a:ext cx="7680960" cy="9144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3400" b="0" i="1" smtClean="0">
                          <a:solidFill>
                            <a:schemeClr val="tx2"/>
                          </a:solidFill>
                          <a:latin typeface="Cambria Math" panose="02040503050406030204" pitchFamily="18" charset="0"/>
                          <a:ea typeface="Cambria Math" panose="02040503050406030204" pitchFamily="18" charset="0"/>
                          <a:cs typeface="Consolas" pitchFamily="34" charset="-120"/>
                        </a:rPr>
                        <m:t>Υ</m:t>
                      </m:r>
                      <m:d>
                        <m:dPr>
                          <m:ctrlPr>
                            <a:rPr lang="en-US" sz="3400" b="0" i="1" smtClean="0">
                              <a:solidFill>
                                <a:schemeClr val="tx2"/>
                              </a:solidFill>
                              <a:latin typeface="Cambria Math" panose="02040503050406030204" pitchFamily="18" charset="0"/>
                              <a:ea typeface="Consolas" pitchFamily="34" charset="-122"/>
                              <a:cs typeface="Consolas" pitchFamily="34" charset="-120"/>
                            </a:rPr>
                          </m:ctrlPr>
                        </m:dPr>
                        <m:e>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𝜋</m:t>
                          </m:r>
                        </m:e>
                      </m:d>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 </m:t>
                      </m:r>
                      <m:nary>
                        <m:naryPr>
                          <m:chr m:val="∑"/>
                          <m:supHide m:val="on"/>
                          <m:ctrl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ctrlPr>
                        </m:naryPr>
                        <m:sub>
                          <m:r>
                            <m:rPr>
                              <m:brk m:alnAt="7"/>
                            </m:r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𝐸</m:t>
                          </m:r>
                        </m:sub>
                        <m:sup/>
                        <m:e>
                          <m:sSup>
                            <m:sSupPr>
                              <m:ctrlP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ctrlPr>
                            </m:sSupPr>
                            <m:e>
                              <m: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t>2</m:t>
                              </m:r>
                            </m:e>
                            <m:sup>
                              <m: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t>𝐾</m:t>
                              </m:r>
                              <m: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accent4"/>
                                  </a:solidFill>
                                  <a:latin typeface="Cambria Math" panose="02040503050406030204" pitchFamily="18" charset="0"/>
                                  <a:ea typeface="Cambria Math" panose="02040503050406030204" pitchFamily="18" charset="0"/>
                                  <a:cs typeface="Consolas" pitchFamily="34" charset="-120"/>
                                </a:rPr>
                                <m:t>) </m:t>
                              </m:r>
                            </m:sup>
                          </m:sSup>
                          <m:sSubSup>
                            <m:sSubSupPr>
                              <m:ctrlPr>
                                <a:rPr lang="en-US" sz="3400" i="1">
                                  <a:solidFill>
                                    <a:schemeClr val="tx2"/>
                                  </a:solidFill>
                                  <a:latin typeface="Cambria Math" panose="02040503050406030204" pitchFamily="18" charset="0"/>
                                  <a:ea typeface="Cambria Math" panose="02040503050406030204" pitchFamily="18" charset="0"/>
                                  <a:cs typeface="Consolas" pitchFamily="34" charset="-120"/>
                                </a:rPr>
                              </m:ctrlPr>
                            </m:sSubSupPr>
                            <m:e>
                              <m:r>
                                <a:rPr lang="en-US" sz="3400" i="1">
                                  <a:solidFill>
                                    <a:schemeClr val="tx2"/>
                                  </a:solidFill>
                                  <a:latin typeface="Cambria Math" panose="02040503050406030204" pitchFamily="18" charset="0"/>
                                  <a:ea typeface="Cambria Math" panose="02040503050406030204" pitchFamily="18" charset="0"/>
                                  <a:cs typeface="Consolas" pitchFamily="34" charset="-120"/>
                                </a:rPr>
                                <m:t>𝑉</m:t>
                              </m:r>
                            </m:e>
                            <m:sub>
                              <m:r>
                                <a:rPr lang="en-US" sz="3400" i="1">
                                  <a:solidFill>
                                    <a:schemeClr val="tx2"/>
                                  </a:solidFill>
                                  <a:latin typeface="Cambria Math" panose="02040503050406030204" pitchFamily="18" charset="0"/>
                                  <a:ea typeface="Cambria Math" panose="02040503050406030204" pitchFamily="18" charset="0"/>
                                  <a:cs typeface="Consolas" pitchFamily="34" charset="-120"/>
                                </a:rPr>
                                <m:t>𝜇</m:t>
                              </m:r>
                            </m:sub>
                            <m:sup>
                              <m:r>
                                <a:rPr lang="en-US" sz="3400" i="1">
                                  <a:solidFill>
                                    <a:schemeClr val="tx2"/>
                                  </a:solidFill>
                                  <a:latin typeface="Cambria Math" panose="02040503050406030204" pitchFamily="18" charset="0"/>
                                  <a:ea typeface="Cambria Math" panose="02040503050406030204" pitchFamily="18" charset="0"/>
                                  <a:cs typeface="Consolas" pitchFamily="34" charset="-120"/>
                                </a:rPr>
                                <m:t>𝜋</m:t>
                              </m:r>
                            </m:sup>
                          </m:sSubSup>
                        </m:e>
                      </m:nary>
                    </m:oMath>
                  </m:oMathPara>
                </a14:m>
                <a:endParaRPr lang="en-US" sz="3400">
                  <a:solidFill>
                    <a:srgbClr val="E0A458"/>
                  </a:solidFill>
                  <a:latin typeface="Consolas" pitchFamily="34" charset="0"/>
                  <a:ea typeface="Consolas" pitchFamily="34" charset="-122"/>
                  <a:cs typeface="Consolas" pitchFamily="34" charset="-120"/>
                </a:endParaRPr>
              </a:p>
            </p:txBody>
          </p:sp>
        </mc:Choice>
        <mc:Fallback xmlns="">
          <p:sp>
            <p:nvSpPr>
              <p:cNvPr id="4" name="Text 2">
                <a:extLst>
                  <a:ext uri="{FF2B5EF4-FFF2-40B4-BE49-F238E27FC236}">
                    <a16:creationId xmlns:a16="http://schemas.microsoft.com/office/drawing/2014/main" id="{80AC73FF-11D2-BA30-8CC6-799D0EF7D4FB}"/>
                  </a:ext>
                </a:extLst>
              </p:cNvPr>
              <p:cNvSpPr>
                <a:spLocks noRot="1" noChangeAspect="1" noMove="1" noResize="1" noEditPoints="1" noAdjustHandles="1" noChangeArrowheads="1" noChangeShapeType="1" noTextEdit="1"/>
              </p:cNvSpPr>
              <p:nvPr/>
            </p:nvSpPr>
            <p:spPr>
              <a:xfrm>
                <a:off x="731520" y="1209822"/>
                <a:ext cx="7680960" cy="914400"/>
              </a:xfrm>
              <a:prstGeom prst="rect">
                <a:avLst/>
              </a:prstGeom>
              <a:blipFill>
                <a:blip r:embed="rId3"/>
                <a:stretch>
                  <a:fillRect t="-226027" b="-298630"/>
                </a:stretch>
              </a:blipFill>
              <a:ln/>
            </p:spPr>
            <p:txBody>
              <a:bodyPr/>
              <a:lstStyle/>
              <a:p>
                <a:r>
                  <a:rPr lang="en-US">
                    <a:noFill/>
                  </a:rPr>
                  <a:t> </a:t>
                </a:r>
              </a:p>
            </p:txBody>
          </p:sp>
        </mc:Fallback>
      </mc:AlternateContent>
      <p:sp>
        <p:nvSpPr>
          <p:cNvPr id="6" name="Shape 4">
            <a:extLst>
              <a:ext uri="{FF2B5EF4-FFF2-40B4-BE49-F238E27FC236}">
                <a16:creationId xmlns:a16="http://schemas.microsoft.com/office/drawing/2014/main" id="{A80A89C0-AF99-8A05-4F9E-AE68AF47E7E7}"/>
              </a:ext>
            </a:extLst>
          </p:cNvPr>
          <p:cNvSpPr/>
          <p:nvPr/>
        </p:nvSpPr>
        <p:spPr>
          <a:xfrm>
            <a:off x="5461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7" name="Text 5">
                <a:extLst>
                  <a:ext uri="{FF2B5EF4-FFF2-40B4-BE49-F238E27FC236}">
                    <a16:creationId xmlns:a16="http://schemas.microsoft.com/office/drawing/2014/main" id="{435D09AF-DF89-A602-01E9-56793695ABB1}"/>
                  </a:ext>
                </a:extLst>
              </p:cNvPr>
              <p:cNvSpPr/>
              <p:nvPr/>
            </p:nvSpPr>
            <p:spPr>
              <a:xfrm>
                <a:off x="500380" y="2864729"/>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2000" i="1" smtClean="0">
                          <a:solidFill>
                            <a:schemeClr val="tx2"/>
                          </a:solidFill>
                          <a:latin typeface="Cambria Math" panose="02040503050406030204" pitchFamily="18" charset="0"/>
                          <a:ea typeface="Cambria Math" panose="02040503050406030204" pitchFamily="18" charset="0"/>
                          <a:cs typeface="Consolas" pitchFamily="34" charset="-120"/>
                        </a:rPr>
                        <m:t>Υ</m:t>
                      </m:r>
                      <m:d>
                        <m:dPr>
                          <m:ctrlPr>
                            <a:rPr lang="en-US" sz="2000" i="1">
                              <a:solidFill>
                                <a:schemeClr val="tx2"/>
                              </a:solidFill>
                              <a:latin typeface="Cambria Math" panose="02040503050406030204" pitchFamily="18" charset="0"/>
                              <a:ea typeface="Consolas" pitchFamily="34" charset="-122"/>
                              <a:cs typeface="Consolas" pitchFamily="34" charset="-120"/>
                            </a:rPr>
                          </m:ctrlPr>
                        </m:dPr>
                        <m:e>
                          <m:r>
                            <a:rPr lang="en-US" sz="2000" i="1">
                              <a:solidFill>
                                <a:schemeClr val="tx2"/>
                              </a:solidFill>
                              <a:latin typeface="Cambria Math" panose="02040503050406030204" pitchFamily="18" charset="0"/>
                              <a:ea typeface="Cambria Math" panose="02040503050406030204" pitchFamily="18" charset="0"/>
                              <a:cs typeface="Consolas" pitchFamily="34" charset="-120"/>
                            </a:rPr>
                            <m:t>𝜋</m:t>
                          </m:r>
                        </m:e>
                      </m:d>
                    </m:oMath>
                  </m:oMathPara>
                </a14:m>
                <a:endParaRPr lang="en-US" sz="2000">
                  <a:solidFill>
                    <a:schemeClr val="tx2"/>
                  </a:solidFill>
                </a:endParaRPr>
              </a:p>
            </p:txBody>
          </p:sp>
        </mc:Choice>
        <mc:Fallback xmlns="">
          <p:sp>
            <p:nvSpPr>
              <p:cNvPr id="7" name="Text 5">
                <a:extLst>
                  <a:ext uri="{FF2B5EF4-FFF2-40B4-BE49-F238E27FC236}">
                    <a16:creationId xmlns:a16="http://schemas.microsoft.com/office/drawing/2014/main" id="{435D09AF-DF89-A602-01E9-56793695ABB1}"/>
                  </a:ext>
                </a:extLst>
              </p:cNvPr>
              <p:cNvSpPr>
                <a:spLocks noRot="1" noChangeAspect="1" noMove="1" noResize="1" noEditPoints="1" noAdjustHandles="1" noChangeArrowheads="1" noChangeShapeType="1" noTextEdit="1"/>
              </p:cNvSpPr>
              <p:nvPr/>
            </p:nvSpPr>
            <p:spPr>
              <a:xfrm>
                <a:off x="500380" y="2864729"/>
                <a:ext cx="1920240" cy="548640"/>
              </a:xfrm>
              <a:prstGeom prst="rect">
                <a:avLst/>
              </a:prstGeom>
              <a:blipFill>
                <a:blip r:embed="rId4"/>
                <a:stretch>
                  <a:fillRect/>
                </a:stretch>
              </a:blipFill>
              <a:ln/>
            </p:spPr>
            <p:txBody>
              <a:bodyPr/>
              <a:lstStyle/>
              <a:p>
                <a:r>
                  <a:rPr lang="en-US">
                    <a:noFill/>
                  </a:rPr>
                  <a:t> </a:t>
                </a:r>
              </a:p>
            </p:txBody>
          </p:sp>
        </mc:Fallback>
      </mc:AlternateContent>
      <p:sp>
        <p:nvSpPr>
          <p:cNvPr id="8" name="Text 6">
            <a:extLst>
              <a:ext uri="{FF2B5EF4-FFF2-40B4-BE49-F238E27FC236}">
                <a16:creationId xmlns:a16="http://schemas.microsoft.com/office/drawing/2014/main" id="{F43E137C-1334-6DE4-9453-ADFFA0AEBC88}"/>
              </a:ext>
            </a:extLst>
          </p:cNvPr>
          <p:cNvSpPr/>
          <p:nvPr/>
        </p:nvSpPr>
        <p:spPr>
          <a:xfrm>
            <a:off x="591819"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Intelligence of agent π</a:t>
            </a:r>
            <a:endParaRPr lang="en-US" sz="1200">
              <a:solidFill>
                <a:schemeClr val="tx2"/>
              </a:solidFill>
            </a:endParaRPr>
          </a:p>
        </p:txBody>
      </p:sp>
      <p:sp>
        <p:nvSpPr>
          <p:cNvPr id="9" name="Shape 7">
            <a:extLst>
              <a:ext uri="{FF2B5EF4-FFF2-40B4-BE49-F238E27FC236}">
                <a16:creationId xmlns:a16="http://schemas.microsoft.com/office/drawing/2014/main" id="{2257717F-3929-0D61-EE16-D99174A1D08F}"/>
              </a:ext>
            </a:extLst>
          </p:cNvPr>
          <p:cNvSpPr/>
          <p:nvPr/>
        </p:nvSpPr>
        <p:spPr>
          <a:xfrm>
            <a:off x="25781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0" name="Text 8">
                <a:extLst>
                  <a:ext uri="{FF2B5EF4-FFF2-40B4-BE49-F238E27FC236}">
                    <a16:creationId xmlns:a16="http://schemas.microsoft.com/office/drawing/2014/main" id="{C2C8E5AF-CBA8-B1B0-8BC5-8527A082B230}"/>
                  </a:ext>
                </a:extLst>
              </p:cNvPr>
              <p:cNvSpPr/>
              <p:nvPr/>
            </p:nvSpPr>
            <p:spPr>
              <a:xfrm>
                <a:off x="2532380" y="2826825"/>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naryPr>
                        <m:sub>
                          <m:r>
                            <m:rPr>
                              <m:brk m:alnAt="7"/>
                            </m:rP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𝐸</m:t>
                          </m:r>
                        </m:sub>
                        <m:sup/>
                        <m:e>
                          <m:r>
                            <a:rPr lang="en-US" sz="2000" b="0" i="1" smtClean="0">
                              <a:solidFill>
                                <a:schemeClr val="tx2"/>
                              </a:solidFill>
                              <a:latin typeface="Cambria Math" panose="02040503050406030204" pitchFamily="18" charset="0"/>
                              <a:ea typeface="Cambria Math" panose="02040503050406030204" pitchFamily="18" charset="0"/>
                              <a:cs typeface="Consolas" pitchFamily="34" charset="-120"/>
                            </a:rPr>
                            <m:t> </m:t>
                          </m:r>
                        </m:e>
                      </m:nary>
                    </m:oMath>
                  </m:oMathPara>
                </a14:m>
                <a:endParaRPr lang="en-US" sz="2000">
                  <a:solidFill>
                    <a:schemeClr val="tx2"/>
                  </a:solidFill>
                </a:endParaRPr>
              </a:p>
            </p:txBody>
          </p:sp>
        </mc:Choice>
        <mc:Fallback xmlns="">
          <p:sp>
            <p:nvSpPr>
              <p:cNvPr id="10" name="Text 8">
                <a:extLst>
                  <a:ext uri="{FF2B5EF4-FFF2-40B4-BE49-F238E27FC236}">
                    <a16:creationId xmlns:a16="http://schemas.microsoft.com/office/drawing/2014/main" id="{C2C8E5AF-CBA8-B1B0-8BC5-8527A082B230}"/>
                  </a:ext>
                </a:extLst>
              </p:cNvPr>
              <p:cNvSpPr>
                <a:spLocks noRot="1" noChangeAspect="1" noMove="1" noResize="1" noEditPoints="1" noAdjustHandles="1" noChangeArrowheads="1" noChangeShapeType="1" noTextEdit="1"/>
              </p:cNvSpPr>
              <p:nvPr/>
            </p:nvSpPr>
            <p:spPr>
              <a:xfrm>
                <a:off x="2532380" y="2826825"/>
                <a:ext cx="1920240" cy="548640"/>
              </a:xfrm>
              <a:prstGeom prst="rect">
                <a:avLst/>
              </a:prstGeom>
              <a:blipFill>
                <a:blip r:embed="rId5"/>
                <a:stretch>
                  <a:fillRect l="-13158" t="-218182" b="-290909"/>
                </a:stretch>
              </a:blipFill>
              <a:ln/>
            </p:spPr>
            <p:txBody>
              <a:bodyPr/>
              <a:lstStyle/>
              <a:p>
                <a:r>
                  <a:rPr lang="en-US">
                    <a:noFill/>
                  </a:rPr>
                  <a:t> </a:t>
                </a:r>
              </a:p>
            </p:txBody>
          </p:sp>
        </mc:Fallback>
      </mc:AlternateContent>
      <p:sp>
        <p:nvSpPr>
          <p:cNvPr id="11" name="Text 9">
            <a:extLst>
              <a:ext uri="{FF2B5EF4-FFF2-40B4-BE49-F238E27FC236}">
                <a16:creationId xmlns:a16="http://schemas.microsoft.com/office/drawing/2014/main" id="{FAB6778B-CF3B-57E5-B9B1-CC8ACD829DE5}"/>
              </a:ext>
            </a:extLst>
          </p:cNvPr>
          <p:cNvSpPr/>
          <p:nvPr/>
        </p:nvSpPr>
        <p:spPr>
          <a:xfrm>
            <a:off x="26238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Sum over ALL possible</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computable environments</a:t>
            </a:r>
            <a:endParaRPr lang="en-US" sz="1200">
              <a:solidFill>
                <a:schemeClr val="tx2"/>
              </a:solidFill>
            </a:endParaRPr>
          </a:p>
        </p:txBody>
      </p:sp>
      <p:sp>
        <p:nvSpPr>
          <p:cNvPr id="12" name="Shape 10">
            <a:extLst>
              <a:ext uri="{FF2B5EF4-FFF2-40B4-BE49-F238E27FC236}">
                <a16:creationId xmlns:a16="http://schemas.microsoft.com/office/drawing/2014/main" id="{87059A4A-FF1F-C3BC-2682-A727032583E4}"/>
              </a:ext>
            </a:extLst>
          </p:cNvPr>
          <p:cNvSpPr/>
          <p:nvPr/>
        </p:nvSpPr>
        <p:spPr>
          <a:xfrm>
            <a:off x="4673600" y="2651760"/>
            <a:ext cx="1828800" cy="1645920"/>
          </a:xfrm>
          <a:prstGeom prst="rect">
            <a:avLst/>
          </a:prstGeom>
          <a:solidFill>
            <a:srgbClr val="222731"/>
          </a:solidFill>
          <a:ln>
            <a:solidFill>
              <a:srgbClr val="888888"/>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3" name="Text 11">
                <a:extLst>
                  <a:ext uri="{FF2B5EF4-FFF2-40B4-BE49-F238E27FC236}">
                    <a16:creationId xmlns:a16="http://schemas.microsoft.com/office/drawing/2014/main" id="{27E7B41C-F8F4-446F-4C8D-492105CBCAC1}"/>
                  </a:ext>
                </a:extLst>
              </p:cNvPr>
              <p:cNvSpPr/>
              <p:nvPr/>
            </p:nvSpPr>
            <p:spPr>
              <a:xfrm>
                <a:off x="46278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n-US" sz="2000" i="1" smtClean="0">
                              <a:solidFill>
                                <a:schemeClr val="accent4"/>
                              </a:solidFill>
                              <a:latin typeface="Cambria Math" panose="02040503050406030204" pitchFamily="18" charset="0"/>
                              <a:ea typeface="Cambria Math" panose="02040503050406030204" pitchFamily="18" charset="0"/>
                              <a:cs typeface="Consolas" pitchFamily="34" charset="-120"/>
                            </a:rPr>
                          </m:ctrlPr>
                        </m:sSupPr>
                        <m:e>
                          <m:r>
                            <a:rPr lang="en-US" sz="2000" i="1">
                              <a:solidFill>
                                <a:schemeClr val="accent4"/>
                              </a:solidFill>
                              <a:latin typeface="Cambria Math" panose="02040503050406030204" pitchFamily="18" charset="0"/>
                              <a:ea typeface="Cambria Math" panose="02040503050406030204" pitchFamily="18" charset="0"/>
                              <a:cs typeface="Consolas" pitchFamily="34" charset="-120"/>
                            </a:rPr>
                            <m:t>2</m:t>
                          </m:r>
                        </m:e>
                        <m:sup>
                          <m:r>
                            <a:rPr lang="en-US" sz="2000" i="1">
                              <a:solidFill>
                                <a:schemeClr val="accent4"/>
                              </a:solidFill>
                              <a:latin typeface="Cambria Math" panose="02040503050406030204" pitchFamily="18" charset="0"/>
                              <a:ea typeface="Cambria Math" panose="02040503050406030204" pitchFamily="18" charset="0"/>
                              <a:cs typeface="Consolas" pitchFamily="34" charset="-120"/>
                            </a:rPr>
                            <m:t>−</m:t>
                          </m:r>
                          <m:r>
                            <a:rPr lang="en-US" sz="2000" i="1">
                              <a:solidFill>
                                <a:schemeClr val="accent4"/>
                              </a:solidFill>
                              <a:latin typeface="Cambria Math" panose="02040503050406030204" pitchFamily="18" charset="0"/>
                              <a:ea typeface="Cambria Math" panose="02040503050406030204" pitchFamily="18" charset="0"/>
                              <a:cs typeface="Consolas" pitchFamily="34" charset="-120"/>
                            </a:rPr>
                            <m:t>𝐾</m:t>
                          </m:r>
                          <m:r>
                            <a:rPr lang="en-US" sz="2000" i="1">
                              <a:solidFill>
                                <a:schemeClr val="accent4"/>
                              </a:solidFill>
                              <a:latin typeface="Cambria Math" panose="02040503050406030204" pitchFamily="18" charset="0"/>
                              <a:ea typeface="Cambria Math" panose="02040503050406030204" pitchFamily="18" charset="0"/>
                              <a:cs typeface="Consolas" pitchFamily="34" charset="-120"/>
                            </a:rPr>
                            <m:t>(</m:t>
                          </m:r>
                          <m:r>
                            <a:rPr lang="en-US" sz="2000" i="1">
                              <a:solidFill>
                                <a:schemeClr val="accent4"/>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accent4"/>
                              </a:solidFill>
                              <a:latin typeface="Cambria Math" panose="02040503050406030204" pitchFamily="18" charset="0"/>
                              <a:ea typeface="Cambria Math" panose="02040503050406030204" pitchFamily="18" charset="0"/>
                              <a:cs typeface="Consolas" pitchFamily="34" charset="-120"/>
                            </a:rPr>
                            <m:t>) </m:t>
                          </m:r>
                        </m:sup>
                      </m:sSup>
                    </m:oMath>
                  </m:oMathPara>
                </a14:m>
                <a:endParaRPr lang="en-US" sz="2000">
                  <a:solidFill>
                    <a:schemeClr val="accent4"/>
                  </a:solidFill>
                </a:endParaRPr>
              </a:p>
            </p:txBody>
          </p:sp>
        </mc:Choice>
        <mc:Fallback xmlns="">
          <p:sp>
            <p:nvSpPr>
              <p:cNvPr id="13" name="Text 11">
                <a:extLst>
                  <a:ext uri="{FF2B5EF4-FFF2-40B4-BE49-F238E27FC236}">
                    <a16:creationId xmlns:a16="http://schemas.microsoft.com/office/drawing/2014/main" id="{27E7B41C-F8F4-446F-4C8D-492105CBCAC1}"/>
                  </a:ext>
                </a:extLst>
              </p:cNvPr>
              <p:cNvSpPr>
                <a:spLocks noRot="1" noChangeAspect="1" noMove="1" noResize="1" noEditPoints="1" noAdjustHandles="1" noChangeArrowheads="1" noChangeShapeType="1" noTextEdit="1"/>
              </p:cNvSpPr>
              <p:nvPr/>
            </p:nvSpPr>
            <p:spPr>
              <a:xfrm>
                <a:off x="4627880" y="2811194"/>
                <a:ext cx="1920240" cy="548640"/>
              </a:xfrm>
              <a:prstGeom prst="rect">
                <a:avLst/>
              </a:prstGeom>
              <a:blipFill>
                <a:blip r:embed="rId6"/>
                <a:stretch>
                  <a:fillRect/>
                </a:stretch>
              </a:blipFill>
              <a:ln/>
            </p:spPr>
            <p:txBody>
              <a:bodyPr/>
              <a:lstStyle/>
              <a:p>
                <a:r>
                  <a:rPr lang="en-US">
                    <a:noFill/>
                  </a:rPr>
                  <a:t> </a:t>
                </a:r>
              </a:p>
            </p:txBody>
          </p:sp>
        </mc:Fallback>
      </mc:AlternateContent>
      <p:sp>
        <p:nvSpPr>
          <p:cNvPr id="14" name="Text 12">
            <a:extLst>
              <a:ext uri="{FF2B5EF4-FFF2-40B4-BE49-F238E27FC236}">
                <a16:creationId xmlns:a16="http://schemas.microsoft.com/office/drawing/2014/main" id="{755E7302-B0B5-585D-64DA-001E5B7E176F}"/>
              </a:ext>
            </a:extLst>
          </p:cNvPr>
          <p:cNvSpPr/>
          <p:nvPr/>
        </p:nvSpPr>
        <p:spPr>
          <a:xfrm>
            <a:off x="4719320" y="3566160"/>
            <a:ext cx="1737360" cy="594360"/>
          </a:xfrm>
          <a:prstGeom prst="rect">
            <a:avLst/>
          </a:prstGeom>
          <a:noFill/>
          <a:ln/>
        </p:spPr>
        <p:txBody>
          <a:bodyPr wrap="square" lIns="0" tIns="0" rIns="0" bIns="0" rtlCol="0" anchor="t"/>
          <a:lstStyle/>
          <a:p>
            <a:pPr marL="0" indent="0" algn="ctr">
              <a:buNone/>
            </a:pPr>
            <a:r>
              <a:rPr lang="en-US" sz="1200">
                <a:solidFill>
                  <a:schemeClr val="bg2"/>
                </a:solidFill>
                <a:latin typeface="Calibri" pitchFamily="34" charset="0"/>
                <a:ea typeface="Calibri" pitchFamily="34" charset="-122"/>
                <a:cs typeface="Calibri" pitchFamily="34" charset="-120"/>
              </a:rPr>
              <a:t>Weight: simpler environments</a:t>
            </a:r>
            <a:endParaRPr lang="en-US" sz="1200">
              <a:solidFill>
                <a:schemeClr val="bg2"/>
              </a:solidFill>
            </a:endParaRPr>
          </a:p>
          <a:p>
            <a:pPr marL="0" indent="0" algn="ctr">
              <a:buNone/>
            </a:pPr>
            <a:r>
              <a:rPr lang="en-US" sz="1200">
                <a:solidFill>
                  <a:schemeClr val="bg2"/>
                </a:solidFill>
                <a:latin typeface="Calibri" pitchFamily="34" charset="0"/>
                <a:ea typeface="Calibri" pitchFamily="34" charset="-122"/>
                <a:cs typeface="Calibri" pitchFamily="34" charset="-120"/>
              </a:rPr>
              <a:t>count more (Occam's razor)</a:t>
            </a:r>
            <a:endParaRPr lang="en-US" sz="1200">
              <a:solidFill>
                <a:schemeClr val="bg2"/>
              </a:solidFill>
            </a:endParaRPr>
          </a:p>
        </p:txBody>
      </p:sp>
      <p:sp>
        <p:nvSpPr>
          <p:cNvPr id="15" name="Shape 13">
            <a:extLst>
              <a:ext uri="{FF2B5EF4-FFF2-40B4-BE49-F238E27FC236}">
                <a16:creationId xmlns:a16="http://schemas.microsoft.com/office/drawing/2014/main" id="{CE185586-ADB8-A59E-BB39-08E1F2DF6959}"/>
              </a:ext>
            </a:extLst>
          </p:cNvPr>
          <p:cNvSpPr/>
          <p:nvPr/>
        </p:nvSpPr>
        <p:spPr>
          <a:xfrm>
            <a:off x="67691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6" name="Text 14">
                <a:extLst>
                  <a:ext uri="{FF2B5EF4-FFF2-40B4-BE49-F238E27FC236}">
                    <a16:creationId xmlns:a16="http://schemas.microsoft.com/office/drawing/2014/main" id="{25F47105-43CC-D33E-A68C-49573800E8C2}"/>
                  </a:ext>
                </a:extLst>
              </p:cNvPr>
              <p:cNvSpPr/>
              <p:nvPr/>
            </p:nvSpPr>
            <p:spPr>
              <a:xfrm>
                <a:off x="67233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sSubSupPr>
                        <m:e>
                          <m:r>
                            <a:rPr lang="en-US" sz="2000" i="1">
                              <a:solidFill>
                                <a:schemeClr val="tx2"/>
                              </a:solidFill>
                              <a:latin typeface="Cambria Math" panose="02040503050406030204" pitchFamily="18" charset="0"/>
                              <a:ea typeface="Cambria Math" panose="02040503050406030204" pitchFamily="18" charset="0"/>
                              <a:cs typeface="Consolas" pitchFamily="34" charset="-120"/>
                            </a:rPr>
                            <m:t>𝑉</m:t>
                          </m:r>
                        </m:e>
                        <m:sub>
                          <m: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sub>
                        <m:sup>
                          <m:r>
                            <a:rPr lang="en-US" sz="2000" i="1">
                              <a:solidFill>
                                <a:schemeClr val="tx2"/>
                              </a:solidFill>
                              <a:latin typeface="Cambria Math" panose="02040503050406030204" pitchFamily="18" charset="0"/>
                              <a:ea typeface="Cambria Math" panose="02040503050406030204" pitchFamily="18" charset="0"/>
                              <a:cs typeface="Consolas" pitchFamily="34" charset="-120"/>
                            </a:rPr>
                            <m:t>𝜋</m:t>
                          </m:r>
                        </m:sup>
                      </m:sSubSup>
                    </m:oMath>
                  </m:oMathPara>
                </a14:m>
                <a:endParaRPr lang="en-US" sz="2000">
                  <a:solidFill>
                    <a:schemeClr val="tx2"/>
                  </a:solidFill>
                </a:endParaRPr>
              </a:p>
            </p:txBody>
          </p:sp>
        </mc:Choice>
        <mc:Fallback xmlns="">
          <p:sp>
            <p:nvSpPr>
              <p:cNvPr id="16" name="Text 14">
                <a:extLst>
                  <a:ext uri="{FF2B5EF4-FFF2-40B4-BE49-F238E27FC236}">
                    <a16:creationId xmlns:a16="http://schemas.microsoft.com/office/drawing/2014/main" id="{25F47105-43CC-D33E-A68C-49573800E8C2}"/>
                  </a:ext>
                </a:extLst>
              </p:cNvPr>
              <p:cNvSpPr>
                <a:spLocks noRot="1" noChangeAspect="1" noMove="1" noResize="1" noEditPoints="1" noAdjustHandles="1" noChangeArrowheads="1" noChangeShapeType="1" noTextEdit="1"/>
              </p:cNvSpPr>
              <p:nvPr/>
            </p:nvSpPr>
            <p:spPr>
              <a:xfrm>
                <a:off x="6723380" y="2811194"/>
                <a:ext cx="1920240" cy="548640"/>
              </a:xfrm>
              <a:prstGeom prst="rect">
                <a:avLst/>
              </a:prstGeom>
              <a:blipFill>
                <a:blip r:embed="rId7"/>
                <a:stretch>
                  <a:fillRect/>
                </a:stretch>
              </a:blipFill>
              <a:ln/>
            </p:spPr>
            <p:txBody>
              <a:bodyPr/>
              <a:lstStyle/>
              <a:p>
                <a:r>
                  <a:rPr lang="en-US">
                    <a:noFill/>
                  </a:rPr>
                  <a:t> </a:t>
                </a:r>
              </a:p>
            </p:txBody>
          </p:sp>
        </mc:Fallback>
      </mc:AlternateContent>
      <p:sp>
        <p:nvSpPr>
          <p:cNvPr id="17" name="Text 15">
            <a:extLst>
              <a:ext uri="{FF2B5EF4-FFF2-40B4-BE49-F238E27FC236}">
                <a16:creationId xmlns:a16="http://schemas.microsoft.com/office/drawing/2014/main" id="{11C72BBD-4D22-C71D-7565-F996D91BF69E}"/>
              </a:ext>
            </a:extLst>
          </p:cNvPr>
          <p:cNvSpPr/>
          <p:nvPr/>
        </p:nvSpPr>
        <p:spPr>
          <a:xfrm>
            <a:off x="68148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Reward agent π earns</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in environment μ</a:t>
            </a:r>
            <a:endParaRPr lang="en-US" sz="1200">
              <a:solidFill>
                <a:schemeClr val="tx2"/>
              </a:solidFill>
            </a:endParaRPr>
          </a:p>
        </p:txBody>
      </p:sp>
      <p:sp>
        <p:nvSpPr>
          <p:cNvPr id="18" name="Text 16">
            <a:extLst>
              <a:ext uri="{FF2B5EF4-FFF2-40B4-BE49-F238E27FC236}">
                <a16:creationId xmlns:a16="http://schemas.microsoft.com/office/drawing/2014/main" id="{4AF4BB20-E581-95C2-4E26-94104C07F034}"/>
              </a:ext>
            </a:extLst>
          </p:cNvPr>
          <p:cNvSpPr/>
          <p:nvPr/>
        </p:nvSpPr>
        <p:spPr>
          <a:xfrm>
            <a:off x="548640" y="4480560"/>
            <a:ext cx="8229600" cy="457200"/>
          </a:xfrm>
          <a:prstGeom prst="rect">
            <a:avLst/>
          </a:prstGeom>
          <a:noFill/>
          <a:ln/>
        </p:spPr>
        <p:txBody>
          <a:bodyPr wrap="square" lIns="0" tIns="0" rIns="0" bIns="0" rtlCol="0" anchor="ctr"/>
          <a:lstStyle/>
          <a:p>
            <a:pPr marL="0" indent="0" algn="ctr">
              <a:buNone/>
            </a:pPr>
            <a:r>
              <a:rPr lang="en-US" sz="1400" i="1">
                <a:solidFill>
                  <a:srgbClr val="A8CFC0"/>
                </a:solidFill>
                <a:latin typeface="Georgia" pitchFamily="34" charset="0"/>
                <a:ea typeface="Georgia" pitchFamily="34" charset="-122"/>
                <a:cs typeface="Georgia" pitchFamily="34" charset="-120"/>
              </a:rPr>
              <a:t>"Intelligence is an </a:t>
            </a:r>
            <a:r>
              <a:rPr lang="en-US" sz="1400" i="1">
                <a:solidFill>
                  <a:schemeClr val="bg1"/>
                </a:solidFill>
                <a:latin typeface="Georgia" pitchFamily="34" charset="0"/>
                <a:ea typeface="Georgia" pitchFamily="34" charset="-122"/>
                <a:cs typeface="Georgia" pitchFamily="34" charset="-120"/>
              </a:rPr>
              <a:t>agent's ability </a:t>
            </a:r>
            <a:r>
              <a:rPr lang="en-US" sz="1400" i="1">
                <a:solidFill>
                  <a:srgbClr val="A8CFC0"/>
                </a:solidFill>
                <a:latin typeface="Georgia" pitchFamily="34" charset="0"/>
                <a:ea typeface="Georgia" pitchFamily="34" charset="-122"/>
                <a:cs typeface="Georgia" pitchFamily="34" charset="-120"/>
              </a:rPr>
              <a:t>to achieve goals across a wide range of environments."</a:t>
            </a:r>
            <a:endParaRPr lang="en-US" sz="1400"/>
          </a:p>
        </p:txBody>
      </p:sp>
      <p:sp>
        <p:nvSpPr>
          <p:cNvPr id="19" name="Text 0">
            <a:extLst>
              <a:ext uri="{FF2B5EF4-FFF2-40B4-BE49-F238E27FC236}">
                <a16:creationId xmlns:a16="http://schemas.microsoft.com/office/drawing/2014/main" id="{E3B7A9BE-7F6B-B0FD-A759-853A338FA214}"/>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Tree>
    <p:extLst>
      <p:ext uri="{BB962C8B-B14F-4D97-AF65-F5344CB8AC3E}">
        <p14:creationId xmlns:p14="http://schemas.microsoft.com/office/powerpoint/2010/main" val="21330803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DCD1B84B-C483-6663-26B8-DDE93D524AEB}"/>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B10C7F9D-169A-0C09-FC4D-EA5C30F5D84F}"/>
              </a:ext>
            </a:extLst>
          </p:cNvPr>
          <p:cNvSpPr/>
          <p:nvPr/>
        </p:nvSpPr>
        <p:spPr>
          <a:xfrm>
            <a:off x="548640" y="1028114"/>
            <a:ext cx="8007531" cy="1371600"/>
          </a:xfrm>
          <a:prstGeom prst="rect">
            <a:avLst/>
          </a:prstGeom>
          <a:solidFill>
            <a:srgbClr val="222731"/>
          </a:solidFill>
          <a:ln>
            <a:solidFill>
              <a:srgbClr val="888888"/>
            </a:solidFill>
          </a:ln>
          <a:effectLst/>
        </p:spPr>
        <p:txBody>
          <a:bodyPr/>
          <a:lstStyle/>
          <a:p>
            <a:endParaRPr lang="en-US"/>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F27BF7A0-04AC-F694-9B3D-52E33BD5EC77}"/>
                  </a:ext>
                </a:extLst>
              </p:cNvPr>
              <p:cNvSpPr/>
              <p:nvPr/>
            </p:nvSpPr>
            <p:spPr>
              <a:xfrm>
                <a:off x="731520" y="1209822"/>
                <a:ext cx="7680960" cy="9144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3400" b="0" i="1" smtClean="0">
                          <a:solidFill>
                            <a:schemeClr val="tx2"/>
                          </a:solidFill>
                          <a:latin typeface="Cambria Math" panose="02040503050406030204" pitchFamily="18" charset="0"/>
                          <a:ea typeface="Cambria Math" panose="02040503050406030204" pitchFamily="18" charset="0"/>
                          <a:cs typeface="Consolas" pitchFamily="34" charset="-120"/>
                        </a:rPr>
                        <m:t>Υ</m:t>
                      </m:r>
                      <m:d>
                        <m:dPr>
                          <m:ctrlPr>
                            <a:rPr lang="en-US" sz="3400" b="0" i="1" smtClean="0">
                              <a:solidFill>
                                <a:schemeClr val="tx2"/>
                              </a:solidFill>
                              <a:latin typeface="Cambria Math" panose="02040503050406030204" pitchFamily="18" charset="0"/>
                              <a:ea typeface="Consolas" pitchFamily="34" charset="-122"/>
                              <a:cs typeface="Consolas" pitchFamily="34" charset="-120"/>
                            </a:rPr>
                          </m:ctrlPr>
                        </m:dPr>
                        <m:e>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𝜋</m:t>
                          </m:r>
                        </m:e>
                      </m:d>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 </m:t>
                      </m:r>
                      <m:nary>
                        <m:naryPr>
                          <m:chr m:val="∑"/>
                          <m:supHide m:val="on"/>
                          <m:ctrl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ctrlPr>
                        </m:naryPr>
                        <m:sub>
                          <m:r>
                            <m:rPr>
                              <m:brk m:alnAt="7"/>
                            </m:r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𝐸</m:t>
                          </m:r>
                        </m:sub>
                        <m:sup/>
                        <m:e>
                          <m:sSup>
                            <m:sSupPr>
                              <m:ctrlP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ctrlPr>
                            </m:sSupPr>
                            <m:e>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2</m:t>
                              </m:r>
                            </m:e>
                            <m:sup>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𝐾</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tx2"/>
                                  </a:solidFill>
                                  <a:latin typeface="Cambria Math" panose="02040503050406030204" pitchFamily="18" charset="0"/>
                                  <a:ea typeface="Cambria Math" panose="02040503050406030204" pitchFamily="18" charset="0"/>
                                  <a:cs typeface="Consolas" pitchFamily="34" charset="-120"/>
                                </a:rPr>
                                <m:t>) </m:t>
                              </m:r>
                            </m:sup>
                          </m:sSup>
                          <m:sSubSup>
                            <m:sSubSupPr>
                              <m:ctrlPr>
                                <a:rPr lang="en-US" sz="3400" i="1">
                                  <a:solidFill>
                                    <a:schemeClr val="accent4"/>
                                  </a:solidFill>
                                  <a:latin typeface="Cambria Math" panose="02040503050406030204" pitchFamily="18" charset="0"/>
                                  <a:ea typeface="Cambria Math" panose="02040503050406030204" pitchFamily="18" charset="0"/>
                                  <a:cs typeface="Consolas" pitchFamily="34" charset="-120"/>
                                </a:rPr>
                              </m:ctrlPr>
                            </m:sSubSupPr>
                            <m:e>
                              <m:r>
                                <a:rPr lang="en-US" sz="3400" i="1">
                                  <a:solidFill>
                                    <a:schemeClr val="accent4"/>
                                  </a:solidFill>
                                  <a:latin typeface="Cambria Math" panose="02040503050406030204" pitchFamily="18" charset="0"/>
                                  <a:ea typeface="Cambria Math" panose="02040503050406030204" pitchFamily="18" charset="0"/>
                                  <a:cs typeface="Consolas" pitchFamily="34" charset="-120"/>
                                </a:rPr>
                                <m:t>𝑉</m:t>
                              </m:r>
                            </m:e>
                            <m:sub>
                              <m:r>
                                <a:rPr lang="en-US" sz="3400" i="1">
                                  <a:solidFill>
                                    <a:schemeClr val="accent4"/>
                                  </a:solidFill>
                                  <a:latin typeface="Cambria Math" panose="02040503050406030204" pitchFamily="18" charset="0"/>
                                  <a:ea typeface="Cambria Math" panose="02040503050406030204" pitchFamily="18" charset="0"/>
                                  <a:cs typeface="Consolas" pitchFamily="34" charset="-120"/>
                                </a:rPr>
                                <m:t>𝜇</m:t>
                              </m:r>
                            </m:sub>
                            <m:sup>
                              <m:r>
                                <a:rPr lang="en-US" sz="3400" i="1">
                                  <a:solidFill>
                                    <a:schemeClr val="accent4"/>
                                  </a:solidFill>
                                  <a:latin typeface="Cambria Math" panose="02040503050406030204" pitchFamily="18" charset="0"/>
                                  <a:ea typeface="Cambria Math" panose="02040503050406030204" pitchFamily="18" charset="0"/>
                                  <a:cs typeface="Consolas" pitchFamily="34" charset="-120"/>
                                </a:rPr>
                                <m:t>𝜋</m:t>
                              </m:r>
                            </m:sup>
                          </m:sSubSup>
                        </m:e>
                      </m:nary>
                    </m:oMath>
                  </m:oMathPara>
                </a14:m>
                <a:endParaRPr lang="en-US" sz="3400">
                  <a:solidFill>
                    <a:srgbClr val="E0A458"/>
                  </a:solidFill>
                  <a:latin typeface="Consolas" pitchFamily="34" charset="0"/>
                  <a:ea typeface="Consolas" pitchFamily="34" charset="-122"/>
                  <a:cs typeface="Consolas" pitchFamily="34" charset="-120"/>
                </a:endParaRPr>
              </a:p>
            </p:txBody>
          </p:sp>
        </mc:Choice>
        <mc:Fallback xmlns="">
          <p:sp>
            <p:nvSpPr>
              <p:cNvPr id="4" name="Text 2">
                <a:extLst>
                  <a:ext uri="{FF2B5EF4-FFF2-40B4-BE49-F238E27FC236}">
                    <a16:creationId xmlns:a16="http://schemas.microsoft.com/office/drawing/2014/main" id="{F27BF7A0-04AC-F694-9B3D-52E33BD5EC77}"/>
                  </a:ext>
                </a:extLst>
              </p:cNvPr>
              <p:cNvSpPr>
                <a:spLocks noRot="1" noChangeAspect="1" noMove="1" noResize="1" noEditPoints="1" noAdjustHandles="1" noChangeArrowheads="1" noChangeShapeType="1" noTextEdit="1"/>
              </p:cNvSpPr>
              <p:nvPr/>
            </p:nvSpPr>
            <p:spPr>
              <a:xfrm>
                <a:off x="731520" y="1209822"/>
                <a:ext cx="7680960" cy="914400"/>
              </a:xfrm>
              <a:prstGeom prst="rect">
                <a:avLst/>
              </a:prstGeom>
              <a:blipFill>
                <a:blip r:embed="rId3"/>
                <a:stretch>
                  <a:fillRect t="-226027" b="-298630"/>
                </a:stretch>
              </a:blipFill>
              <a:ln/>
            </p:spPr>
            <p:txBody>
              <a:bodyPr/>
              <a:lstStyle/>
              <a:p>
                <a:r>
                  <a:rPr lang="en-US">
                    <a:noFill/>
                  </a:rPr>
                  <a:t> </a:t>
                </a:r>
              </a:p>
            </p:txBody>
          </p:sp>
        </mc:Fallback>
      </mc:AlternateContent>
      <p:sp>
        <p:nvSpPr>
          <p:cNvPr id="6" name="Shape 4">
            <a:extLst>
              <a:ext uri="{FF2B5EF4-FFF2-40B4-BE49-F238E27FC236}">
                <a16:creationId xmlns:a16="http://schemas.microsoft.com/office/drawing/2014/main" id="{6E13E661-A68F-1126-7BD6-CFF4B4331499}"/>
              </a:ext>
            </a:extLst>
          </p:cNvPr>
          <p:cNvSpPr/>
          <p:nvPr/>
        </p:nvSpPr>
        <p:spPr>
          <a:xfrm>
            <a:off x="5461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7" name="Text 5">
                <a:extLst>
                  <a:ext uri="{FF2B5EF4-FFF2-40B4-BE49-F238E27FC236}">
                    <a16:creationId xmlns:a16="http://schemas.microsoft.com/office/drawing/2014/main" id="{F0311BC5-550C-2FB0-6CEA-972AD3D11026}"/>
                  </a:ext>
                </a:extLst>
              </p:cNvPr>
              <p:cNvSpPr/>
              <p:nvPr/>
            </p:nvSpPr>
            <p:spPr>
              <a:xfrm>
                <a:off x="500380" y="2864729"/>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2000" i="1" smtClean="0">
                          <a:solidFill>
                            <a:schemeClr val="tx2"/>
                          </a:solidFill>
                          <a:latin typeface="Cambria Math" panose="02040503050406030204" pitchFamily="18" charset="0"/>
                          <a:ea typeface="Cambria Math" panose="02040503050406030204" pitchFamily="18" charset="0"/>
                          <a:cs typeface="Consolas" pitchFamily="34" charset="-120"/>
                        </a:rPr>
                        <m:t>Υ</m:t>
                      </m:r>
                      <m:d>
                        <m:dPr>
                          <m:ctrlPr>
                            <a:rPr lang="en-US" sz="2000" i="1">
                              <a:solidFill>
                                <a:schemeClr val="tx2"/>
                              </a:solidFill>
                              <a:latin typeface="Cambria Math" panose="02040503050406030204" pitchFamily="18" charset="0"/>
                              <a:ea typeface="Consolas" pitchFamily="34" charset="-122"/>
                              <a:cs typeface="Consolas" pitchFamily="34" charset="-120"/>
                            </a:rPr>
                          </m:ctrlPr>
                        </m:dPr>
                        <m:e>
                          <m:r>
                            <a:rPr lang="en-US" sz="2000" i="1">
                              <a:solidFill>
                                <a:schemeClr val="tx2"/>
                              </a:solidFill>
                              <a:latin typeface="Cambria Math" panose="02040503050406030204" pitchFamily="18" charset="0"/>
                              <a:ea typeface="Cambria Math" panose="02040503050406030204" pitchFamily="18" charset="0"/>
                              <a:cs typeface="Consolas" pitchFamily="34" charset="-120"/>
                            </a:rPr>
                            <m:t>𝜋</m:t>
                          </m:r>
                        </m:e>
                      </m:d>
                    </m:oMath>
                  </m:oMathPara>
                </a14:m>
                <a:endParaRPr lang="en-US" sz="2000">
                  <a:solidFill>
                    <a:schemeClr val="tx2"/>
                  </a:solidFill>
                </a:endParaRPr>
              </a:p>
            </p:txBody>
          </p:sp>
        </mc:Choice>
        <mc:Fallback xmlns="">
          <p:sp>
            <p:nvSpPr>
              <p:cNvPr id="7" name="Text 5">
                <a:extLst>
                  <a:ext uri="{FF2B5EF4-FFF2-40B4-BE49-F238E27FC236}">
                    <a16:creationId xmlns:a16="http://schemas.microsoft.com/office/drawing/2014/main" id="{F0311BC5-550C-2FB0-6CEA-972AD3D11026}"/>
                  </a:ext>
                </a:extLst>
              </p:cNvPr>
              <p:cNvSpPr>
                <a:spLocks noRot="1" noChangeAspect="1" noMove="1" noResize="1" noEditPoints="1" noAdjustHandles="1" noChangeArrowheads="1" noChangeShapeType="1" noTextEdit="1"/>
              </p:cNvSpPr>
              <p:nvPr/>
            </p:nvSpPr>
            <p:spPr>
              <a:xfrm>
                <a:off x="500380" y="2864729"/>
                <a:ext cx="1920240" cy="548640"/>
              </a:xfrm>
              <a:prstGeom prst="rect">
                <a:avLst/>
              </a:prstGeom>
              <a:blipFill>
                <a:blip r:embed="rId4"/>
                <a:stretch>
                  <a:fillRect/>
                </a:stretch>
              </a:blipFill>
              <a:ln/>
            </p:spPr>
            <p:txBody>
              <a:bodyPr/>
              <a:lstStyle/>
              <a:p>
                <a:r>
                  <a:rPr lang="en-US">
                    <a:noFill/>
                  </a:rPr>
                  <a:t> </a:t>
                </a:r>
              </a:p>
            </p:txBody>
          </p:sp>
        </mc:Fallback>
      </mc:AlternateContent>
      <p:sp>
        <p:nvSpPr>
          <p:cNvPr id="8" name="Text 6">
            <a:extLst>
              <a:ext uri="{FF2B5EF4-FFF2-40B4-BE49-F238E27FC236}">
                <a16:creationId xmlns:a16="http://schemas.microsoft.com/office/drawing/2014/main" id="{009A9165-2E95-70E8-10DE-4E268327534A}"/>
              </a:ext>
            </a:extLst>
          </p:cNvPr>
          <p:cNvSpPr/>
          <p:nvPr/>
        </p:nvSpPr>
        <p:spPr>
          <a:xfrm>
            <a:off x="591819"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Intelligence of agent π</a:t>
            </a:r>
            <a:endParaRPr lang="en-US" sz="1200">
              <a:solidFill>
                <a:schemeClr val="tx2"/>
              </a:solidFill>
            </a:endParaRPr>
          </a:p>
        </p:txBody>
      </p:sp>
      <p:sp>
        <p:nvSpPr>
          <p:cNvPr id="9" name="Shape 7">
            <a:extLst>
              <a:ext uri="{FF2B5EF4-FFF2-40B4-BE49-F238E27FC236}">
                <a16:creationId xmlns:a16="http://schemas.microsoft.com/office/drawing/2014/main" id="{F4D78659-DC9E-C6A0-D98D-BCB85BDA96A6}"/>
              </a:ext>
            </a:extLst>
          </p:cNvPr>
          <p:cNvSpPr/>
          <p:nvPr/>
        </p:nvSpPr>
        <p:spPr>
          <a:xfrm>
            <a:off x="25781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0" name="Text 8">
                <a:extLst>
                  <a:ext uri="{FF2B5EF4-FFF2-40B4-BE49-F238E27FC236}">
                    <a16:creationId xmlns:a16="http://schemas.microsoft.com/office/drawing/2014/main" id="{C1624CB7-618A-53D5-37C5-F996A23B4C9D}"/>
                  </a:ext>
                </a:extLst>
              </p:cNvPr>
              <p:cNvSpPr/>
              <p:nvPr/>
            </p:nvSpPr>
            <p:spPr>
              <a:xfrm>
                <a:off x="2532380" y="2826825"/>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naryPr>
                        <m:sub>
                          <m:r>
                            <m:rPr>
                              <m:brk m:alnAt="7"/>
                            </m:rP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𝐸</m:t>
                          </m:r>
                        </m:sub>
                        <m:sup/>
                        <m:e>
                          <m:r>
                            <a:rPr lang="en-US" sz="2000" b="0" i="1" smtClean="0">
                              <a:solidFill>
                                <a:schemeClr val="tx2"/>
                              </a:solidFill>
                              <a:latin typeface="Cambria Math" panose="02040503050406030204" pitchFamily="18" charset="0"/>
                              <a:ea typeface="Cambria Math" panose="02040503050406030204" pitchFamily="18" charset="0"/>
                              <a:cs typeface="Consolas" pitchFamily="34" charset="-120"/>
                            </a:rPr>
                            <m:t> </m:t>
                          </m:r>
                        </m:e>
                      </m:nary>
                    </m:oMath>
                  </m:oMathPara>
                </a14:m>
                <a:endParaRPr lang="en-US" sz="2000">
                  <a:solidFill>
                    <a:schemeClr val="tx2"/>
                  </a:solidFill>
                </a:endParaRPr>
              </a:p>
            </p:txBody>
          </p:sp>
        </mc:Choice>
        <mc:Fallback xmlns="">
          <p:sp>
            <p:nvSpPr>
              <p:cNvPr id="10" name="Text 8">
                <a:extLst>
                  <a:ext uri="{FF2B5EF4-FFF2-40B4-BE49-F238E27FC236}">
                    <a16:creationId xmlns:a16="http://schemas.microsoft.com/office/drawing/2014/main" id="{C1624CB7-618A-53D5-37C5-F996A23B4C9D}"/>
                  </a:ext>
                </a:extLst>
              </p:cNvPr>
              <p:cNvSpPr>
                <a:spLocks noRot="1" noChangeAspect="1" noMove="1" noResize="1" noEditPoints="1" noAdjustHandles="1" noChangeArrowheads="1" noChangeShapeType="1" noTextEdit="1"/>
              </p:cNvSpPr>
              <p:nvPr/>
            </p:nvSpPr>
            <p:spPr>
              <a:xfrm>
                <a:off x="2532380" y="2826825"/>
                <a:ext cx="1920240" cy="548640"/>
              </a:xfrm>
              <a:prstGeom prst="rect">
                <a:avLst/>
              </a:prstGeom>
              <a:blipFill>
                <a:blip r:embed="rId5"/>
                <a:stretch>
                  <a:fillRect l="-13158" t="-218182" b="-290909"/>
                </a:stretch>
              </a:blipFill>
              <a:ln/>
            </p:spPr>
            <p:txBody>
              <a:bodyPr/>
              <a:lstStyle/>
              <a:p>
                <a:r>
                  <a:rPr lang="en-US">
                    <a:noFill/>
                  </a:rPr>
                  <a:t> </a:t>
                </a:r>
              </a:p>
            </p:txBody>
          </p:sp>
        </mc:Fallback>
      </mc:AlternateContent>
      <p:sp>
        <p:nvSpPr>
          <p:cNvPr id="11" name="Text 9">
            <a:extLst>
              <a:ext uri="{FF2B5EF4-FFF2-40B4-BE49-F238E27FC236}">
                <a16:creationId xmlns:a16="http://schemas.microsoft.com/office/drawing/2014/main" id="{D0633FFD-0841-A56F-42B7-2173A35F259B}"/>
              </a:ext>
            </a:extLst>
          </p:cNvPr>
          <p:cNvSpPr/>
          <p:nvPr/>
        </p:nvSpPr>
        <p:spPr>
          <a:xfrm>
            <a:off x="26238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Sum over ALL possible</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computable environments</a:t>
            </a:r>
            <a:endParaRPr lang="en-US" sz="1200">
              <a:solidFill>
                <a:schemeClr val="tx2"/>
              </a:solidFill>
            </a:endParaRPr>
          </a:p>
        </p:txBody>
      </p:sp>
      <p:sp>
        <p:nvSpPr>
          <p:cNvPr id="12" name="Shape 10">
            <a:extLst>
              <a:ext uri="{FF2B5EF4-FFF2-40B4-BE49-F238E27FC236}">
                <a16:creationId xmlns:a16="http://schemas.microsoft.com/office/drawing/2014/main" id="{E9131781-3234-9720-DB14-DD272ACE5A34}"/>
              </a:ext>
            </a:extLst>
          </p:cNvPr>
          <p:cNvSpPr/>
          <p:nvPr/>
        </p:nvSpPr>
        <p:spPr>
          <a:xfrm>
            <a:off x="4673600" y="2651760"/>
            <a:ext cx="1828800" cy="1645920"/>
          </a:xfrm>
          <a:prstGeom prst="rect">
            <a:avLst/>
          </a:prstGeom>
          <a:solidFill>
            <a:srgbClr val="222731"/>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3" name="Text 11">
                <a:extLst>
                  <a:ext uri="{FF2B5EF4-FFF2-40B4-BE49-F238E27FC236}">
                    <a16:creationId xmlns:a16="http://schemas.microsoft.com/office/drawing/2014/main" id="{E28D4BBA-038B-49DA-1417-954379D8E7B0}"/>
                  </a:ext>
                </a:extLst>
              </p:cNvPr>
              <p:cNvSpPr/>
              <p:nvPr/>
            </p:nvSpPr>
            <p:spPr>
              <a:xfrm>
                <a:off x="46278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n-US" sz="2000" i="1" smtClean="0">
                              <a:solidFill>
                                <a:schemeClr val="tx2"/>
                              </a:solidFill>
                              <a:latin typeface="Cambria Math" panose="02040503050406030204" pitchFamily="18" charset="0"/>
                              <a:ea typeface="Cambria Math" panose="02040503050406030204" pitchFamily="18" charset="0"/>
                              <a:cs typeface="Consolas" pitchFamily="34" charset="-120"/>
                            </a:rPr>
                          </m:ctrlPr>
                        </m:sSupPr>
                        <m:e>
                          <m:r>
                            <a:rPr lang="en-US" sz="2000" i="1">
                              <a:solidFill>
                                <a:schemeClr val="tx2"/>
                              </a:solidFill>
                              <a:latin typeface="Cambria Math" panose="02040503050406030204" pitchFamily="18" charset="0"/>
                              <a:ea typeface="Cambria Math" panose="02040503050406030204" pitchFamily="18" charset="0"/>
                              <a:cs typeface="Consolas" pitchFamily="34" charset="-120"/>
                            </a:rPr>
                            <m:t>2</m:t>
                          </m:r>
                        </m:e>
                        <m:sup>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𝐾</m:t>
                          </m:r>
                          <m:r>
                            <a:rPr lang="en-US" sz="2000" i="1">
                              <a:solidFill>
                                <a:schemeClr val="tx2"/>
                              </a:solidFill>
                              <a:latin typeface="Cambria Math" panose="02040503050406030204" pitchFamily="18" charset="0"/>
                              <a:ea typeface="Cambria Math" panose="02040503050406030204" pitchFamily="18" charset="0"/>
                              <a:cs typeface="Consolas" pitchFamily="34" charset="-120"/>
                            </a:rPr>
                            <m:t>(</m:t>
                          </m:r>
                          <m:r>
                            <a:rPr lang="en-US" sz="2000" i="1">
                              <a:solidFill>
                                <a:schemeClr val="tx2"/>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tx2"/>
                              </a:solidFill>
                              <a:latin typeface="Cambria Math" panose="02040503050406030204" pitchFamily="18" charset="0"/>
                              <a:ea typeface="Cambria Math" panose="02040503050406030204" pitchFamily="18" charset="0"/>
                              <a:cs typeface="Consolas" pitchFamily="34" charset="-120"/>
                            </a:rPr>
                            <m:t>) </m:t>
                          </m:r>
                        </m:sup>
                      </m:sSup>
                    </m:oMath>
                  </m:oMathPara>
                </a14:m>
                <a:endParaRPr lang="en-US" sz="2000">
                  <a:solidFill>
                    <a:schemeClr val="tx2"/>
                  </a:solidFill>
                </a:endParaRPr>
              </a:p>
            </p:txBody>
          </p:sp>
        </mc:Choice>
        <mc:Fallback xmlns="">
          <p:sp>
            <p:nvSpPr>
              <p:cNvPr id="13" name="Text 11">
                <a:extLst>
                  <a:ext uri="{FF2B5EF4-FFF2-40B4-BE49-F238E27FC236}">
                    <a16:creationId xmlns:a16="http://schemas.microsoft.com/office/drawing/2014/main" id="{E28D4BBA-038B-49DA-1417-954379D8E7B0}"/>
                  </a:ext>
                </a:extLst>
              </p:cNvPr>
              <p:cNvSpPr>
                <a:spLocks noRot="1" noChangeAspect="1" noMove="1" noResize="1" noEditPoints="1" noAdjustHandles="1" noChangeArrowheads="1" noChangeShapeType="1" noTextEdit="1"/>
              </p:cNvSpPr>
              <p:nvPr/>
            </p:nvSpPr>
            <p:spPr>
              <a:xfrm>
                <a:off x="4627880" y="2811194"/>
                <a:ext cx="1920240" cy="548640"/>
              </a:xfrm>
              <a:prstGeom prst="rect">
                <a:avLst/>
              </a:prstGeom>
              <a:blipFill>
                <a:blip r:embed="rId6"/>
                <a:stretch>
                  <a:fillRect/>
                </a:stretch>
              </a:blipFill>
              <a:ln/>
            </p:spPr>
            <p:txBody>
              <a:bodyPr/>
              <a:lstStyle/>
              <a:p>
                <a:r>
                  <a:rPr lang="en-US">
                    <a:noFill/>
                  </a:rPr>
                  <a:t> </a:t>
                </a:r>
              </a:p>
            </p:txBody>
          </p:sp>
        </mc:Fallback>
      </mc:AlternateContent>
      <p:sp>
        <p:nvSpPr>
          <p:cNvPr id="14" name="Text 12">
            <a:extLst>
              <a:ext uri="{FF2B5EF4-FFF2-40B4-BE49-F238E27FC236}">
                <a16:creationId xmlns:a16="http://schemas.microsoft.com/office/drawing/2014/main" id="{F29FBB4F-CDE8-7733-77D2-4AB5B7887D76}"/>
              </a:ext>
            </a:extLst>
          </p:cNvPr>
          <p:cNvSpPr/>
          <p:nvPr/>
        </p:nvSpPr>
        <p:spPr>
          <a:xfrm>
            <a:off x="4719320" y="3566160"/>
            <a:ext cx="1737360" cy="594360"/>
          </a:xfrm>
          <a:prstGeom prst="rect">
            <a:avLst/>
          </a:prstGeom>
          <a:noFill/>
          <a:ln/>
        </p:spPr>
        <p:txBody>
          <a:bodyPr wrap="square" lIns="0" tIns="0" rIns="0" bIns="0" rtlCol="0" anchor="t"/>
          <a:lstStyle/>
          <a:p>
            <a:pPr marL="0" indent="0" algn="ctr">
              <a:buNone/>
            </a:pPr>
            <a:r>
              <a:rPr lang="en-US" sz="1200">
                <a:solidFill>
                  <a:schemeClr val="tx2"/>
                </a:solidFill>
                <a:latin typeface="Calibri" pitchFamily="34" charset="0"/>
                <a:ea typeface="Calibri" pitchFamily="34" charset="-122"/>
                <a:cs typeface="Calibri" pitchFamily="34" charset="-120"/>
              </a:rPr>
              <a:t>Weight: simpler environments</a:t>
            </a:r>
            <a:endParaRPr lang="en-US" sz="1200">
              <a:solidFill>
                <a:schemeClr val="tx2"/>
              </a:solidFill>
            </a:endParaRPr>
          </a:p>
          <a:p>
            <a:pPr marL="0" indent="0" algn="ctr">
              <a:buNone/>
            </a:pPr>
            <a:r>
              <a:rPr lang="en-US" sz="1200">
                <a:solidFill>
                  <a:schemeClr val="tx2"/>
                </a:solidFill>
                <a:latin typeface="Calibri" pitchFamily="34" charset="0"/>
                <a:ea typeface="Calibri" pitchFamily="34" charset="-122"/>
                <a:cs typeface="Calibri" pitchFamily="34" charset="-120"/>
              </a:rPr>
              <a:t>count more (Occam's razor)</a:t>
            </a:r>
            <a:endParaRPr lang="en-US" sz="1200">
              <a:solidFill>
                <a:schemeClr val="tx2"/>
              </a:solidFill>
            </a:endParaRPr>
          </a:p>
        </p:txBody>
      </p:sp>
      <p:sp>
        <p:nvSpPr>
          <p:cNvPr id="15" name="Shape 13">
            <a:extLst>
              <a:ext uri="{FF2B5EF4-FFF2-40B4-BE49-F238E27FC236}">
                <a16:creationId xmlns:a16="http://schemas.microsoft.com/office/drawing/2014/main" id="{B2B4D14B-3C93-6329-A837-3BCCE15D694F}"/>
              </a:ext>
            </a:extLst>
          </p:cNvPr>
          <p:cNvSpPr/>
          <p:nvPr/>
        </p:nvSpPr>
        <p:spPr>
          <a:xfrm>
            <a:off x="6769100" y="2651760"/>
            <a:ext cx="1828800" cy="1645920"/>
          </a:xfrm>
          <a:prstGeom prst="rect">
            <a:avLst/>
          </a:prstGeom>
          <a:solidFill>
            <a:srgbClr val="222731"/>
          </a:solidFill>
          <a:ln>
            <a:solidFill>
              <a:srgbClr val="888888"/>
            </a:solidFill>
          </a:ln>
          <a:effectLst/>
        </p:spPr>
        <p:txBody>
          <a:bodyPr/>
          <a:lstStyle/>
          <a:p>
            <a:endParaRPr lang="en-US">
              <a:solidFill>
                <a:schemeClr val="tx2"/>
              </a:solidFill>
            </a:endParaRPr>
          </a:p>
        </p:txBody>
      </p:sp>
      <mc:AlternateContent xmlns:mc="http://schemas.openxmlformats.org/markup-compatibility/2006" xmlns:a14="http://schemas.microsoft.com/office/drawing/2010/main">
        <mc:Choice Requires="a14">
          <p:sp>
            <p:nvSpPr>
              <p:cNvPr id="16" name="Text 14">
                <a:extLst>
                  <a:ext uri="{FF2B5EF4-FFF2-40B4-BE49-F238E27FC236}">
                    <a16:creationId xmlns:a16="http://schemas.microsoft.com/office/drawing/2014/main" id="{71FD8DA2-0C3C-00DC-C3D4-02FD38F4FA1C}"/>
                  </a:ext>
                </a:extLst>
              </p:cNvPr>
              <p:cNvSpPr/>
              <p:nvPr/>
            </p:nvSpPr>
            <p:spPr>
              <a:xfrm>
                <a:off x="67233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n-US" sz="2000" i="1" smtClean="0">
                              <a:solidFill>
                                <a:schemeClr val="accent4"/>
                              </a:solidFill>
                              <a:latin typeface="Cambria Math" panose="02040503050406030204" pitchFamily="18" charset="0"/>
                              <a:ea typeface="Cambria Math" panose="02040503050406030204" pitchFamily="18" charset="0"/>
                              <a:cs typeface="Consolas" pitchFamily="34" charset="-120"/>
                            </a:rPr>
                          </m:ctrlPr>
                        </m:sSubSupPr>
                        <m:e>
                          <m:r>
                            <a:rPr lang="en-US" sz="2000" i="1">
                              <a:solidFill>
                                <a:schemeClr val="accent4"/>
                              </a:solidFill>
                              <a:latin typeface="Cambria Math" panose="02040503050406030204" pitchFamily="18" charset="0"/>
                              <a:ea typeface="Cambria Math" panose="02040503050406030204" pitchFamily="18" charset="0"/>
                              <a:cs typeface="Consolas" pitchFamily="34" charset="-120"/>
                            </a:rPr>
                            <m:t>𝑉</m:t>
                          </m:r>
                        </m:e>
                        <m:sub>
                          <m:r>
                            <a:rPr lang="en-US" sz="2000" i="1">
                              <a:solidFill>
                                <a:schemeClr val="accent4"/>
                              </a:solidFill>
                              <a:latin typeface="Cambria Math" panose="02040503050406030204" pitchFamily="18" charset="0"/>
                              <a:ea typeface="Cambria Math" panose="02040503050406030204" pitchFamily="18" charset="0"/>
                              <a:cs typeface="Consolas" pitchFamily="34" charset="-120"/>
                            </a:rPr>
                            <m:t>𝜇</m:t>
                          </m:r>
                        </m:sub>
                        <m:sup>
                          <m:r>
                            <a:rPr lang="en-US" sz="2000" i="1">
                              <a:solidFill>
                                <a:schemeClr val="accent4"/>
                              </a:solidFill>
                              <a:latin typeface="Cambria Math" panose="02040503050406030204" pitchFamily="18" charset="0"/>
                              <a:ea typeface="Cambria Math" panose="02040503050406030204" pitchFamily="18" charset="0"/>
                              <a:cs typeface="Consolas" pitchFamily="34" charset="-120"/>
                            </a:rPr>
                            <m:t>𝜋</m:t>
                          </m:r>
                        </m:sup>
                      </m:sSubSup>
                    </m:oMath>
                  </m:oMathPara>
                </a14:m>
                <a:endParaRPr lang="en-US" sz="2000">
                  <a:solidFill>
                    <a:schemeClr val="accent4"/>
                  </a:solidFill>
                </a:endParaRPr>
              </a:p>
            </p:txBody>
          </p:sp>
        </mc:Choice>
        <mc:Fallback xmlns="">
          <p:sp>
            <p:nvSpPr>
              <p:cNvPr id="16" name="Text 14">
                <a:extLst>
                  <a:ext uri="{FF2B5EF4-FFF2-40B4-BE49-F238E27FC236}">
                    <a16:creationId xmlns:a16="http://schemas.microsoft.com/office/drawing/2014/main" id="{71FD8DA2-0C3C-00DC-C3D4-02FD38F4FA1C}"/>
                  </a:ext>
                </a:extLst>
              </p:cNvPr>
              <p:cNvSpPr>
                <a:spLocks noRot="1" noChangeAspect="1" noMove="1" noResize="1" noEditPoints="1" noAdjustHandles="1" noChangeArrowheads="1" noChangeShapeType="1" noTextEdit="1"/>
              </p:cNvSpPr>
              <p:nvPr/>
            </p:nvSpPr>
            <p:spPr>
              <a:xfrm>
                <a:off x="6723380" y="2811194"/>
                <a:ext cx="1920240" cy="548640"/>
              </a:xfrm>
              <a:prstGeom prst="rect">
                <a:avLst/>
              </a:prstGeom>
              <a:blipFill>
                <a:blip r:embed="rId7"/>
                <a:stretch>
                  <a:fillRect/>
                </a:stretch>
              </a:blipFill>
              <a:ln/>
            </p:spPr>
            <p:txBody>
              <a:bodyPr/>
              <a:lstStyle/>
              <a:p>
                <a:r>
                  <a:rPr lang="en-US">
                    <a:noFill/>
                  </a:rPr>
                  <a:t> </a:t>
                </a:r>
              </a:p>
            </p:txBody>
          </p:sp>
        </mc:Fallback>
      </mc:AlternateContent>
      <p:sp>
        <p:nvSpPr>
          <p:cNvPr id="17" name="Text 15">
            <a:extLst>
              <a:ext uri="{FF2B5EF4-FFF2-40B4-BE49-F238E27FC236}">
                <a16:creationId xmlns:a16="http://schemas.microsoft.com/office/drawing/2014/main" id="{2F6B7FD9-DF4E-AC03-9958-57ED822AF531}"/>
              </a:ext>
            </a:extLst>
          </p:cNvPr>
          <p:cNvSpPr/>
          <p:nvPr/>
        </p:nvSpPr>
        <p:spPr>
          <a:xfrm>
            <a:off x="6814820" y="3566160"/>
            <a:ext cx="1737360" cy="594360"/>
          </a:xfrm>
          <a:prstGeom prst="rect">
            <a:avLst/>
          </a:prstGeom>
          <a:noFill/>
          <a:ln/>
        </p:spPr>
        <p:txBody>
          <a:bodyPr wrap="square" lIns="0" tIns="0" rIns="0" bIns="0" rtlCol="0" anchor="t"/>
          <a:lstStyle/>
          <a:p>
            <a:pPr marL="0" indent="0" algn="ctr">
              <a:buNone/>
            </a:pPr>
            <a:r>
              <a:rPr lang="en-US" sz="1200">
                <a:solidFill>
                  <a:schemeClr val="bg2"/>
                </a:solidFill>
                <a:latin typeface="Calibri" pitchFamily="34" charset="0"/>
                <a:ea typeface="Calibri" pitchFamily="34" charset="-122"/>
                <a:cs typeface="Calibri" pitchFamily="34" charset="-120"/>
              </a:rPr>
              <a:t>Reward agent π earns</a:t>
            </a:r>
            <a:endParaRPr lang="en-US" sz="1200">
              <a:solidFill>
                <a:schemeClr val="bg2"/>
              </a:solidFill>
            </a:endParaRPr>
          </a:p>
          <a:p>
            <a:pPr marL="0" indent="0" algn="ctr">
              <a:buNone/>
            </a:pPr>
            <a:r>
              <a:rPr lang="en-US" sz="1200">
                <a:solidFill>
                  <a:schemeClr val="bg2"/>
                </a:solidFill>
                <a:latin typeface="Calibri" pitchFamily="34" charset="0"/>
                <a:ea typeface="Calibri" pitchFamily="34" charset="-122"/>
                <a:cs typeface="Calibri" pitchFamily="34" charset="-120"/>
              </a:rPr>
              <a:t>in environment μ</a:t>
            </a:r>
            <a:endParaRPr lang="en-US" sz="1200">
              <a:solidFill>
                <a:schemeClr val="bg2"/>
              </a:solidFill>
            </a:endParaRPr>
          </a:p>
        </p:txBody>
      </p:sp>
      <p:sp>
        <p:nvSpPr>
          <p:cNvPr id="18" name="Text 16">
            <a:extLst>
              <a:ext uri="{FF2B5EF4-FFF2-40B4-BE49-F238E27FC236}">
                <a16:creationId xmlns:a16="http://schemas.microsoft.com/office/drawing/2014/main" id="{39A915FE-F68D-AA91-AB5D-8E18FBE3819E}"/>
              </a:ext>
            </a:extLst>
          </p:cNvPr>
          <p:cNvSpPr/>
          <p:nvPr/>
        </p:nvSpPr>
        <p:spPr>
          <a:xfrm>
            <a:off x="548640" y="4480560"/>
            <a:ext cx="8229600" cy="457200"/>
          </a:xfrm>
          <a:prstGeom prst="rect">
            <a:avLst/>
          </a:prstGeom>
          <a:noFill/>
          <a:ln/>
        </p:spPr>
        <p:txBody>
          <a:bodyPr wrap="square" lIns="0" tIns="0" rIns="0" bIns="0" rtlCol="0" anchor="ctr"/>
          <a:lstStyle/>
          <a:p>
            <a:pPr marL="0" indent="0" algn="ctr">
              <a:buNone/>
            </a:pPr>
            <a:r>
              <a:rPr lang="en-US" sz="1400" i="1">
                <a:solidFill>
                  <a:srgbClr val="A8CFC0"/>
                </a:solidFill>
                <a:latin typeface="Georgia" pitchFamily="34" charset="0"/>
                <a:ea typeface="Georgia" pitchFamily="34" charset="-122"/>
                <a:cs typeface="Georgia" pitchFamily="34" charset="-120"/>
              </a:rPr>
              <a:t>"Intelligence is an agent's ability </a:t>
            </a:r>
            <a:r>
              <a:rPr lang="en-US" sz="1400" i="1">
                <a:solidFill>
                  <a:schemeClr val="bg1"/>
                </a:solidFill>
                <a:latin typeface="Georgia" pitchFamily="34" charset="0"/>
                <a:ea typeface="Georgia" pitchFamily="34" charset="-122"/>
                <a:cs typeface="Georgia" pitchFamily="34" charset="-120"/>
              </a:rPr>
              <a:t>to achieve goals </a:t>
            </a:r>
            <a:r>
              <a:rPr lang="en-US" sz="1400" i="1">
                <a:solidFill>
                  <a:srgbClr val="A8CFC0"/>
                </a:solidFill>
                <a:latin typeface="Georgia" pitchFamily="34" charset="0"/>
                <a:ea typeface="Georgia" pitchFamily="34" charset="-122"/>
                <a:cs typeface="Georgia" pitchFamily="34" charset="-120"/>
              </a:rPr>
              <a:t>across a wide range of environments."</a:t>
            </a:r>
            <a:endParaRPr lang="en-US" sz="1400"/>
          </a:p>
        </p:txBody>
      </p:sp>
      <p:sp>
        <p:nvSpPr>
          <p:cNvPr id="5" name="Text 0">
            <a:extLst>
              <a:ext uri="{FF2B5EF4-FFF2-40B4-BE49-F238E27FC236}">
                <a16:creationId xmlns:a16="http://schemas.microsoft.com/office/drawing/2014/main" id="{379EA45A-7418-3CB6-260D-CE4CCC02D653}"/>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Tree>
    <p:extLst>
      <p:ext uri="{BB962C8B-B14F-4D97-AF65-F5344CB8AC3E}">
        <p14:creationId xmlns:p14="http://schemas.microsoft.com/office/powerpoint/2010/main" val="14933660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C8D4DC4F-6859-61C9-5EFF-2EE0D0C79E45}"/>
            </a:ext>
          </a:extLst>
        </p:cNvPr>
        <p:cNvGrpSpPr/>
        <p:nvPr/>
      </p:nvGrpSpPr>
      <p:grpSpPr>
        <a:xfrm>
          <a:off x="0" y="0"/>
          <a:ext cx="0" cy="0"/>
          <a:chOff x="0" y="0"/>
          <a:chExt cx="0" cy="0"/>
        </a:xfrm>
      </p:grpSpPr>
      <p:sp>
        <p:nvSpPr>
          <p:cNvPr id="2" name="Shape 1">
            <a:extLst>
              <a:ext uri="{FF2B5EF4-FFF2-40B4-BE49-F238E27FC236}">
                <a16:creationId xmlns:a16="http://schemas.microsoft.com/office/drawing/2014/main" id="{F8168A3A-7ACD-4C7E-3ACB-3F348069888B}"/>
              </a:ext>
            </a:extLst>
          </p:cNvPr>
          <p:cNvSpPr/>
          <p:nvPr/>
        </p:nvSpPr>
        <p:spPr>
          <a:xfrm>
            <a:off x="548640" y="1028114"/>
            <a:ext cx="8007531" cy="1371600"/>
          </a:xfrm>
          <a:prstGeom prst="rect">
            <a:avLst/>
          </a:prstGeom>
          <a:solidFill>
            <a:srgbClr val="222731"/>
          </a:solidFill>
          <a:ln>
            <a:solidFill>
              <a:srgbClr val="888888"/>
            </a:solidFill>
          </a:ln>
          <a:effectLst/>
        </p:spPr>
        <p:txBody>
          <a:bodyPr/>
          <a:lstStyle/>
          <a:p>
            <a:endParaRPr lang="en-US"/>
          </a:p>
        </p:txBody>
      </p:sp>
      <mc:AlternateContent xmlns:mc="http://schemas.openxmlformats.org/markup-compatibility/2006" xmlns:a14="http://schemas.microsoft.com/office/drawing/2010/main">
        <mc:Choice Requires="a14">
          <p:sp>
            <p:nvSpPr>
              <p:cNvPr id="4" name="Text 2">
                <a:extLst>
                  <a:ext uri="{FF2B5EF4-FFF2-40B4-BE49-F238E27FC236}">
                    <a16:creationId xmlns:a16="http://schemas.microsoft.com/office/drawing/2014/main" id="{5187B99F-09BC-C812-6AE8-7534E63458BB}"/>
                  </a:ext>
                </a:extLst>
              </p:cNvPr>
              <p:cNvSpPr/>
              <p:nvPr/>
            </p:nvSpPr>
            <p:spPr>
              <a:xfrm>
                <a:off x="731520" y="1209822"/>
                <a:ext cx="7680960" cy="9144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3400" b="0" i="1" smtClean="0">
                          <a:solidFill>
                            <a:srgbClr val="E0A458"/>
                          </a:solidFill>
                          <a:latin typeface="Cambria Math" panose="02040503050406030204" pitchFamily="18" charset="0"/>
                          <a:ea typeface="Cambria Math" panose="02040503050406030204" pitchFamily="18" charset="0"/>
                          <a:cs typeface="Consolas" pitchFamily="34" charset="-120"/>
                        </a:rPr>
                        <m:t>Υ</m:t>
                      </m:r>
                      <m:d>
                        <m:dPr>
                          <m:ctrlPr>
                            <a:rPr lang="en-US" sz="3400" b="0" i="1" smtClean="0">
                              <a:solidFill>
                                <a:srgbClr val="E0A458"/>
                              </a:solidFill>
                              <a:latin typeface="Cambria Math" panose="02040503050406030204" pitchFamily="18" charset="0"/>
                              <a:ea typeface="Consolas" pitchFamily="34" charset="-122"/>
                              <a:cs typeface="Consolas" pitchFamily="34" charset="-120"/>
                            </a:rPr>
                          </m:ctrlPr>
                        </m:dPr>
                        <m:e>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𝜋</m:t>
                          </m:r>
                        </m:e>
                      </m:d>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 </m:t>
                      </m:r>
                      <m:nary>
                        <m:naryPr>
                          <m:chr m:val="∑"/>
                          <m:supHide m:val="on"/>
                          <m:ctrlP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ctrlPr>
                        </m:naryPr>
                        <m:sub>
                          <m:r>
                            <m:rPr>
                              <m:brk m:alnAt="7"/>
                            </m:rP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m:t>
                          </m:r>
                          <m:r>
                            <a:rPr lang="en-US" sz="34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𝐸</m:t>
                          </m:r>
                        </m:sub>
                        <m:sup/>
                        <m:e>
                          <m:sSup>
                            <m:sSupPr>
                              <m:ctrlP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ctrlPr>
                            </m:sSupPr>
                            <m:e>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2</m:t>
                              </m:r>
                            </m:e>
                            <m:sup>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𝐾</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𝜇</m:t>
                              </m:r>
                              <m:r>
                                <a:rPr lang="en-US" sz="3400" b="0" i="1" smtClean="0">
                                  <a:solidFill>
                                    <a:srgbClr val="E0A458"/>
                                  </a:solidFill>
                                  <a:latin typeface="Cambria Math" panose="02040503050406030204" pitchFamily="18" charset="0"/>
                                  <a:ea typeface="Cambria Math" panose="02040503050406030204" pitchFamily="18" charset="0"/>
                                  <a:cs typeface="Consolas" pitchFamily="34" charset="-120"/>
                                </a:rPr>
                                <m:t>) </m:t>
                              </m:r>
                            </m:sup>
                          </m:sSup>
                          <m:sSubSup>
                            <m:sSubSupPr>
                              <m:ctrlPr>
                                <a:rPr lang="en-US" sz="3400" i="1">
                                  <a:solidFill>
                                    <a:srgbClr val="E0A458"/>
                                  </a:solidFill>
                                  <a:latin typeface="Cambria Math" panose="02040503050406030204" pitchFamily="18" charset="0"/>
                                  <a:ea typeface="Cambria Math" panose="02040503050406030204" pitchFamily="18" charset="0"/>
                                  <a:cs typeface="Consolas" pitchFamily="34" charset="-120"/>
                                </a:rPr>
                              </m:ctrlPr>
                            </m:sSubSupPr>
                            <m:e>
                              <m:r>
                                <a:rPr lang="en-US" sz="3400" i="1">
                                  <a:solidFill>
                                    <a:srgbClr val="E0A458"/>
                                  </a:solidFill>
                                  <a:latin typeface="Cambria Math" panose="02040503050406030204" pitchFamily="18" charset="0"/>
                                  <a:ea typeface="Cambria Math" panose="02040503050406030204" pitchFamily="18" charset="0"/>
                                  <a:cs typeface="Consolas" pitchFamily="34" charset="-120"/>
                                </a:rPr>
                                <m:t>𝑉</m:t>
                              </m:r>
                            </m:e>
                            <m:sub>
                              <m:r>
                                <a:rPr lang="en-US" sz="3400" i="1">
                                  <a:solidFill>
                                    <a:srgbClr val="E0A458"/>
                                  </a:solidFill>
                                  <a:latin typeface="Cambria Math" panose="02040503050406030204" pitchFamily="18" charset="0"/>
                                  <a:ea typeface="Cambria Math" panose="02040503050406030204" pitchFamily="18" charset="0"/>
                                  <a:cs typeface="Consolas" pitchFamily="34" charset="-120"/>
                                </a:rPr>
                                <m:t>𝜇</m:t>
                              </m:r>
                            </m:sub>
                            <m:sup>
                              <m:r>
                                <a:rPr lang="en-US" sz="3400" i="1">
                                  <a:solidFill>
                                    <a:srgbClr val="E0A458"/>
                                  </a:solidFill>
                                  <a:latin typeface="Cambria Math" panose="02040503050406030204" pitchFamily="18" charset="0"/>
                                  <a:ea typeface="Cambria Math" panose="02040503050406030204" pitchFamily="18" charset="0"/>
                                  <a:cs typeface="Consolas" pitchFamily="34" charset="-120"/>
                                </a:rPr>
                                <m:t>𝜋</m:t>
                              </m:r>
                            </m:sup>
                          </m:sSubSup>
                        </m:e>
                      </m:nary>
                    </m:oMath>
                  </m:oMathPara>
                </a14:m>
                <a:endParaRPr lang="en-US" sz="3400">
                  <a:solidFill>
                    <a:srgbClr val="E0A458"/>
                  </a:solidFill>
                  <a:latin typeface="Consolas" pitchFamily="34" charset="0"/>
                  <a:ea typeface="Consolas" pitchFamily="34" charset="-122"/>
                  <a:cs typeface="Consolas" pitchFamily="34" charset="-120"/>
                </a:endParaRPr>
              </a:p>
            </p:txBody>
          </p:sp>
        </mc:Choice>
        <mc:Fallback xmlns="">
          <p:sp>
            <p:nvSpPr>
              <p:cNvPr id="4" name="Text 2">
                <a:extLst>
                  <a:ext uri="{FF2B5EF4-FFF2-40B4-BE49-F238E27FC236}">
                    <a16:creationId xmlns:a16="http://schemas.microsoft.com/office/drawing/2014/main" id="{5187B99F-09BC-C812-6AE8-7534E63458BB}"/>
                  </a:ext>
                </a:extLst>
              </p:cNvPr>
              <p:cNvSpPr>
                <a:spLocks noRot="1" noChangeAspect="1" noMove="1" noResize="1" noEditPoints="1" noAdjustHandles="1" noChangeArrowheads="1" noChangeShapeType="1" noTextEdit="1"/>
              </p:cNvSpPr>
              <p:nvPr/>
            </p:nvSpPr>
            <p:spPr>
              <a:xfrm>
                <a:off x="731520" y="1209822"/>
                <a:ext cx="7680960" cy="914400"/>
              </a:xfrm>
              <a:prstGeom prst="rect">
                <a:avLst/>
              </a:prstGeom>
              <a:blipFill>
                <a:blip r:embed="rId3"/>
                <a:stretch>
                  <a:fillRect t="-226027" b="-298630"/>
                </a:stretch>
              </a:blipFill>
              <a:ln/>
            </p:spPr>
            <p:txBody>
              <a:bodyPr/>
              <a:lstStyle/>
              <a:p>
                <a:r>
                  <a:rPr lang="en-US">
                    <a:noFill/>
                  </a:rPr>
                  <a:t> </a:t>
                </a:r>
              </a:p>
            </p:txBody>
          </p:sp>
        </mc:Fallback>
      </mc:AlternateContent>
      <p:sp>
        <p:nvSpPr>
          <p:cNvPr id="6" name="Shape 4">
            <a:extLst>
              <a:ext uri="{FF2B5EF4-FFF2-40B4-BE49-F238E27FC236}">
                <a16:creationId xmlns:a16="http://schemas.microsoft.com/office/drawing/2014/main" id="{B8E8C4CA-9575-EC18-F26A-C3D95CDC0945}"/>
              </a:ext>
            </a:extLst>
          </p:cNvPr>
          <p:cNvSpPr/>
          <p:nvPr/>
        </p:nvSpPr>
        <p:spPr>
          <a:xfrm>
            <a:off x="546100" y="2651760"/>
            <a:ext cx="1828800" cy="1645920"/>
          </a:xfrm>
          <a:prstGeom prst="rect">
            <a:avLst/>
          </a:prstGeom>
          <a:solidFill>
            <a:srgbClr val="222731"/>
          </a:solidFill>
          <a:ln/>
          <a:effectLst/>
        </p:spPr>
        <p:txBody>
          <a:bodyPr/>
          <a:lstStyle/>
          <a:p>
            <a:endParaRPr lang="en-US"/>
          </a:p>
        </p:txBody>
      </p:sp>
      <mc:AlternateContent xmlns:mc="http://schemas.openxmlformats.org/markup-compatibility/2006" xmlns:a14="http://schemas.microsoft.com/office/drawing/2010/main">
        <mc:Choice Requires="a14">
          <p:sp>
            <p:nvSpPr>
              <p:cNvPr id="7" name="Text 5">
                <a:extLst>
                  <a:ext uri="{FF2B5EF4-FFF2-40B4-BE49-F238E27FC236}">
                    <a16:creationId xmlns:a16="http://schemas.microsoft.com/office/drawing/2014/main" id="{151D8F87-34E2-0009-85FC-B6254AA9667E}"/>
                  </a:ext>
                </a:extLst>
              </p:cNvPr>
              <p:cNvSpPr/>
              <p:nvPr/>
            </p:nvSpPr>
            <p:spPr>
              <a:xfrm>
                <a:off x="500380" y="2864729"/>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2000" i="1" smtClean="0">
                          <a:solidFill>
                            <a:schemeClr val="accent1">
                              <a:lumMod val="60000"/>
                              <a:lumOff val="40000"/>
                            </a:schemeClr>
                          </a:solidFill>
                          <a:latin typeface="Cambria Math" panose="02040503050406030204" pitchFamily="18" charset="0"/>
                          <a:ea typeface="Cambria Math" panose="02040503050406030204" pitchFamily="18" charset="0"/>
                          <a:cs typeface="Consolas" pitchFamily="34" charset="-120"/>
                        </a:rPr>
                        <m:t>Υ</m:t>
                      </m:r>
                      <m:d>
                        <m:dPr>
                          <m:ctrlPr>
                            <a:rPr lang="en-US" sz="2000" i="1">
                              <a:solidFill>
                                <a:schemeClr val="accent1">
                                  <a:lumMod val="60000"/>
                                  <a:lumOff val="40000"/>
                                </a:schemeClr>
                              </a:solidFill>
                              <a:latin typeface="Cambria Math" panose="02040503050406030204" pitchFamily="18" charset="0"/>
                              <a:ea typeface="Consolas" pitchFamily="34" charset="-122"/>
                              <a:cs typeface="Consolas" pitchFamily="34" charset="-120"/>
                            </a:rPr>
                          </m:ctrlPr>
                        </m:dPr>
                        <m:e>
                          <m:r>
                            <a:rPr lang="en-US" sz="2000" i="1">
                              <a:solidFill>
                                <a:schemeClr val="accent1">
                                  <a:lumMod val="60000"/>
                                  <a:lumOff val="40000"/>
                                </a:schemeClr>
                              </a:solidFill>
                              <a:latin typeface="Cambria Math" panose="02040503050406030204" pitchFamily="18" charset="0"/>
                              <a:ea typeface="Cambria Math" panose="02040503050406030204" pitchFamily="18" charset="0"/>
                              <a:cs typeface="Consolas" pitchFamily="34" charset="-120"/>
                            </a:rPr>
                            <m:t>𝜋</m:t>
                          </m:r>
                        </m:e>
                      </m:d>
                    </m:oMath>
                  </m:oMathPara>
                </a14:m>
                <a:endParaRPr lang="en-US" sz="2000">
                  <a:solidFill>
                    <a:schemeClr val="accent1">
                      <a:lumMod val="60000"/>
                      <a:lumOff val="40000"/>
                    </a:schemeClr>
                  </a:solidFill>
                </a:endParaRPr>
              </a:p>
            </p:txBody>
          </p:sp>
        </mc:Choice>
        <mc:Fallback xmlns="">
          <p:sp>
            <p:nvSpPr>
              <p:cNvPr id="7" name="Text 5">
                <a:extLst>
                  <a:ext uri="{FF2B5EF4-FFF2-40B4-BE49-F238E27FC236}">
                    <a16:creationId xmlns:a16="http://schemas.microsoft.com/office/drawing/2014/main" id="{151D8F87-34E2-0009-85FC-B6254AA9667E}"/>
                  </a:ext>
                </a:extLst>
              </p:cNvPr>
              <p:cNvSpPr>
                <a:spLocks noRot="1" noChangeAspect="1" noMove="1" noResize="1" noEditPoints="1" noAdjustHandles="1" noChangeArrowheads="1" noChangeShapeType="1" noTextEdit="1"/>
              </p:cNvSpPr>
              <p:nvPr/>
            </p:nvSpPr>
            <p:spPr>
              <a:xfrm>
                <a:off x="500380" y="2864729"/>
                <a:ext cx="1920240" cy="548640"/>
              </a:xfrm>
              <a:prstGeom prst="rect">
                <a:avLst/>
              </a:prstGeom>
              <a:blipFill>
                <a:blip r:embed="rId4"/>
                <a:stretch>
                  <a:fillRect/>
                </a:stretch>
              </a:blipFill>
              <a:ln/>
            </p:spPr>
            <p:txBody>
              <a:bodyPr/>
              <a:lstStyle/>
              <a:p>
                <a:r>
                  <a:rPr lang="en-US">
                    <a:noFill/>
                  </a:rPr>
                  <a:t> </a:t>
                </a:r>
              </a:p>
            </p:txBody>
          </p:sp>
        </mc:Fallback>
      </mc:AlternateContent>
      <p:sp>
        <p:nvSpPr>
          <p:cNvPr id="8" name="Text 6">
            <a:extLst>
              <a:ext uri="{FF2B5EF4-FFF2-40B4-BE49-F238E27FC236}">
                <a16:creationId xmlns:a16="http://schemas.microsoft.com/office/drawing/2014/main" id="{C2AA10C4-A552-C795-6C8B-0FE90964D03C}"/>
              </a:ext>
            </a:extLst>
          </p:cNvPr>
          <p:cNvSpPr/>
          <p:nvPr/>
        </p:nvSpPr>
        <p:spPr>
          <a:xfrm>
            <a:off x="591819" y="3566160"/>
            <a:ext cx="1737360" cy="594360"/>
          </a:xfrm>
          <a:prstGeom prst="rect">
            <a:avLst/>
          </a:prstGeom>
          <a:noFill/>
          <a:ln/>
        </p:spPr>
        <p:txBody>
          <a:bodyPr wrap="square" lIns="0" tIns="0" rIns="0" bIns="0" rtlCol="0" anchor="t"/>
          <a:lstStyle/>
          <a:p>
            <a:pPr marL="0" indent="0" algn="ctr">
              <a:buNone/>
            </a:pPr>
            <a:r>
              <a:rPr lang="en-US" sz="1200">
                <a:solidFill>
                  <a:srgbClr val="D8D6CE"/>
                </a:solidFill>
                <a:latin typeface="Calibri" pitchFamily="34" charset="0"/>
                <a:ea typeface="Calibri" pitchFamily="34" charset="-122"/>
                <a:cs typeface="Calibri" pitchFamily="34" charset="-120"/>
              </a:rPr>
              <a:t>Intelligence of agent π</a:t>
            </a:r>
            <a:endParaRPr lang="en-US" sz="1200"/>
          </a:p>
        </p:txBody>
      </p:sp>
      <p:sp>
        <p:nvSpPr>
          <p:cNvPr id="9" name="Shape 7">
            <a:extLst>
              <a:ext uri="{FF2B5EF4-FFF2-40B4-BE49-F238E27FC236}">
                <a16:creationId xmlns:a16="http://schemas.microsoft.com/office/drawing/2014/main" id="{EFD1A3F9-9ACD-DA6E-8EFA-18D74AEEE0B0}"/>
              </a:ext>
            </a:extLst>
          </p:cNvPr>
          <p:cNvSpPr/>
          <p:nvPr/>
        </p:nvSpPr>
        <p:spPr>
          <a:xfrm>
            <a:off x="2578100" y="2651760"/>
            <a:ext cx="1828800" cy="1645920"/>
          </a:xfrm>
          <a:prstGeom prst="rect">
            <a:avLst/>
          </a:prstGeom>
          <a:solidFill>
            <a:srgbClr val="222731"/>
          </a:solidFill>
          <a:ln/>
          <a:effectLst/>
        </p:spPr>
        <p:txBody>
          <a:bodyPr/>
          <a:lstStyle/>
          <a:p>
            <a:endParaRPr lang="en-US"/>
          </a:p>
        </p:txBody>
      </p:sp>
      <mc:AlternateContent xmlns:mc="http://schemas.openxmlformats.org/markup-compatibility/2006" xmlns:a14="http://schemas.microsoft.com/office/drawing/2010/main">
        <mc:Choice Requires="a14">
          <p:sp>
            <p:nvSpPr>
              <p:cNvPr id="10" name="Text 8">
                <a:extLst>
                  <a:ext uri="{FF2B5EF4-FFF2-40B4-BE49-F238E27FC236}">
                    <a16:creationId xmlns:a16="http://schemas.microsoft.com/office/drawing/2014/main" id="{1A074DCA-DA08-5DBF-8F23-A8A69E02DEC9}"/>
                  </a:ext>
                </a:extLst>
              </p:cNvPr>
              <p:cNvSpPr/>
              <p:nvPr/>
            </p:nvSpPr>
            <p:spPr>
              <a:xfrm>
                <a:off x="2532380" y="2826825"/>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nary>
                        <m:naryPr>
                          <m:chr m:val="∑"/>
                          <m:supHide m:val="on"/>
                          <m:ctrlPr>
                            <a:rPr lang="en-US" sz="2000" i="1" smtClean="0">
                              <a:solidFill>
                                <a:srgbClr val="E0A458"/>
                              </a:solidFill>
                              <a:latin typeface="Cambria Math" panose="02040503050406030204" pitchFamily="18" charset="0"/>
                              <a:ea typeface="Cambria Math" panose="02040503050406030204" pitchFamily="18" charset="0"/>
                              <a:cs typeface="Consolas" pitchFamily="34" charset="-120"/>
                            </a:rPr>
                          </m:ctrlPr>
                        </m:naryPr>
                        <m:sub>
                          <m:r>
                            <m:rPr>
                              <m:brk m:alnAt="7"/>
                            </m:rPr>
                            <a:rPr lang="en-US" sz="2000" i="1">
                              <a:solidFill>
                                <a:schemeClr val="bg2">
                                  <a:lumMod val="75000"/>
                                </a:schemeClr>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bg2">
                                  <a:lumMod val="75000"/>
                                </a:schemeClr>
                              </a:solidFill>
                              <a:latin typeface="Cambria Math" panose="02040503050406030204" pitchFamily="18" charset="0"/>
                              <a:ea typeface="Cambria Math" panose="02040503050406030204" pitchFamily="18" charset="0"/>
                              <a:cs typeface="Consolas" pitchFamily="34" charset="-120"/>
                            </a:rPr>
                            <m:t>∈</m:t>
                          </m:r>
                          <m:r>
                            <a:rPr lang="en-US" sz="2000" i="1">
                              <a:solidFill>
                                <a:schemeClr val="bg2">
                                  <a:lumMod val="75000"/>
                                </a:schemeClr>
                              </a:solidFill>
                              <a:latin typeface="Cambria Math" panose="02040503050406030204" pitchFamily="18" charset="0"/>
                              <a:ea typeface="Cambria Math" panose="02040503050406030204" pitchFamily="18" charset="0"/>
                              <a:cs typeface="Consolas" pitchFamily="34" charset="-120"/>
                            </a:rPr>
                            <m:t>𝐸</m:t>
                          </m:r>
                        </m:sub>
                        <m:sup/>
                        <m:e>
                          <m:r>
                            <a:rPr lang="en-US" sz="2000" b="0" i="1" smtClean="0">
                              <a:solidFill>
                                <a:schemeClr val="bg2">
                                  <a:lumMod val="75000"/>
                                </a:schemeClr>
                              </a:solidFill>
                              <a:latin typeface="Cambria Math" panose="02040503050406030204" pitchFamily="18" charset="0"/>
                              <a:ea typeface="Cambria Math" panose="02040503050406030204" pitchFamily="18" charset="0"/>
                              <a:cs typeface="Consolas" pitchFamily="34" charset="-120"/>
                            </a:rPr>
                            <m:t> </m:t>
                          </m:r>
                        </m:e>
                      </m:nary>
                    </m:oMath>
                  </m:oMathPara>
                </a14:m>
                <a:endParaRPr lang="en-US" sz="2000"/>
              </a:p>
            </p:txBody>
          </p:sp>
        </mc:Choice>
        <mc:Fallback xmlns="">
          <p:sp>
            <p:nvSpPr>
              <p:cNvPr id="10" name="Text 8">
                <a:extLst>
                  <a:ext uri="{FF2B5EF4-FFF2-40B4-BE49-F238E27FC236}">
                    <a16:creationId xmlns:a16="http://schemas.microsoft.com/office/drawing/2014/main" id="{1A074DCA-DA08-5DBF-8F23-A8A69E02DEC9}"/>
                  </a:ext>
                </a:extLst>
              </p:cNvPr>
              <p:cNvSpPr>
                <a:spLocks noRot="1" noChangeAspect="1" noMove="1" noResize="1" noEditPoints="1" noAdjustHandles="1" noChangeArrowheads="1" noChangeShapeType="1" noTextEdit="1"/>
              </p:cNvSpPr>
              <p:nvPr/>
            </p:nvSpPr>
            <p:spPr>
              <a:xfrm>
                <a:off x="2532380" y="2826825"/>
                <a:ext cx="1920240" cy="548640"/>
              </a:xfrm>
              <a:prstGeom prst="rect">
                <a:avLst/>
              </a:prstGeom>
              <a:blipFill>
                <a:blip r:embed="rId5"/>
                <a:stretch>
                  <a:fillRect l="-13158" t="-218182" b="-290909"/>
                </a:stretch>
              </a:blipFill>
              <a:ln/>
            </p:spPr>
            <p:txBody>
              <a:bodyPr/>
              <a:lstStyle/>
              <a:p>
                <a:r>
                  <a:rPr lang="en-US">
                    <a:noFill/>
                  </a:rPr>
                  <a:t> </a:t>
                </a:r>
              </a:p>
            </p:txBody>
          </p:sp>
        </mc:Fallback>
      </mc:AlternateContent>
      <p:sp>
        <p:nvSpPr>
          <p:cNvPr id="11" name="Text 9">
            <a:extLst>
              <a:ext uri="{FF2B5EF4-FFF2-40B4-BE49-F238E27FC236}">
                <a16:creationId xmlns:a16="http://schemas.microsoft.com/office/drawing/2014/main" id="{6DD19D30-DB9A-8AF3-1D41-7543E2B89333}"/>
              </a:ext>
            </a:extLst>
          </p:cNvPr>
          <p:cNvSpPr/>
          <p:nvPr/>
        </p:nvSpPr>
        <p:spPr>
          <a:xfrm>
            <a:off x="2623820" y="3566160"/>
            <a:ext cx="1737360" cy="594360"/>
          </a:xfrm>
          <a:prstGeom prst="rect">
            <a:avLst/>
          </a:prstGeom>
          <a:noFill/>
          <a:ln/>
        </p:spPr>
        <p:txBody>
          <a:bodyPr wrap="square" lIns="0" tIns="0" rIns="0" bIns="0" rtlCol="0" anchor="t"/>
          <a:lstStyle/>
          <a:p>
            <a:pPr marL="0" indent="0" algn="ctr">
              <a:buNone/>
            </a:pPr>
            <a:r>
              <a:rPr lang="en-US" sz="1200">
                <a:solidFill>
                  <a:srgbClr val="D8D6CE"/>
                </a:solidFill>
                <a:latin typeface="Calibri" pitchFamily="34" charset="0"/>
                <a:ea typeface="Calibri" pitchFamily="34" charset="-122"/>
                <a:cs typeface="Calibri" pitchFamily="34" charset="-120"/>
              </a:rPr>
              <a:t>Sum over ALL possible</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computable environments</a:t>
            </a:r>
            <a:endParaRPr lang="en-US" sz="1200"/>
          </a:p>
        </p:txBody>
      </p:sp>
      <p:sp>
        <p:nvSpPr>
          <p:cNvPr id="12" name="Shape 10">
            <a:extLst>
              <a:ext uri="{FF2B5EF4-FFF2-40B4-BE49-F238E27FC236}">
                <a16:creationId xmlns:a16="http://schemas.microsoft.com/office/drawing/2014/main" id="{3A77BA4E-5BEA-DCE7-230D-C1D0DF767780}"/>
              </a:ext>
            </a:extLst>
          </p:cNvPr>
          <p:cNvSpPr/>
          <p:nvPr/>
        </p:nvSpPr>
        <p:spPr>
          <a:xfrm>
            <a:off x="4673600" y="2651760"/>
            <a:ext cx="1828800" cy="1645920"/>
          </a:xfrm>
          <a:prstGeom prst="rect">
            <a:avLst/>
          </a:prstGeom>
          <a:solidFill>
            <a:srgbClr val="222731"/>
          </a:solidFill>
          <a:ln/>
          <a:effectLst/>
        </p:spPr>
        <p:txBody>
          <a:bodyPr/>
          <a:lstStyle/>
          <a:p>
            <a:endParaRPr lang="en-US"/>
          </a:p>
        </p:txBody>
      </p:sp>
      <mc:AlternateContent xmlns:mc="http://schemas.openxmlformats.org/markup-compatibility/2006" xmlns:a14="http://schemas.microsoft.com/office/drawing/2010/main">
        <mc:Choice Requires="a14">
          <p:sp>
            <p:nvSpPr>
              <p:cNvPr id="13" name="Text 11">
                <a:extLst>
                  <a:ext uri="{FF2B5EF4-FFF2-40B4-BE49-F238E27FC236}">
                    <a16:creationId xmlns:a16="http://schemas.microsoft.com/office/drawing/2014/main" id="{E02DFB1F-BF3D-B67D-29C9-DB50B28F145D}"/>
                  </a:ext>
                </a:extLst>
              </p:cNvPr>
              <p:cNvSpPr/>
              <p:nvPr/>
            </p:nvSpPr>
            <p:spPr>
              <a:xfrm>
                <a:off x="46278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p>
                        <m:sSupPr>
                          <m:ctrlPr>
                            <a:rPr lang="en-US" sz="2000" i="1" smtClean="0">
                              <a:solidFill>
                                <a:schemeClr val="accent2">
                                  <a:lumMod val="40000"/>
                                  <a:lumOff val="60000"/>
                                </a:schemeClr>
                              </a:solidFill>
                              <a:latin typeface="Cambria Math" panose="02040503050406030204" pitchFamily="18" charset="0"/>
                              <a:ea typeface="Cambria Math" panose="02040503050406030204" pitchFamily="18" charset="0"/>
                              <a:cs typeface="Consolas" pitchFamily="34" charset="-120"/>
                            </a:rPr>
                          </m:ctrlPr>
                        </m:sSupPr>
                        <m:e>
                          <m:r>
                            <a:rPr lang="en-US" sz="2000" i="1">
                              <a:solidFill>
                                <a:schemeClr val="accent2">
                                  <a:lumMod val="40000"/>
                                  <a:lumOff val="60000"/>
                                </a:schemeClr>
                              </a:solidFill>
                              <a:latin typeface="Cambria Math" panose="02040503050406030204" pitchFamily="18" charset="0"/>
                              <a:ea typeface="Cambria Math" panose="02040503050406030204" pitchFamily="18" charset="0"/>
                              <a:cs typeface="Consolas" pitchFamily="34" charset="-120"/>
                            </a:rPr>
                            <m:t>2</m:t>
                          </m:r>
                        </m:e>
                        <m:sup>
                          <m:r>
                            <a:rPr lang="en-US" sz="2000" i="1">
                              <a:solidFill>
                                <a:schemeClr val="accent2">
                                  <a:lumMod val="40000"/>
                                  <a:lumOff val="60000"/>
                                </a:schemeClr>
                              </a:solidFill>
                              <a:latin typeface="Cambria Math" panose="02040503050406030204" pitchFamily="18" charset="0"/>
                              <a:ea typeface="Cambria Math" panose="02040503050406030204" pitchFamily="18" charset="0"/>
                              <a:cs typeface="Consolas" pitchFamily="34" charset="-120"/>
                            </a:rPr>
                            <m:t>−</m:t>
                          </m:r>
                          <m:r>
                            <a:rPr lang="en-US" sz="2000" i="1">
                              <a:solidFill>
                                <a:schemeClr val="accent2">
                                  <a:lumMod val="40000"/>
                                  <a:lumOff val="60000"/>
                                </a:schemeClr>
                              </a:solidFill>
                              <a:latin typeface="Cambria Math" panose="02040503050406030204" pitchFamily="18" charset="0"/>
                              <a:ea typeface="Cambria Math" panose="02040503050406030204" pitchFamily="18" charset="0"/>
                              <a:cs typeface="Consolas" pitchFamily="34" charset="-120"/>
                            </a:rPr>
                            <m:t>𝐾</m:t>
                          </m:r>
                          <m:r>
                            <a:rPr lang="en-US" sz="2000" i="1">
                              <a:solidFill>
                                <a:schemeClr val="accent2">
                                  <a:lumMod val="40000"/>
                                  <a:lumOff val="60000"/>
                                </a:schemeClr>
                              </a:solidFill>
                              <a:latin typeface="Cambria Math" panose="02040503050406030204" pitchFamily="18" charset="0"/>
                              <a:ea typeface="Cambria Math" panose="02040503050406030204" pitchFamily="18" charset="0"/>
                              <a:cs typeface="Consolas" pitchFamily="34" charset="-120"/>
                            </a:rPr>
                            <m:t>(</m:t>
                          </m:r>
                          <m:r>
                            <a:rPr lang="en-US" sz="2000" i="1">
                              <a:solidFill>
                                <a:schemeClr val="accent2">
                                  <a:lumMod val="40000"/>
                                  <a:lumOff val="60000"/>
                                </a:schemeClr>
                              </a:solidFill>
                              <a:latin typeface="Cambria Math" panose="02040503050406030204" pitchFamily="18" charset="0"/>
                              <a:ea typeface="Cambria Math" panose="02040503050406030204" pitchFamily="18" charset="0"/>
                              <a:cs typeface="Consolas" pitchFamily="34" charset="-120"/>
                            </a:rPr>
                            <m:t>𝜇</m:t>
                          </m:r>
                          <m:r>
                            <a:rPr lang="en-US" sz="2000" i="1">
                              <a:solidFill>
                                <a:schemeClr val="accent2">
                                  <a:lumMod val="40000"/>
                                  <a:lumOff val="60000"/>
                                </a:schemeClr>
                              </a:solidFill>
                              <a:latin typeface="Cambria Math" panose="02040503050406030204" pitchFamily="18" charset="0"/>
                              <a:ea typeface="Cambria Math" panose="02040503050406030204" pitchFamily="18" charset="0"/>
                              <a:cs typeface="Consolas" pitchFamily="34" charset="-120"/>
                            </a:rPr>
                            <m:t>) </m:t>
                          </m:r>
                        </m:sup>
                      </m:sSup>
                    </m:oMath>
                  </m:oMathPara>
                </a14:m>
                <a:endParaRPr lang="en-US" sz="2000">
                  <a:solidFill>
                    <a:schemeClr val="accent2">
                      <a:lumMod val="40000"/>
                      <a:lumOff val="60000"/>
                    </a:schemeClr>
                  </a:solidFill>
                </a:endParaRPr>
              </a:p>
            </p:txBody>
          </p:sp>
        </mc:Choice>
        <mc:Fallback xmlns="">
          <p:sp>
            <p:nvSpPr>
              <p:cNvPr id="13" name="Text 11">
                <a:extLst>
                  <a:ext uri="{FF2B5EF4-FFF2-40B4-BE49-F238E27FC236}">
                    <a16:creationId xmlns:a16="http://schemas.microsoft.com/office/drawing/2014/main" id="{E02DFB1F-BF3D-B67D-29C9-DB50B28F145D}"/>
                  </a:ext>
                </a:extLst>
              </p:cNvPr>
              <p:cNvSpPr>
                <a:spLocks noRot="1" noChangeAspect="1" noMove="1" noResize="1" noEditPoints="1" noAdjustHandles="1" noChangeArrowheads="1" noChangeShapeType="1" noTextEdit="1"/>
              </p:cNvSpPr>
              <p:nvPr/>
            </p:nvSpPr>
            <p:spPr>
              <a:xfrm>
                <a:off x="4627880" y="2811194"/>
                <a:ext cx="1920240" cy="548640"/>
              </a:xfrm>
              <a:prstGeom prst="rect">
                <a:avLst/>
              </a:prstGeom>
              <a:blipFill>
                <a:blip r:embed="rId6"/>
                <a:stretch>
                  <a:fillRect/>
                </a:stretch>
              </a:blipFill>
              <a:ln/>
            </p:spPr>
            <p:txBody>
              <a:bodyPr/>
              <a:lstStyle/>
              <a:p>
                <a:r>
                  <a:rPr lang="en-US">
                    <a:noFill/>
                  </a:rPr>
                  <a:t> </a:t>
                </a:r>
              </a:p>
            </p:txBody>
          </p:sp>
        </mc:Fallback>
      </mc:AlternateContent>
      <p:sp>
        <p:nvSpPr>
          <p:cNvPr id="14" name="Text 12">
            <a:extLst>
              <a:ext uri="{FF2B5EF4-FFF2-40B4-BE49-F238E27FC236}">
                <a16:creationId xmlns:a16="http://schemas.microsoft.com/office/drawing/2014/main" id="{8BBF6BC3-18D1-D240-288A-41859F418212}"/>
              </a:ext>
            </a:extLst>
          </p:cNvPr>
          <p:cNvSpPr/>
          <p:nvPr/>
        </p:nvSpPr>
        <p:spPr>
          <a:xfrm>
            <a:off x="4719320" y="3566160"/>
            <a:ext cx="1737360" cy="594360"/>
          </a:xfrm>
          <a:prstGeom prst="rect">
            <a:avLst/>
          </a:prstGeom>
          <a:noFill/>
          <a:ln/>
        </p:spPr>
        <p:txBody>
          <a:bodyPr wrap="square" lIns="0" tIns="0" rIns="0" bIns="0" rtlCol="0" anchor="t"/>
          <a:lstStyle/>
          <a:p>
            <a:pPr marL="0" indent="0" algn="ctr">
              <a:buNone/>
            </a:pPr>
            <a:r>
              <a:rPr lang="en-US" sz="1200">
                <a:solidFill>
                  <a:srgbClr val="D8D6CE"/>
                </a:solidFill>
                <a:latin typeface="Calibri" pitchFamily="34" charset="0"/>
                <a:ea typeface="Calibri" pitchFamily="34" charset="-122"/>
                <a:cs typeface="Calibri" pitchFamily="34" charset="-120"/>
              </a:rPr>
              <a:t>Weight: simpler environments</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count more (Occam's razor)</a:t>
            </a:r>
            <a:endParaRPr lang="en-US" sz="1200"/>
          </a:p>
        </p:txBody>
      </p:sp>
      <p:sp>
        <p:nvSpPr>
          <p:cNvPr id="15" name="Shape 13">
            <a:extLst>
              <a:ext uri="{FF2B5EF4-FFF2-40B4-BE49-F238E27FC236}">
                <a16:creationId xmlns:a16="http://schemas.microsoft.com/office/drawing/2014/main" id="{8985B002-9905-2C19-081C-08B767BA7E4B}"/>
              </a:ext>
            </a:extLst>
          </p:cNvPr>
          <p:cNvSpPr/>
          <p:nvPr/>
        </p:nvSpPr>
        <p:spPr>
          <a:xfrm>
            <a:off x="6769100" y="2651760"/>
            <a:ext cx="1828800" cy="1645920"/>
          </a:xfrm>
          <a:prstGeom prst="rect">
            <a:avLst/>
          </a:prstGeom>
          <a:solidFill>
            <a:srgbClr val="222731"/>
          </a:solidFill>
          <a:ln/>
          <a:effectLst/>
        </p:spPr>
        <p:txBody>
          <a:bodyPr/>
          <a:lstStyle/>
          <a:p>
            <a:endParaRPr lang="en-US"/>
          </a:p>
        </p:txBody>
      </p:sp>
      <mc:AlternateContent xmlns:mc="http://schemas.openxmlformats.org/markup-compatibility/2006" xmlns:a14="http://schemas.microsoft.com/office/drawing/2010/main">
        <mc:Choice Requires="a14">
          <p:sp>
            <p:nvSpPr>
              <p:cNvPr id="16" name="Text 14">
                <a:extLst>
                  <a:ext uri="{FF2B5EF4-FFF2-40B4-BE49-F238E27FC236}">
                    <a16:creationId xmlns:a16="http://schemas.microsoft.com/office/drawing/2014/main" id="{438F88E9-B685-40DC-1346-E155F33ABBED}"/>
                  </a:ext>
                </a:extLst>
              </p:cNvPr>
              <p:cNvSpPr/>
              <p:nvPr/>
            </p:nvSpPr>
            <p:spPr>
              <a:xfrm>
                <a:off x="6723380" y="2811194"/>
                <a:ext cx="1920240" cy="54864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n-US" sz="2000" i="1" smtClean="0">
                              <a:solidFill>
                                <a:srgbClr val="9FCEB8"/>
                              </a:solidFill>
                              <a:latin typeface="Cambria Math" panose="02040503050406030204" pitchFamily="18" charset="0"/>
                              <a:ea typeface="Cambria Math" panose="02040503050406030204" pitchFamily="18" charset="0"/>
                              <a:cs typeface="Consolas" pitchFamily="34" charset="-120"/>
                            </a:rPr>
                          </m:ctrlPr>
                        </m:sSubSupPr>
                        <m:e>
                          <m:r>
                            <a:rPr lang="en-US" sz="2000" i="1">
                              <a:solidFill>
                                <a:srgbClr val="9FCEB8"/>
                              </a:solidFill>
                              <a:latin typeface="Cambria Math" panose="02040503050406030204" pitchFamily="18" charset="0"/>
                              <a:ea typeface="Cambria Math" panose="02040503050406030204" pitchFamily="18" charset="0"/>
                              <a:cs typeface="Consolas" pitchFamily="34" charset="-120"/>
                            </a:rPr>
                            <m:t>𝑉</m:t>
                          </m:r>
                        </m:e>
                        <m:sub>
                          <m:r>
                            <a:rPr lang="en-US" sz="2000" i="1">
                              <a:solidFill>
                                <a:srgbClr val="9FCEB8"/>
                              </a:solidFill>
                              <a:latin typeface="Cambria Math" panose="02040503050406030204" pitchFamily="18" charset="0"/>
                              <a:ea typeface="Cambria Math" panose="02040503050406030204" pitchFamily="18" charset="0"/>
                              <a:cs typeface="Consolas" pitchFamily="34" charset="-120"/>
                            </a:rPr>
                            <m:t>𝜇</m:t>
                          </m:r>
                        </m:sub>
                        <m:sup>
                          <m:r>
                            <a:rPr lang="en-US" sz="2000" i="1">
                              <a:solidFill>
                                <a:srgbClr val="9FCEB8"/>
                              </a:solidFill>
                              <a:latin typeface="Cambria Math" panose="02040503050406030204" pitchFamily="18" charset="0"/>
                              <a:ea typeface="Cambria Math" panose="02040503050406030204" pitchFamily="18" charset="0"/>
                              <a:cs typeface="Consolas" pitchFamily="34" charset="-120"/>
                            </a:rPr>
                            <m:t>𝜋</m:t>
                          </m:r>
                        </m:sup>
                      </m:sSubSup>
                    </m:oMath>
                  </m:oMathPara>
                </a14:m>
                <a:endParaRPr lang="en-US" sz="2000">
                  <a:solidFill>
                    <a:srgbClr val="9FCEB8"/>
                  </a:solidFill>
                </a:endParaRPr>
              </a:p>
            </p:txBody>
          </p:sp>
        </mc:Choice>
        <mc:Fallback xmlns="">
          <p:sp>
            <p:nvSpPr>
              <p:cNvPr id="16" name="Text 14">
                <a:extLst>
                  <a:ext uri="{FF2B5EF4-FFF2-40B4-BE49-F238E27FC236}">
                    <a16:creationId xmlns:a16="http://schemas.microsoft.com/office/drawing/2014/main" id="{438F88E9-B685-40DC-1346-E155F33ABBED}"/>
                  </a:ext>
                </a:extLst>
              </p:cNvPr>
              <p:cNvSpPr>
                <a:spLocks noRot="1" noChangeAspect="1" noMove="1" noResize="1" noEditPoints="1" noAdjustHandles="1" noChangeArrowheads="1" noChangeShapeType="1" noTextEdit="1"/>
              </p:cNvSpPr>
              <p:nvPr/>
            </p:nvSpPr>
            <p:spPr>
              <a:xfrm>
                <a:off x="6723380" y="2811194"/>
                <a:ext cx="1920240" cy="548640"/>
              </a:xfrm>
              <a:prstGeom prst="rect">
                <a:avLst/>
              </a:prstGeom>
              <a:blipFill>
                <a:blip r:embed="rId7"/>
                <a:stretch>
                  <a:fillRect/>
                </a:stretch>
              </a:blipFill>
              <a:ln/>
            </p:spPr>
            <p:txBody>
              <a:bodyPr/>
              <a:lstStyle/>
              <a:p>
                <a:r>
                  <a:rPr lang="en-US">
                    <a:noFill/>
                  </a:rPr>
                  <a:t> </a:t>
                </a:r>
              </a:p>
            </p:txBody>
          </p:sp>
        </mc:Fallback>
      </mc:AlternateContent>
      <p:sp>
        <p:nvSpPr>
          <p:cNvPr id="17" name="Text 15">
            <a:extLst>
              <a:ext uri="{FF2B5EF4-FFF2-40B4-BE49-F238E27FC236}">
                <a16:creationId xmlns:a16="http://schemas.microsoft.com/office/drawing/2014/main" id="{08918DC3-50A7-B277-1EF1-ED685952716A}"/>
              </a:ext>
            </a:extLst>
          </p:cNvPr>
          <p:cNvSpPr/>
          <p:nvPr/>
        </p:nvSpPr>
        <p:spPr>
          <a:xfrm>
            <a:off x="6814820" y="3566160"/>
            <a:ext cx="1737360" cy="594360"/>
          </a:xfrm>
          <a:prstGeom prst="rect">
            <a:avLst/>
          </a:prstGeom>
          <a:noFill/>
          <a:ln/>
        </p:spPr>
        <p:txBody>
          <a:bodyPr wrap="square" lIns="0" tIns="0" rIns="0" bIns="0" rtlCol="0" anchor="t"/>
          <a:lstStyle/>
          <a:p>
            <a:pPr marL="0" indent="0" algn="ctr">
              <a:buNone/>
            </a:pPr>
            <a:r>
              <a:rPr lang="en-US" sz="1200">
                <a:solidFill>
                  <a:srgbClr val="D8D6CE"/>
                </a:solidFill>
                <a:latin typeface="Calibri" pitchFamily="34" charset="0"/>
                <a:ea typeface="Calibri" pitchFamily="34" charset="-122"/>
                <a:cs typeface="Calibri" pitchFamily="34" charset="-120"/>
              </a:rPr>
              <a:t>Reward agent π earns</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in environment μ</a:t>
            </a:r>
            <a:endParaRPr lang="en-US" sz="1200"/>
          </a:p>
        </p:txBody>
      </p:sp>
      <p:sp>
        <p:nvSpPr>
          <p:cNvPr id="18" name="Text 16">
            <a:extLst>
              <a:ext uri="{FF2B5EF4-FFF2-40B4-BE49-F238E27FC236}">
                <a16:creationId xmlns:a16="http://schemas.microsoft.com/office/drawing/2014/main" id="{F856A653-1139-439B-CD67-211D05C7B722}"/>
              </a:ext>
            </a:extLst>
          </p:cNvPr>
          <p:cNvSpPr/>
          <p:nvPr/>
        </p:nvSpPr>
        <p:spPr>
          <a:xfrm>
            <a:off x="548640" y="4480560"/>
            <a:ext cx="8229600" cy="457200"/>
          </a:xfrm>
          <a:prstGeom prst="rect">
            <a:avLst/>
          </a:prstGeom>
          <a:noFill/>
          <a:ln/>
        </p:spPr>
        <p:txBody>
          <a:bodyPr wrap="square" lIns="0" tIns="0" rIns="0" bIns="0" rtlCol="0" anchor="ctr"/>
          <a:lstStyle/>
          <a:p>
            <a:pPr marL="0" indent="0" algn="ctr">
              <a:buNone/>
            </a:pPr>
            <a:r>
              <a:rPr lang="en-US" sz="1400" i="1">
                <a:solidFill>
                  <a:srgbClr val="A8CFC0"/>
                </a:solidFill>
                <a:latin typeface="Georgia" pitchFamily="34" charset="0"/>
                <a:ea typeface="Georgia" pitchFamily="34" charset="-122"/>
                <a:cs typeface="Georgia" pitchFamily="34" charset="-120"/>
              </a:rPr>
              <a:t>"Intelligence is an agent's ability to achieve goals across a wide range of environments."</a:t>
            </a:r>
            <a:endParaRPr lang="en-US" sz="1400"/>
          </a:p>
        </p:txBody>
      </p:sp>
      <p:sp>
        <p:nvSpPr>
          <p:cNvPr id="5" name="Text 0">
            <a:extLst>
              <a:ext uri="{FF2B5EF4-FFF2-40B4-BE49-F238E27FC236}">
                <a16:creationId xmlns:a16="http://schemas.microsoft.com/office/drawing/2014/main" id="{E5E77B7E-B78A-544A-783B-3F9A0B8A0B36}"/>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Tree>
    <p:extLst>
      <p:ext uri="{BB962C8B-B14F-4D97-AF65-F5344CB8AC3E}">
        <p14:creationId xmlns:p14="http://schemas.microsoft.com/office/powerpoint/2010/main" val="15224660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14">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1452097"/>
            <a:ext cx="60960" cy="777240"/>
          </a:xfrm>
          <a:prstGeom prst="rect">
            <a:avLst/>
          </a:prstGeom>
          <a:solidFill>
            <a:srgbClr val="7FB69E"/>
          </a:solidFill>
          <a:ln/>
        </p:spPr>
        <p:txBody>
          <a:bodyPr/>
          <a:lstStyle/>
          <a:p>
            <a:endParaRPr lang="en-US"/>
          </a:p>
        </p:txBody>
      </p:sp>
      <p:sp>
        <p:nvSpPr>
          <p:cNvPr id="4" name="Text 2"/>
          <p:cNvSpPr/>
          <p:nvPr/>
        </p:nvSpPr>
        <p:spPr>
          <a:xfrm>
            <a:off x="822960" y="1398562"/>
            <a:ext cx="2743200" cy="411480"/>
          </a:xfrm>
          <a:prstGeom prst="rect">
            <a:avLst/>
          </a:prstGeom>
          <a:noFill/>
          <a:ln/>
        </p:spPr>
        <p:txBody>
          <a:bodyPr wrap="square" lIns="0" tIns="0" rIns="0" bIns="0" rtlCol="0" anchor="ctr"/>
          <a:lstStyle/>
          <a:p>
            <a:pPr marL="0" indent="0">
              <a:buNone/>
            </a:pPr>
            <a:r>
              <a:rPr lang="en-US" sz="2000" b="1">
                <a:solidFill>
                  <a:srgbClr val="7FB69E"/>
                </a:solidFill>
                <a:latin typeface="Georgia" pitchFamily="34" charset="0"/>
                <a:ea typeface="Georgia" pitchFamily="34" charset="-122"/>
                <a:cs typeface="Georgia" pitchFamily="34" charset="-120"/>
              </a:rPr>
              <a:t>Universal</a:t>
            </a:r>
            <a:endParaRPr lang="en-US" sz="2000"/>
          </a:p>
        </p:txBody>
      </p:sp>
      <p:sp>
        <p:nvSpPr>
          <p:cNvPr id="5" name="Text 3"/>
          <p:cNvSpPr/>
          <p:nvPr/>
        </p:nvSpPr>
        <p:spPr>
          <a:xfrm>
            <a:off x="822960" y="1724464"/>
            <a:ext cx="7772400" cy="59436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Tests the agent on every possible environment — not just chess, not just language, not just math.</a:t>
            </a:r>
          </a:p>
          <a:p>
            <a:pPr marL="0" indent="0">
              <a:buNone/>
            </a:pPr>
            <a:r>
              <a:rPr lang="en-US" sz="1300">
                <a:solidFill>
                  <a:srgbClr val="D8D6CE"/>
                </a:solidFill>
                <a:latin typeface="Calibri" pitchFamily="34" charset="0"/>
                <a:ea typeface="Calibri" pitchFamily="34" charset="-122"/>
                <a:cs typeface="Calibri" pitchFamily="34" charset="-120"/>
              </a:rPr>
              <a:t>It’s a generalist score.</a:t>
            </a:r>
            <a:endParaRPr lang="en-US" sz="1300"/>
          </a:p>
        </p:txBody>
      </p:sp>
      <p:sp>
        <p:nvSpPr>
          <p:cNvPr id="6" name="Shape 4"/>
          <p:cNvSpPr/>
          <p:nvPr/>
        </p:nvSpPr>
        <p:spPr>
          <a:xfrm>
            <a:off x="548640" y="2419737"/>
            <a:ext cx="60960" cy="777240"/>
          </a:xfrm>
          <a:prstGeom prst="rect">
            <a:avLst/>
          </a:prstGeom>
          <a:solidFill>
            <a:srgbClr val="E0A458"/>
          </a:solidFill>
          <a:ln/>
        </p:spPr>
        <p:txBody>
          <a:bodyPr/>
          <a:lstStyle/>
          <a:p>
            <a:endParaRPr lang="en-US"/>
          </a:p>
        </p:txBody>
      </p:sp>
      <p:sp>
        <p:nvSpPr>
          <p:cNvPr id="7" name="Text 5"/>
          <p:cNvSpPr/>
          <p:nvPr/>
        </p:nvSpPr>
        <p:spPr>
          <a:xfrm>
            <a:off x="822960" y="2366202"/>
            <a:ext cx="2743200" cy="411480"/>
          </a:xfrm>
          <a:prstGeom prst="rect">
            <a:avLst/>
          </a:prstGeom>
          <a:noFill/>
          <a:ln/>
        </p:spPr>
        <p:txBody>
          <a:bodyPr wrap="square" lIns="0" tIns="0" rIns="0" bIns="0" rtlCol="0" anchor="ctr"/>
          <a:lstStyle/>
          <a:p>
            <a:pPr marL="0" indent="0">
              <a:buNone/>
            </a:pPr>
            <a:r>
              <a:rPr lang="en-US" sz="2000" b="1">
                <a:solidFill>
                  <a:srgbClr val="E0A458"/>
                </a:solidFill>
                <a:latin typeface="Georgia" pitchFamily="34" charset="0"/>
                <a:ea typeface="Georgia" pitchFamily="34" charset="-122"/>
                <a:cs typeface="Georgia" pitchFamily="34" charset="-120"/>
              </a:rPr>
              <a:t>Principled weighting</a:t>
            </a:r>
            <a:endParaRPr lang="en-US" sz="2000"/>
          </a:p>
        </p:txBody>
      </p:sp>
      <p:sp>
        <p:nvSpPr>
          <p:cNvPr id="8" name="Text 6"/>
          <p:cNvSpPr/>
          <p:nvPr/>
        </p:nvSpPr>
        <p:spPr>
          <a:xfrm>
            <a:off x="822960" y="2626455"/>
            <a:ext cx="7772400" cy="594360"/>
          </a:xfrm>
          <a:prstGeom prst="rect">
            <a:avLst/>
          </a:prstGeom>
          <a:noFill/>
          <a:ln/>
        </p:spPr>
        <p:txBody>
          <a:bodyPr wrap="square" lIns="0" tIns="0" rIns="0" bIns="0" rtlCol="0" anchor="ctr"/>
          <a:lstStyle/>
          <a:p>
            <a:pPr marL="0" indent="0">
              <a:buNone/>
            </a:pPr>
            <a:r>
              <a:rPr lang="en-US" sz="1300" b="1">
                <a:solidFill>
                  <a:srgbClr val="D8D6CE"/>
                </a:solidFill>
                <a:latin typeface="Calibri" pitchFamily="34" charset="0"/>
                <a:ea typeface="Calibri" pitchFamily="34" charset="-122"/>
                <a:cs typeface="Calibri" pitchFamily="34" charset="-120"/>
              </a:rPr>
              <a:t>Simple environments matter more.</a:t>
            </a:r>
            <a:r>
              <a:rPr lang="en-US" sz="1300">
                <a:solidFill>
                  <a:srgbClr val="D8D6CE"/>
                </a:solidFill>
                <a:latin typeface="Calibri" pitchFamily="34" charset="0"/>
                <a:ea typeface="Calibri" pitchFamily="34" charset="-122"/>
                <a:cs typeface="Calibri" pitchFamily="34" charset="-120"/>
              </a:rPr>
              <a:t> </a:t>
            </a:r>
            <a:endParaRPr lang="en-US" sz="1300"/>
          </a:p>
        </p:txBody>
      </p:sp>
      <p:sp>
        <p:nvSpPr>
          <p:cNvPr id="9" name="Shape 7"/>
          <p:cNvSpPr/>
          <p:nvPr/>
        </p:nvSpPr>
        <p:spPr>
          <a:xfrm>
            <a:off x="548640" y="3318607"/>
            <a:ext cx="60960" cy="777240"/>
          </a:xfrm>
          <a:prstGeom prst="rect">
            <a:avLst/>
          </a:prstGeom>
          <a:solidFill>
            <a:srgbClr val="C75D5D"/>
          </a:solidFill>
          <a:ln/>
        </p:spPr>
        <p:txBody>
          <a:bodyPr/>
          <a:lstStyle/>
          <a:p>
            <a:endParaRPr lang="en-US"/>
          </a:p>
        </p:txBody>
      </p:sp>
      <p:sp>
        <p:nvSpPr>
          <p:cNvPr id="10" name="Text 8"/>
          <p:cNvSpPr/>
          <p:nvPr/>
        </p:nvSpPr>
        <p:spPr>
          <a:xfrm>
            <a:off x="822960" y="3265072"/>
            <a:ext cx="2743200" cy="411480"/>
          </a:xfrm>
          <a:prstGeom prst="rect">
            <a:avLst/>
          </a:prstGeom>
          <a:noFill/>
          <a:ln/>
        </p:spPr>
        <p:txBody>
          <a:bodyPr wrap="square" lIns="0" tIns="0" rIns="0" bIns="0" rtlCol="0" anchor="ctr"/>
          <a:lstStyle/>
          <a:p>
            <a:pPr marL="0" indent="0">
              <a:buNone/>
            </a:pPr>
            <a:r>
              <a:rPr lang="en-US" sz="2000" b="1">
                <a:solidFill>
                  <a:srgbClr val="C75D5D"/>
                </a:solidFill>
                <a:latin typeface="Georgia" pitchFamily="34" charset="0"/>
                <a:ea typeface="Georgia" pitchFamily="34" charset="-122"/>
                <a:cs typeface="Georgia" pitchFamily="34" charset="-120"/>
              </a:rPr>
              <a:t>Incomputable</a:t>
            </a:r>
            <a:endParaRPr lang="en-US" sz="2000"/>
          </a:p>
        </p:txBody>
      </p:sp>
      <p:sp>
        <p:nvSpPr>
          <p:cNvPr id="11" name="Text 9"/>
          <p:cNvSpPr/>
          <p:nvPr/>
        </p:nvSpPr>
        <p:spPr>
          <a:xfrm>
            <a:off x="822960" y="3555023"/>
            <a:ext cx="7772400" cy="59436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K(μ) cannot be computed by any algorithm. This is a feature, not a bug: it tells us intelligence cannot be reduced to a single test. Any finite benchmark is an approximation.</a:t>
            </a:r>
            <a:endParaRPr lang="en-US" sz="1300"/>
          </a:p>
        </p:txBody>
      </p:sp>
      <p:sp>
        <p:nvSpPr>
          <p:cNvPr id="12" name="Shape 10"/>
          <p:cNvSpPr/>
          <p:nvPr/>
        </p:nvSpPr>
        <p:spPr>
          <a:xfrm>
            <a:off x="548640" y="4389120"/>
            <a:ext cx="8046720" cy="502920"/>
          </a:xfrm>
          <a:prstGeom prst="rect">
            <a:avLst/>
          </a:prstGeom>
          <a:solidFill>
            <a:srgbClr val="222731"/>
          </a:solidFill>
          <a:ln/>
        </p:spPr>
        <p:txBody>
          <a:bodyPr/>
          <a:lstStyle/>
          <a:p>
            <a:endParaRPr lang="en-US"/>
          </a:p>
        </p:txBody>
      </p:sp>
      <p:sp>
        <p:nvSpPr>
          <p:cNvPr id="13" name="Text 11"/>
          <p:cNvSpPr/>
          <p:nvPr/>
        </p:nvSpPr>
        <p:spPr>
          <a:xfrm>
            <a:off x="731520" y="4434840"/>
            <a:ext cx="7680960" cy="411480"/>
          </a:xfrm>
          <a:prstGeom prst="rect">
            <a:avLst/>
          </a:prstGeom>
          <a:noFill/>
          <a:ln/>
        </p:spPr>
        <p:txBody>
          <a:bodyPr wrap="square" lIns="0" tIns="0" rIns="0" bIns="0" rtlCol="0" anchor="ctr"/>
          <a:lstStyle/>
          <a:p>
            <a:pPr marL="0" indent="0">
              <a:buNone/>
            </a:pPr>
            <a:r>
              <a:rPr lang="en-US" sz="1300" i="1">
                <a:solidFill>
                  <a:srgbClr val="9AA0A8"/>
                </a:solidFill>
                <a:latin typeface="Calibri" pitchFamily="34" charset="0"/>
                <a:ea typeface="Calibri" pitchFamily="34" charset="-122"/>
                <a:cs typeface="Calibri" pitchFamily="34" charset="-120"/>
              </a:rPr>
              <a:t>Practical approximations exist: MC-AIXI-CTW, AIQ — and arguably, well-trained LLMs.</a:t>
            </a:r>
            <a:endParaRPr lang="en-US" sz="1300"/>
          </a:p>
        </p:txBody>
      </p:sp>
      <p:sp>
        <p:nvSpPr>
          <p:cNvPr id="14" name="Text 0">
            <a:extLst>
              <a:ext uri="{FF2B5EF4-FFF2-40B4-BE49-F238E27FC236}">
                <a16:creationId xmlns:a16="http://schemas.microsoft.com/office/drawing/2014/main" id="{0EC421DF-2723-793C-0AA7-7A18E6DDF7E4}"/>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
        <p:nvSpPr>
          <p:cNvPr id="15" name="Text 1">
            <a:extLst>
              <a:ext uri="{FF2B5EF4-FFF2-40B4-BE49-F238E27FC236}">
                <a16:creationId xmlns:a16="http://schemas.microsoft.com/office/drawing/2014/main" id="{D236CDF2-3E86-29DE-D94A-84844BEEC6DC}"/>
              </a:ext>
            </a:extLst>
          </p:cNvPr>
          <p:cNvSpPr/>
          <p:nvPr/>
        </p:nvSpPr>
        <p:spPr>
          <a:xfrm>
            <a:off x="548640" y="640080"/>
            <a:ext cx="8229600" cy="640080"/>
          </a:xfrm>
          <a:prstGeom prst="rect">
            <a:avLst/>
          </a:prstGeom>
          <a:noFill/>
          <a:ln/>
        </p:spPr>
        <p:txBody>
          <a:bodyPr wrap="square" lIns="0" tIns="0" rIns="0" bIns="0" rtlCol="0" anchor="ctr"/>
          <a:lstStyle/>
          <a:p>
            <a:r>
              <a:rPr lang="en-US" sz="3600" b="1">
                <a:solidFill>
                  <a:srgbClr val="F1F0EA"/>
                </a:solidFill>
                <a:latin typeface="Georgia" pitchFamily="34" charset="0"/>
                <a:ea typeface="Georgia" pitchFamily="34" charset="-122"/>
                <a:cs typeface="Georgia" pitchFamily="34" charset="-120"/>
              </a:rPr>
              <a:t>Why this equation matters</a:t>
            </a:r>
            <a:endParaRPr lang="en-US" sz="3600"/>
          </a:p>
        </p:txBody>
      </p:sp>
    </p:spTree>
    <p:extLst>
      <p:ext uri="{BB962C8B-B14F-4D97-AF65-F5344CB8AC3E}">
        <p14:creationId xmlns:p14="http://schemas.microsoft.com/office/powerpoint/2010/main" val="11766286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15">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48640" y="1371600"/>
            <a:ext cx="8046720" cy="1554480"/>
          </a:xfrm>
          <a:prstGeom prst="rect">
            <a:avLst/>
          </a:prstGeom>
          <a:solidFill>
            <a:srgbClr val="222731"/>
          </a:solidFill>
          <a:ln/>
          <a:effectLst/>
        </p:spPr>
        <p:txBody>
          <a:bodyPr/>
          <a:lstStyle/>
          <a:p>
            <a:endParaRPr lang="en-US"/>
          </a:p>
        </p:txBody>
      </p:sp>
      <mc:AlternateContent xmlns:mc="http://schemas.openxmlformats.org/markup-compatibility/2006" xmlns:a14="http://schemas.microsoft.com/office/drawing/2010/main">
        <mc:Choice Requires="a14">
          <p:sp>
            <p:nvSpPr>
              <p:cNvPr id="4" name="Text 2"/>
              <p:cNvSpPr/>
              <p:nvPr/>
            </p:nvSpPr>
            <p:spPr>
              <a:xfrm>
                <a:off x="731520" y="1463040"/>
                <a:ext cx="7680960" cy="457200"/>
              </a:xfrm>
              <a:prstGeom prst="rect">
                <a:avLst/>
              </a:prstGeom>
              <a:noFill/>
              <a:ln/>
            </p:spPr>
            <p:txBody>
              <a:bodyPr wrap="square" lIns="0" tIns="0" rIns="0" bIns="0" rtlCol="0" anchor="ctr"/>
              <a:lstStyle/>
              <a:p>
                <a14:m>
                  <m:oMath xmlns:m="http://schemas.openxmlformats.org/officeDocument/2006/math">
                    <m:r>
                      <m:rPr>
                        <m:sty m:val="p"/>
                      </m:rPr>
                      <a:rPr lang="el-GR" sz="2000" i="1">
                        <a:solidFill>
                          <a:srgbClr val="E0A458"/>
                        </a:solidFill>
                        <a:latin typeface="Cambria Math" panose="02040503050406030204" pitchFamily="18" charset="0"/>
                        <a:ea typeface="Cambria Math" panose="02040503050406030204" pitchFamily="18" charset="0"/>
                        <a:cs typeface="Consolas" pitchFamily="34" charset="-120"/>
                      </a:rPr>
                      <m:t>Υ</m:t>
                    </m:r>
                  </m:oMath>
                </a14:m>
                <a:r>
                  <a:rPr lang="en-US" sz="2000" b="1">
                    <a:solidFill>
                      <a:srgbClr val="E0A458"/>
                    </a:solidFill>
                    <a:latin typeface="Georgia" pitchFamily="34" charset="0"/>
                    <a:ea typeface="Georgia" pitchFamily="34" charset="-122"/>
                    <a:cs typeface="Georgia" pitchFamily="34" charset="-120"/>
                  </a:rPr>
                  <a:t> treats the agent </a:t>
                </a:r>
                <a14:m>
                  <m:oMath xmlns:m="http://schemas.openxmlformats.org/officeDocument/2006/math">
                    <m:r>
                      <a:rPr lang="en-US" sz="2000" i="1">
                        <a:solidFill>
                          <a:srgbClr val="E0A458"/>
                        </a:solidFill>
                        <a:latin typeface="Cambria Math" panose="02040503050406030204" pitchFamily="18" charset="0"/>
                        <a:ea typeface="Cambria Math" panose="02040503050406030204" pitchFamily="18" charset="0"/>
                        <a:cs typeface="Consolas" pitchFamily="34" charset="-120"/>
                      </a:rPr>
                      <m:t>𝜋</m:t>
                    </m:r>
                  </m:oMath>
                </a14:m>
                <a:r>
                  <a:rPr lang="en-US" sz="2000" b="1">
                    <a:solidFill>
                      <a:srgbClr val="E0A458"/>
                    </a:solidFill>
                    <a:latin typeface="Georgia" pitchFamily="34" charset="0"/>
                    <a:ea typeface="Georgia" pitchFamily="34" charset="-122"/>
                    <a:cs typeface="Georgia" pitchFamily="34" charset="-120"/>
                  </a:rPr>
                  <a:t> as a black box</a:t>
                </a:r>
                <a:endParaRPr lang="en-US" sz="2000"/>
              </a:p>
            </p:txBody>
          </p:sp>
        </mc:Choice>
        <mc:Fallback xmlns="">
          <p:sp>
            <p:nvSpPr>
              <p:cNvPr id="4" name="Text 2"/>
              <p:cNvSpPr>
                <a:spLocks noRot="1" noChangeAspect="1" noMove="1" noResize="1" noEditPoints="1" noAdjustHandles="1" noChangeArrowheads="1" noChangeShapeType="1" noTextEdit="1"/>
              </p:cNvSpPr>
              <p:nvPr/>
            </p:nvSpPr>
            <p:spPr>
              <a:xfrm>
                <a:off x="731520" y="1463040"/>
                <a:ext cx="7680960" cy="457200"/>
              </a:xfrm>
              <a:prstGeom prst="rect">
                <a:avLst/>
              </a:prstGeom>
              <a:blipFill>
                <a:blip r:embed="rId3"/>
                <a:stretch>
                  <a:fillRect l="-1155" b="-16216"/>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3"/>
              <p:cNvSpPr/>
              <p:nvPr/>
            </p:nvSpPr>
            <p:spPr>
              <a:xfrm>
                <a:off x="731520" y="1881051"/>
                <a:ext cx="7680960" cy="1005840"/>
              </a:xfrm>
              <a:prstGeom prst="rect">
                <a:avLst/>
              </a:prstGeom>
              <a:noFill/>
              <a:ln/>
            </p:spPr>
            <p:txBody>
              <a:bodyPr wrap="square" lIns="0" tIns="0" rIns="0" bIns="0" rtlCol="0" anchor="ctr"/>
              <a:lstStyle/>
              <a:p>
                <a:pPr marL="0" indent="0">
                  <a:buNone/>
                </a:pPr>
                <a:r>
                  <a:rPr lang="en-US" sz="1400">
                    <a:solidFill>
                      <a:srgbClr val="D8D6CE"/>
                    </a:solidFill>
                    <a:latin typeface="Calibri" pitchFamily="34" charset="0"/>
                    <a:ea typeface="Calibri" pitchFamily="34" charset="-122"/>
                    <a:cs typeface="Calibri" pitchFamily="34" charset="-120"/>
                  </a:rPr>
                  <a:t>It measures what the agent does, not what the agent is.</a:t>
                </a:r>
                <a:endParaRPr lang="en-US" sz="1400"/>
              </a:p>
              <a:p>
                <a:pPr marL="0" indent="0">
                  <a:buNone/>
                </a:pPr>
                <a:endParaRPr lang="en-US" sz="1400"/>
              </a:p>
              <a:p>
                <a:r>
                  <a:rPr lang="en-US" sz="1400">
                    <a:solidFill>
                      <a:srgbClr val="D8D6CE"/>
                    </a:solidFill>
                    <a:latin typeface="Calibri" pitchFamily="34" charset="0"/>
                    <a:ea typeface="Calibri" pitchFamily="34" charset="-122"/>
                    <a:cs typeface="Calibri" pitchFamily="34" charset="-120"/>
                  </a:rPr>
                  <a:t>Two systems — a 700 GB lookup table and a 2 GB neural network — could achieve identical </a:t>
                </a:r>
                <a14:m>
                  <m:oMath xmlns:m="http://schemas.openxmlformats.org/officeDocument/2006/math">
                    <m:r>
                      <m:rPr>
                        <m:sty m:val="p"/>
                      </m:rPr>
                      <a:rPr lang="el-GR" sz="1400" i="1">
                        <a:solidFill>
                          <a:srgbClr val="E0A458"/>
                        </a:solidFill>
                        <a:latin typeface="Cambria Math" panose="02040503050406030204" pitchFamily="18" charset="0"/>
                        <a:ea typeface="Cambria Math" panose="02040503050406030204" pitchFamily="18" charset="0"/>
                        <a:cs typeface="Consolas" pitchFamily="34" charset="-120"/>
                      </a:rPr>
                      <m:t>Υ</m:t>
                    </m:r>
                  </m:oMath>
                </a14:m>
                <a:r>
                  <a:rPr lang="en-US" sz="1400">
                    <a:solidFill>
                      <a:srgbClr val="D8D6CE"/>
                    </a:solidFill>
                    <a:latin typeface="Calibri" pitchFamily="34" charset="0"/>
                    <a:ea typeface="Calibri" pitchFamily="34" charset="-122"/>
                    <a:cs typeface="Calibri" pitchFamily="34" charset="-120"/>
                  </a:rPr>
                  <a:t> scores. The equation cannot distinguish them.</a:t>
                </a:r>
                <a:endParaRPr lang="en-US" sz="1400"/>
              </a:p>
            </p:txBody>
          </p:sp>
        </mc:Choice>
        <mc:Fallback xmlns="">
          <p:sp>
            <p:nvSpPr>
              <p:cNvPr id="5" name="Text 3"/>
              <p:cNvSpPr>
                <a:spLocks noRot="1" noChangeAspect="1" noMove="1" noResize="1" noEditPoints="1" noAdjustHandles="1" noChangeArrowheads="1" noChangeShapeType="1" noTextEdit="1"/>
              </p:cNvSpPr>
              <p:nvPr/>
            </p:nvSpPr>
            <p:spPr>
              <a:xfrm>
                <a:off x="731520" y="1881051"/>
                <a:ext cx="7680960" cy="1005840"/>
              </a:xfrm>
              <a:prstGeom prst="rect">
                <a:avLst/>
              </a:prstGeom>
              <a:blipFill>
                <a:blip r:embed="rId4"/>
                <a:stretch>
                  <a:fillRect l="-1485" r="-660" b="-3750"/>
                </a:stretch>
              </a:blipFill>
              <a:ln/>
            </p:spPr>
            <p:txBody>
              <a:bodyPr/>
              <a:lstStyle/>
              <a:p>
                <a:r>
                  <a:rPr lang="en-US">
                    <a:noFill/>
                  </a:rPr>
                  <a:t> </a:t>
                </a:r>
              </a:p>
            </p:txBody>
          </p:sp>
        </mc:Fallback>
      </mc:AlternateContent>
      <p:sp>
        <p:nvSpPr>
          <p:cNvPr id="6" name="Shape 4"/>
          <p:cNvSpPr/>
          <p:nvPr/>
        </p:nvSpPr>
        <p:spPr>
          <a:xfrm>
            <a:off x="548640" y="3200400"/>
            <a:ext cx="3840480" cy="1463040"/>
          </a:xfrm>
          <a:prstGeom prst="rect">
            <a:avLst/>
          </a:prstGeom>
          <a:solidFill>
            <a:srgbClr val="222731"/>
          </a:solidFill>
          <a:ln/>
          <a:effectLst/>
        </p:spPr>
        <p:txBody>
          <a:bodyPr/>
          <a:lstStyle/>
          <a:p>
            <a:endParaRPr lang="en-US"/>
          </a:p>
        </p:txBody>
      </p:sp>
      <p:sp>
        <p:nvSpPr>
          <p:cNvPr id="7" name="Text 5"/>
          <p:cNvSpPr/>
          <p:nvPr/>
        </p:nvSpPr>
        <p:spPr>
          <a:xfrm>
            <a:off x="548640" y="3291840"/>
            <a:ext cx="3840480" cy="365760"/>
          </a:xfrm>
          <a:prstGeom prst="rect">
            <a:avLst/>
          </a:prstGeom>
          <a:noFill/>
          <a:ln/>
        </p:spPr>
        <p:txBody>
          <a:bodyPr wrap="square" lIns="0" tIns="0" rIns="0" bIns="0" rtlCol="0" anchor="ctr"/>
          <a:lstStyle/>
          <a:p>
            <a:pPr marL="0" indent="0" algn="ctr">
              <a:buNone/>
            </a:pPr>
            <a:r>
              <a:rPr lang="en-US" sz="1600" b="1">
                <a:solidFill>
                  <a:srgbClr val="C75D5D"/>
                </a:solidFill>
                <a:latin typeface="Georgia" pitchFamily="34" charset="0"/>
                <a:ea typeface="Georgia" pitchFamily="34" charset="-122"/>
                <a:cs typeface="Georgia" pitchFamily="34" charset="-120"/>
              </a:rPr>
              <a:t>Lookup table</a:t>
            </a:r>
            <a:endParaRPr lang="en-US" sz="1600"/>
          </a:p>
        </p:txBody>
      </p:sp>
      <p:sp>
        <p:nvSpPr>
          <p:cNvPr id="8" name="Text 6"/>
          <p:cNvSpPr/>
          <p:nvPr/>
        </p:nvSpPr>
        <p:spPr>
          <a:xfrm>
            <a:off x="731520" y="3657600"/>
            <a:ext cx="3474720" cy="822960"/>
          </a:xfrm>
          <a:prstGeom prst="rect">
            <a:avLst/>
          </a:prstGeom>
          <a:noFill/>
          <a:ln/>
        </p:spPr>
        <p:txBody>
          <a:bodyPr wrap="square" lIns="0" tIns="0" rIns="0" bIns="0" rtlCol="0" anchor="ctr"/>
          <a:lstStyle/>
          <a:p>
            <a:pPr marL="0" indent="0" algn="ctr">
              <a:buNone/>
            </a:pPr>
            <a:r>
              <a:rPr lang="en-US" sz="1200">
                <a:solidFill>
                  <a:srgbClr val="D8D6CE"/>
                </a:solidFill>
                <a:latin typeface="Calibri" pitchFamily="34" charset="0"/>
                <a:ea typeface="Calibri" pitchFamily="34" charset="-122"/>
                <a:cs typeface="Calibri" pitchFamily="34" charset="-120"/>
              </a:rPr>
              <a:t>700 GB  ·  High Υ on trained tasks</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Brute force memorization</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Zero generalization to new tasks</a:t>
            </a:r>
            <a:endParaRPr lang="en-US" sz="1200"/>
          </a:p>
        </p:txBody>
      </p:sp>
      <p:sp>
        <p:nvSpPr>
          <p:cNvPr id="9" name="Shape 7"/>
          <p:cNvSpPr/>
          <p:nvPr/>
        </p:nvSpPr>
        <p:spPr>
          <a:xfrm>
            <a:off x="4754880" y="3200400"/>
            <a:ext cx="3840480" cy="1463040"/>
          </a:xfrm>
          <a:prstGeom prst="rect">
            <a:avLst/>
          </a:prstGeom>
          <a:solidFill>
            <a:srgbClr val="222731"/>
          </a:solidFill>
          <a:ln/>
          <a:effectLst/>
        </p:spPr>
        <p:txBody>
          <a:bodyPr/>
          <a:lstStyle/>
          <a:p>
            <a:endParaRPr lang="en-US"/>
          </a:p>
        </p:txBody>
      </p:sp>
      <p:sp>
        <p:nvSpPr>
          <p:cNvPr id="10" name="Text 8"/>
          <p:cNvSpPr/>
          <p:nvPr/>
        </p:nvSpPr>
        <p:spPr>
          <a:xfrm>
            <a:off x="4754880" y="3291840"/>
            <a:ext cx="3840480" cy="365760"/>
          </a:xfrm>
          <a:prstGeom prst="rect">
            <a:avLst/>
          </a:prstGeom>
          <a:noFill/>
          <a:ln/>
        </p:spPr>
        <p:txBody>
          <a:bodyPr wrap="square" lIns="0" tIns="0" rIns="0" bIns="0" rtlCol="0" anchor="ctr"/>
          <a:lstStyle/>
          <a:p>
            <a:pPr marL="0" indent="0" algn="ctr">
              <a:buNone/>
            </a:pPr>
            <a:r>
              <a:rPr lang="en-US" sz="1600" b="1">
                <a:solidFill>
                  <a:srgbClr val="7FB69E"/>
                </a:solidFill>
                <a:latin typeface="Georgia" pitchFamily="34" charset="0"/>
                <a:ea typeface="Georgia" pitchFamily="34" charset="-122"/>
                <a:cs typeface="Georgia" pitchFamily="34" charset="-120"/>
              </a:rPr>
              <a:t>Neural network</a:t>
            </a:r>
            <a:endParaRPr lang="en-US" sz="1600"/>
          </a:p>
        </p:txBody>
      </p:sp>
      <p:sp>
        <p:nvSpPr>
          <p:cNvPr id="11" name="Text 9"/>
          <p:cNvSpPr/>
          <p:nvPr/>
        </p:nvSpPr>
        <p:spPr>
          <a:xfrm>
            <a:off x="4937760" y="3657600"/>
            <a:ext cx="3474720" cy="822960"/>
          </a:xfrm>
          <a:prstGeom prst="rect">
            <a:avLst/>
          </a:prstGeom>
          <a:noFill/>
          <a:ln/>
        </p:spPr>
        <p:txBody>
          <a:bodyPr wrap="square" lIns="0" tIns="0" rIns="0" bIns="0" rtlCol="0" anchor="ctr"/>
          <a:lstStyle/>
          <a:p>
            <a:pPr marL="0" indent="0" algn="ctr">
              <a:buNone/>
            </a:pPr>
            <a:r>
              <a:rPr lang="en-US" sz="1200">
                <a:solidFill>
                  <a:srgbClr val="D8D6CE"/>
                </a:solidFill>
                <a:latin typeface="Calibri" pitchFamily="34" charset="0"/>
                <a:ea typeface="Calibri" pitchFamily="34" charset="-122"/>
                <a:cs typeface="Calibri" pitchFamily="34" charset="-120"/>
              </a:rPr>
              <a:t>2 GB  ·  Same Υ on those tasks</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Compressed abstractions</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Generalizes to novel tasks</a:t>
            </a:r>
            <a:endParaRPr lang="en-US" sz="1200"/>
          </a:p>
        </p:txBody>
      </p:sp>
      <p:sp>
        <p:nvSpPr>
          <p:cNvPr id="12" name="Text 0">
            <a:extLst>
              <a:ext uri="{FF2B5EF4-FFF2-40B4-BE49-F238E27FC236}">
                <a16:creationId xmlns:a16="http://schemas.microsoft.com/office/drawing/2014/main" id="{8285714A-590D-4D53-A2FD-987D86F4B5F4}"/>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UNIVERSAL INTELLIGENCE</a:t>
            </a:r>
          </a:p>
        </p:txBody>
      </p:sp>
      <p:sp>
        <p:nvSpPr>
          <p:cNvPr id="13" name="Text 1">
            <a:extLst>
              <a:ext uri="{FF2B5EF4-FFF2-40B4-BE49-F238E27FC236}">
                <a16:creationId xmlns:a16="http://schemas.microsoft.com/office/drawing/2014/main" id="{9EF0949E-B539-9D44-5C0F-EC4C7D07FA8E}"/>
              </a:ext>
            </a:extLst>
          </p:cNvPr>
          <p:cNvSpPr/>
          <p:nvPr/>
        </p:nvSpPr>
        <p:spPr>
          <a:xfrm>
            <a:off x="548640" y="640080"/>
            <a:ext cx="8229600" cy="640080"/>
          </a:xfrm>
          <a:prstGeom prst="rect">
            <a:avLst/>
          </a:prstGeom>
          <a:noFill/>
          <a:ln/>
        </p:spPr>
        <p:txBody>
          <a:bodyPr wrap="square" lIns="0" tIns="0" rIns="0" bIns="0" rtlCol="0" anchor="ctr"/>
          <a:lstStyle/>
          <a:p>
            <a:r>
              <a:rPr lang="en-US" sz="3600" b="1">
                <a:solidFill>
                  <a:srgbClr val="F1F0EA"/>
                </a:solidFill>
                <a:latin typeface="Georgia" pitchFamily="34" charset="0"/>
                <a:ea typeface="Georgia" pitchFamily="34" charset="-122"/>
                <a:cs typeface="Georgia" pitchFamily="34" charset="-120"/>
              </a:rPr>
              <a:t>The missing piece</a:t>
            </a:r>
            <a:endParaRPr lang="en-US" sz="3600"/>
          </a:p>
        </p:txBody>
      </p:sp>
    </p:spTree>
    <p:extLst>
      <p:ext uri="{BB962C8B-B14F-4D97-AF65-F5344CB8AC3E}">
        <p14:creationId xmlns:p14="http://schemas.microsoft.com/office/powerpoint/2010/main" val="6890673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D141F"/>
        </a:solidFill>
        <a:effectLst/>
      </p:bgPr>
    </p:bg>
    <p:spTree>
      <p:nvGrpSpPr>
        <p:cNvPr id="1" name=""/>
        <p:cNvGrpSpPr/>
        <p:nvPr/>
      </p:nvGrpSpPr>
      <p:grpSpPr>
        <a:xfrm>
          <a:off x="0" y="0"/>
          <a:ext cx="0" cy="0"/>
          <a:chOff x="0" y="0"/>
          <a:chExt cx="0" cy="0"/>
        </a:xfrm>
      </p:grpSpPr>
      <p:sp>
        <p:nvSpPr>
          <p:cNvPr id="4" name="Text 1"/>
          <p:cNvSpPr/>
          <p:nvPr/>
        </p:nvSpPr>
        <p:spPr>
          <a:xfrm>
            <a:off x="548640" y="1371600"/>
            <a:ext cx="3657600" cy="365760"/>
          </a:xfrm>
          <a:prstGeom prst="rect">
            <a:avLst/>
          </a:prstGeom>
          <a:noFill/>
          <a:ln/>
        </p:spPr>
        <p:txBody>
          <a:bodyPr wrap="square" lIns="0" tIns="0" rIns="0" bIns="0" rtlCol="0" anchor="ctr"/>
          <a:lstStyle/>
          <a:p>
            <a:pPr marL="0" indent="0">
              <a:buNone/>
            </a:pPr>
            <a:r>
              <a:rPr lang="en-US" sz="1400" b="1" kern="0" spc="600">
                <a:solidFill>
                  <a:srgbClr val="00D4AA"/>
                </a:solidFill>
                <a:latin typeface="Calibri" pitchFamily="34" charset="0"/>
                <a:ea typeface="Calibri" pitchFamily="34" charset="-122"/>
                <a:cs typeface="Calibri" pitchFamily="34" charset="-120"/>
              </a:rPr>
              <a:t>PART 5</a:t>
            </a:r>
            <a:endParaRPr lang="en-US" sz="1400"/>
          </a:p>
        </p:txBody>
      </p:sp>
      <p:sp>
        <p:nvSpPr>
          <p:cNvPr id="5" name="Text 2"/>
          <p:cNvSpPr/>
          <p:nvPr/>
        </p:nvSpPr>
        <p:spPr>
          <a:xfrm>
            <a:off x="548640" y="1828800"/>
            <a:ext cx="7315200" cy="1828800"/>
          </a:xfrm>
          <a:prstGeom prst="rect">
            <a:avLst/>
          </a:prstGeom>
          <a:noFill/>
          <a:ln/>
        </p:spPr>
        <p:txBody>
          <a:bodyPr wrap="square" lIns="0" tIns="0" rIns="0" bIns="0" rtlCol="0" anchor="ctr"/>
          <a:lstStyle/>
          <a:p>
            <a:pPr marL="0" indent="0">
              <a:lnSpc>
                <a:spcPct val="105000"/>
              </a:lnSpc>
              <a:buNone/>
            </a:pPr>
            <a:r>
              <a:rPr lang="en-US" sz="5200" b="1">
                <a:solidFill>
                  <a:srgbClr val="F1F0EA"/>
                </a:solidFill>
                <a:latin typeface="Georgia" pitchFamily="34" charset="0"/>
                <a:ea typeface="Georgia" pitchFamily="34" charset="-122"/>
                <a:cs typeface="Georgia" pitchFamily="34" charset="-120"/>
              </a:rPr>
              <a:t>Intelligence</a:t>
            </a:r>
            <a:endParaRPr lang="en-US" sz="5200"/>
          </a:p>
          <a:p>
            <a:pPr marL="0" indent="0">
              <a:lnSpc>
                <a:spcPct val="105000"/>
              </a:lnSpc>
              <a:buNone/>
            </a:pPr>
            <a:r>
              <a:rPr lang="en-US" sz="5200" b="1">
                <a:solidFill>
                  <a:srgbClr val="F1F0EA"/>
                </a:solidFill>
                <a:latin typeface="Georgia" pitchFamily="34" charset="0"/>
                <a:ea typeface="Georgia" pitchFamily="34" charset="-122"/>
                <a:cs typeface="Georgia" pitchFamily="34" charset="-120"/>
              </a:rPr>
              <a:t>Density</a:t>
            </a:r>
            <a:endParaRPr lang="en-US" sz="5200"/>
          </a:p>
        </p:txBody>
      </p:sp>
      <p:sp>
        <p:nvSpPr>
          <p:cNvPr id="6" name="Text 3"/>
          <p:cNvSpPr/>
          <p:nvPr/>
        </p:nvSpPr>
        <p:spPr>
          <a:xfrm>
            <a:off x="548640" y="3474720"/>
            <a:ext cx="7315200" cy="548640"/>
          </a:xfrm>
          <a:prstGeom prst="rect">
            <a:avLst/>
          </a:prstGeom>
          <a:noFill/>
          <a:ln/>
        </p:spPr>
        <p:txBody>
          <a:bodyPr wrap="square" lIns="0" tIns="0" rIns="0" bIns="0" rtlCol="0" anchor="ctr"/>
          <a:lstStyle/>
          <a:p>
            <a:pPr marL="0" indent="0">
              <a:buNone/>
            </a:pPr>
            <a:r>
              <a:rPr lang="en-US" sz="2200">
                <a:solidFill>
                  <a:srgbClr val="90969E"/>
                </a:solidFill>
                <a:latin typeface="Calibri" pitchFamily="34" charset="0"/>
                <a:ea typeface="Calibri" pitchFamily="34" charset="-122"/>
                <a:cs typeface="Calibri" pitchFamily="34" charset="-120"/>
              </a:rPr>
              <a:t>How much intelligence per bit?</a:t>
            </a:r>
            <a:endParaRPr lang="en-US" sz="2200"/>
          </a:p>
        </p:txBody>
      </p:sp>
    </p:spTree>
    <p:extLst>
      <p:ext uri="{BB962C8B-B14F-4D97-AF65-F5344CB8AC3E}">
        <p14:creationId xmlns:p14="http://schemas.microsoft.com/office/powerpoint/2010/main" val="22379331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67E906B4-ABA5-F179-471E-ED063528AAF8}"/>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889BA229-B6A0-E396-F3DE-CEB4E8BF172D}"/>
              </a:ext>
            </a:extLst>
          </p:cNvPr>
          <p:cNvSpPr/>
          <p:nvPr/>
        </p:nvSpPr>
        <p:spPr>
          <a:xfrm>
            <a:off x="685800" y="1900736"/>
            <a:ext cx="7772400" cy="1733187"/>
          </a:xfrm>
          <a:prstGeom prst="rect">
            <a:avLst/>
          </a:prstGeom>
          <a:solidFill>
            <a:srgbClr val="222731"/>
          </a:solidFill>
          <a:ln>
            <a:solidFill>
              <a:srgbClr val="888888"/>
            </a:solidFill>
          </a:ln>
          <a:effectLst/>
        </p:spPr>
        <p:txBody>
          <a:bodyPr/>
          <a:lstStyle/>
          <a:p>
            <a:endParaRPr lang="en-US"/>
          </a:p>
        </p:txBody>
      </p:sp>
      <p:sp>
        <p:nvSpPr>
          <p:cNvPr id="19" name="SlideNumber">
            <a:extLst>
              <a:ext uri="{FF2B5EF4-FFF2-40B4-BE49-F238E27FC236}">
                <a16:creationId xmlns:a16="http://schemas.microsoft.com/office/drawing/2014/main" id="{C16A1B18-6EF5-DD1D-83B4-37709419D5D6}"/>
              </a:ext>
            </a:extLst>
          </p:cNvPr>
          <p:cNvSpPr/>
          <p:nvPr/>
        </p:nvSpPr>
        <p:spPr>
          <a:xfrm>
            <a:off x="8509000" y="4711700"/>
            <a:ext cx="457200" cy="317500"/>
          </a:xfrm>
          <a:prstGeom prst="rect">
            <a:avLst/>
          </a:prstGeom>
          <a:noFill/>
          <a:ln/>
        </p:spPr>
        <p:txBody>
          <a:bodyPr wrap="square" lIns="0" tIns="0" rIns="0" bIns="0" rtlCol="0" anchor="ctr"/>
          <a:lstStyle/>
          <a:p>
            <a:pPr marL="0" indent="0" algn="r">
              <a:buNone/>
            </a:pPr>
            <a:r>
              <a:rPr lang="en-US" sz="1000" kern="0">
                <a:solidFill>
                  <a:srgbClr val="90969E"/>
                </a:solidFill>
                <a:latin typeface="Calibri" pitchFamily="34" charset="0"/>
              </a:rPr>
              <a:t>19 / 32</a:t>
            </a:r>
          </a:p>
        </p:txBody>
      </p:sp>
      <p:sp>
        <p:nvSpPr>
          <p:cNvPr id="5" name="Text 16">
            <a:extLst>
              <a:ext uri="{FF2B5EF4-FFF2-40B4-BE49-F238E27FC236}">
                <a16:creationId xmlns:a16="http://schemas.microsoft.com/office/drawing/2014/main" id="{4AAD484E-3FD2-C58D-3DEB-E727BE857A84}"/>
              </a:ext>
            </a:extLst>
          </p:cNvPr>
          <p:cNvSpPr/>
          <p:nvPr/>
        </p:nvSpPr>
        <p:spPr>
          <a:xfrm>
            <a:off x="934357" y="2538729"/>
            <a:ext cx="7275286" cy="457200"/>
          </a:xfrm>
          <a:prstGeom prst="rect">
            <a:avLst/>
          </a:prstGeom>
          <a:noFill/>
          <a:ln/>
        </p:spPr>
        <p:txBody>
          <a:bodyPr wrap="square" lIns="0" tIns="0" rIns="0" bIns="0" rtlCol="0" anchor="ctr"/>
          <a:lstStyle/>
          <a:p>
            <a:pPr algn="ctr"/>
            <a:r>
              <a:rPr lang="en-US" sz="2400" i="1" dirty="0">
                <a:solidFill>
                  <a:srgbClr val="A8CFC0"/>
                </a:solidFill>
                <a:latin typeface="Calibri" pitchFamily="34" charset="0"/>
                <a:ea typeface="Calibri" pitchFamily="34" charset="-122"/>
                <a:cs typeface="Calibri" pitchFamily="34" charset="-120"/>
              </a:rPr>
              <a:t>Intelligence per bit of internal complexity</a:t>
            </a:r>
            <a:endParaRPr lang="en-US" sz="2400" dirty="0"/>
          </a:p>
        </p:txBody>
      </p:sp>
      <p:sp>
        <p:nvSpPr>
          <p:cNvPr id="20" name="Text 1">
            <a:extLst>
              <a:ext uri="{FF2B5EF4-FFF2-40B4-BE49-F238E27FC236}">
                <a16:creationId xmlns:a16="http://schemas.microsoft.com/office/drawing/2014/main" id="{3AC4A6EC-6479-F576-548E-0B2BE48D0590}"/>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dirty="0">
                <a:solidFill>
                  <a:srgbClr val="F1F0EA"/>
                </a:solidFill>
                <a:latin typeface="Georgia" pitchFamily="34" charset="0"/>
              </a:rPr>
              <a:t>We don’t want lookup tables</a:t>
            </a:r>
            <a:endParaRPr lang="en-US" sz="3400" dirty="0"/>
          </a:p>
        </p:txBody>
      </p:sp>
      <p:sp>
        <p:nvSpPr>
          <p:cNvPr id="2" name="Text 0">
            <a:extLst>
              <a:ext uri="{FF2B5EF4-FFF2-40B4-BE49-F238E27FC236}">
                <a16:creationId xmlns:a16="http://schemas.microsoft.com/office/drawing/2014/main" id="{BAAC5208-4645-73A8-E319-5625E1AC7969}"/>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dirty="0">
                <a:solidFill>
                  <a:srgbClr val="7FB69E"/>
                </a:solidFill>
                <a:latin typeface="Calibri" pitchFamily="34" charset="0"/>
              </a:rPr>
              <a:t>INTELLIGENCE DENSITY</a:t>
            </a:r>
          </a:p>
        </p:txBody>
      </p:sp>
    </p:spTree>
    <p:extLst>
      <p:ext uri="{BB962C8B-B14F-4D97-AF65-F5344CB8AC3E}">
        <p14:creationId xmlns:p14="http://schemas.microsoft.com/office/powerpoint/2010/main" val="22390993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0B65CA6B-204C-2320-66B2-A4F46B4A2C54}"/>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A4E0DA08-32B9-FA82-D126-52318566033D}"/>
              </a:ext>
            </a:extLst>
          </p:cNvPr>
          <p:cNvSpPr/>
          <p:nvPr/>
        </p:nvSpPr>
        <p:spPr>
          <a:xfrm>
            <a:off x="548640" y="729343"/>
            <a:ext cx="8046720" cy="1510937"/>
          </a:xfrm>
          <a:prstGeom prst="rect">
            <a:avLst/>
          </a:prstGeom>
          <a:solidFill>
            <a:srgbClr val="222731"/>
          </a:solidFill>
          <a:ln>
            <a:solidFill>
              <a:srgbClr val="A7B5AB"/>
            </a:solidFill>
          </a:ln>
          <a:effectLst/>
        </p:spPr>
        <p:txBody>
          <a:bodyPr/>
          <a:lstStyle/>
          <a:p>
            <a:endParaRPr lang="en-US"/>
          </a:p>
        </p:txBody>
      </p:sp>
      <mc:AlternateContent xmlns:mc="http://schemas.openxmlformats.org/markup-compatibility/2006">
        <mc:Choice xmlns:a14="http://schemas.microsoft.com/office/drawing/2010/main" Requires="a14">
          <p:sp>
            <p:nvSpPr>
              <p:cNvPr id="4" name="Text 2">
                <a:extLst>
                  <a:ext uri="{FF2B5EF4-FFF2-40B4-BE49-F238E27FC236}">
                    <a16:creationId xmlns:a16="http://schemas.microsoft.com/office/drawing/2014/main" id="{FE720712-E10E-0486-78FE-36ED4BB28D76}"/>
                  </a:ext>
                </a:extLst>
              </p:cNvPr>
              <p:cNvSpPr/>
              <p:nvPr/>
            </p:nvSpPr>
            <p:spPr>
              <a:xfrm>
                <a:off x="731520" y="822960"/>
                <a:ext cx="7680960" cy="12801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4000" i="1" smtClean="0">
                          <a:solidFill>
                            <a:srgbClr val="E0A458"/>
                          </a:solidFill>
                          <a:latin typeface="Cambria Math" panose="02040503050406030204" pitchFamily="18" charset="0"/>
                          <a:ea typeface="Cambria Math" panose="02040503050406030204" pitchFamily="18" charset="0"/>
                          <a:cs typeface="Consolas" pitchFamily="34" charset="-120"/>
                        </a:rPr>
                        <m:t>𝜂</m:t>
                      </m:r>
                      <m:d>
                        <m:dPr>
                          <m:ctrlP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ctrlPr>
                        </m:dPr>
                        <m:e>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𝜋</m:t>
                          </m:r>
                        </m:e>
                      </m:d>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 </m:t>
                      </m:r>
                      <m:f>
                        <m:fPr>
                          <m:ctrlP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ctrlPr>
                        </m:fPr>
                        <m:num>
                          <m:r>
                            <m:rPr>
                              <m:sty m:val="p"/>
                            </m:rPr>
                            <a:rPr lang="el-GR" sz="4000" b="0" i="1" smtClean="0">
                              <a:solidFill>
                                <a:srgbClr val="E0A458"/>
                              </a:solidFill>
                              <a:latin typeface="Cambria Math" panose="02040503050406030204" pitchFamily="18" charset="0"/>
                              <a:ea typeface="Cambria Math" panose="02040503050406030204" pitchFamily="18" charset="0"/>
                              <a:cs typeface="Consolas" pitchFamily="34" charset="-120"/>
                            </a:rPr>
                            <m:t>Υ</m:t>
                          </m:r>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m:t>
                          </m:r>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𝜋</m:t>
                          </m:r>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m:t>
                          </m:r>
                        </m:num>
                        <m:den>
                          <m:r>
                            <a:rPr lang="en-US" sz="4000" i="1">
                              <a:solidFill>
                                <a:srgbClr val="E0A458"/>
                              </a:solidFill>
                              <a:latin typeface="Cambria Math" panose="02040503050406030204" pitchFamily="18" charset="0"/>
                              <a:ea typeface="Cambria Math" panose="02040503050406030204" pitchFamily="18" charset="0"/>
                              <a:cs typeface="Consolas" pitchFamily="34" charset="-120"/>
                            </a:rPr>
                            <m:t>𝐶</m:t>
                          </m:r>
                          <m:d>
                            <m:dPr>
                              <m:ctrlPr>
                                <a:rPr lang="en-US" sz="4000" i="1">
                                  <a:solidFill>
                                    <a:srgbClr val="E0A458"/>
                                  </a:solidFill>
                                  <a:latin typeface="Cambria Math" panose="02040503050406030204" pitchFamily="18" charset="0"/>
                                  <a:ea typeface="Cambria Math" panose="02040503050406030204" pitchFamily="18" charset="0"/>
                                  <a:cs typeface="Consolas" pitchFamily="34" charset="-120"/>
                                </a:rPr>
                              </m:ctrlPr>
                            </m:dPr>
                            <m:e>
                              <m:r>
                                <a:rPr lang="en-US" sz="4000" i="1">
                                  <a:solidFill>
                                    <a:srgbClr val="E0A458"/>
                                  </a:solidFill>
                                  <a:latin typeface="Cambria Math" panose="02040503050406030204" pitchFamily="18" charset="0"/>
                                  <a:ea typeface="Cambria Math" panose="02040503050406030204" pitchFamily="18" charset="0"/>
                                  <a:cs typeface="Consolas" pitchFamily="34" charset="-120"/>
                                </a:rPr>
                                <m:t>𝜋</m:t>
                              </m:r>
                            </m:e>
                          </m:d>
                        </m:den>
                      </m:f>
                    </m:oMath>
                  </m:oMathPara>
                </a14:m>
                <a:endParaRPr lang="en-US" sz="4000"/>
              </a:p>
            </p:txBody>
          </p:sp>
        </mc:Choice>
        <mc:Fallback>
          <p:sp>
            <p:nvSpPr>
              <p:cNvPr id="4" name="Text 2">
                <a:extLst>
                  <a:ext uri="{FF2B5EF4-FFF2-40B4-BE49-F238E27FC236}">
                    <a16:creationId xmlns:a16="http://schemas.microsoft.com/office/drawing/2014/main" id="{FE720712-E10E-0486-78FE-36ED4BB28D76}"/>
                  </a:ext>
                </a:extLst>
              </p:cNvPr>
              <p:cNvSpPr>
                <a:spLocks noRot="1" noChangeAspect="1" noMove="1" noResize="1" noEditPoints="1" noAdjustHandles="1" noChangeArrowheads="1" noChangeShapeType="1" noTextEdit="1"/>
              </p:cNvSpPr>
              <p:nvPr/>
            </p:nvSpPr>
            <p:spPr>
              <a:xfrm>
                <a:off x="731520" y="822960"/>
                <a:ext cx="7680960" cy="1280160"/>
              </a:xfrm>
              <a:prstGeom prst="rect">
                <a:avLst/>
              </a:prstGeom>
              <a:blipFill>
                <a:blip r:embed="rId3"/>
                <a:stretch>
                  <a:fillRect t="-1961" b="-6863"/>
                </a:stretch>
              </a:blipFill>
              <a:ln/>
            </p:spPr>
            <p:txBody>
              <a:bodyPr/>
              <a:lstStyle/>
              <a:p>
                <a:r>
                  <a:rPr lang="en-US">
                    <a:noFill/>
                  </a:rPr>
                  <a:t> </a:t>
                </a:r>
              </a:p>
            </p:txBody>
          </p:sp>
        </mc:Fallback>
      </mc:AlternateContent>
      <p:sp>
        <p:nvSpPr>
          <p:cNvPr id="5" name="Text 3">
            <a:extLst>
              <a:ext uri="{FF2B5EF4-FFF2-40B4-BE49-F238E27FC236}">
                <a16:creationId xmlns:a16="http://schemas.microsoft.com/office/drawing/2014/main" id="{9E8A7795-D1E8-56FE-3776-E7CF91C91CAE}"/>
              </a:ext>
            </a:extLst>
          </p:cNvPr>
          <p:cNvSpPr/>
          <p:nvPr/>
        </p:nvSpPr>
        <p:spPr>
          <a:xfrm>
            <a:off x="731520" y="2354580"/>
            <a:ext cx="7680960" cy="365760"/>
          </a:xfrm>
          <a:prstGeom prst="rect">
            <a:avLst/>
          </a:prstGeom>
          <a:noFill/>
          <a:ln/>
        </p:spPr>
        <p:txBody>
          <a:bodyPr wrap="square" lIns="0" tIns="0" rIns="0" bIns="0" rtlCol="0" anchor="ctr"/>
          <a:lstStyle/>
          <a:p>
            <a:pPr marL="0" indent="0" algn="ctr">
              <a:buNone/>
            </a:pPr>
            <a:r>
              <a:rPr lang="en-US" sz="1400" i="1" dirty="0">
                <a:solidFill>
                  <a:srgbClr val="A8CFC0"/>
                </a:solidFill>
                <a:latin typeface="Calibri" pitchFamily="34" charset="0"/>
                <a:ea typeface="Calibri" pitchFamily="34" charset="-122"/>
                <a:cs typeface="Calibri" pitchFamily="34" charset="-120"/>
              </a:rPr>
              <a:t>Intelligence per bit of internal complexity</a:t>
            </a:r>
            <a:endParaRPr lang="en-US" sz="1400" dirty="0"/>
          </a:p>
        </p:txBody>
      </p:sp>
      <p:sp>
        <p:nvSpPr>
          <p:cNvPr id="6" name="Shape 4">
            <a:extLst>
              <a:ext uri="{FF2B5EF4-FFF2-40B4-BE49-F238E27FC236}">
                <a16:creationId xmlns:a16="http://schemas.microsoft.com/office/drawing/2014/main" id="{FB40E17E-C301-1894-F67F-A46BFB6FB231}"/>
              </a:ext>
            </a:extLst>
          </p:cNvPr>
          <p:cNvSpPr/>
          <p:nvPr/>
        </p:nvSpPr>
        <p:spPr>
          <a:xfrm>
            <a:off x="548640" y="3113314"/>
            <a:ext cx="3840480" cy="1710146"/>
          </a:xfrm>
          <a:prstGeom prst="rect">
            <a:avLst/>
          </a:prstGeom>
          <a:solidFill>
            <a:srgbClr val="222731"/>
          </a:solidFill>
          <a:ln/>
          <a:effectLst/>
        </p:spPr>
        <p:txBody>
          <a:bodyPr/>
          <a:lstStyle/>
          <a:p>
            <a:endParaRPr lang="en-US"/>
          </a:p>
        </p:txBody>
      </p:sp>
      <mc:AlternateContent xmlns:mc="http://schemas.openxmlformats.org/markup-compatibility/2006">
        <mc:Choice xmlns:a14="http://schemas.microsoft.com/office/drawing/2010/main" Requires="a14">
          <p:sp>
            <p:nvSpPr>
              <p:cNvPr id="7" name="Text 5">
                <a:extLst>
                  <a:ext uri="{FF2B5EF4-FFF2-40B4-BE49-F238E27FC236}">
                    <a16:creationId xmlns:a16="http://schemas.microsoft.com/office/drawing/2014/main" id="{6EAA5944-6CF8-D3B1-355D-1F3124C69E68}"/>
                  </a:ext>
                </a:extLst>
              </p:cNvPr>
              <p:cNvSpPr/>
              <p:nvPr/>
            </p:nvSpPr>
            <p:spPr>
              <a:xfrm>
                <a:off x="548640" y="3517175"/>
                <a:ext cx="3840480" cy="3657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m:rPr>
                          <m:sty m:val="p"/>
                        </m:rPr>
                        <a:rPr lang="el-GR" sz="2400" i="1" smtClean="0">
                          <a:solidFill>
                            <a:schemeClr val="accent1">
                              <a:lumMod val="60000"/>
                              <a:lumOff val="40000"/>
                            </a:schemeClr>
                          </a:solidFill>
                          <a:latin typeface="Cambria Math" panose="02040503050406030204" pitchFamily="18" charset="0"/>
                          <a:ea typeface="Cambria Math" panose="02040503050406030204" pitchFamily="18" charset="0"/>
                          <a:cs typeface="Consolas" pitchFamily="34" charset="-120"/>
                        </a:rPr>
                        <m:t>Υ</m:t>
                      </m:r>
                      <m:r>
                        <a:rPr lang="en-US" sz="2400" i="1">
                          <a:solidFill>
                            <a:schemeClr val="accent1">
                              <a:lumMod val="60000"/>
                              <a:lumOff val="40000"/>
                            </a:schemeClr>
                          </a:solidFill>
                          <a:latin typeface="Cambria Math" panose="02040503050406030204" pitchFamily="18" charset="0"/>
                          <a:ea typeface="Cambria Math" panose="02040503050406030204" pitchFamily="18" charset="0"/>
                          <a:cs typeface="Consolas" pitchFamily="34" charset="-120"/>
                        </a:rPr>
                        <m:t>(</m:t>
                      </m:r>
                      <m:r>
                        <a:rPr lang="en-US" sz="2400" i="1">
                          <a:solidFill>
                            <a:schemeClr val="accent1">
                              <a:lumMod val="60000"/>
                              <a:lumOff val="40000"/>
                            </a:schemeClr>
                          </a:solidFill>
                          <a:latin typeface="Cambria Math" panose="02040503050406030204" pitchFamily="18" charset="0"/>
                          <a:ea typeface="Cambria Math" panose="02040503050406030204" pitchFamily="18" charset="0"/>
                          <a:cs typeface="Consolas" pitchFamily="34" charset="-120"/>
                        </a:rPr>
                        <m:t>𝜋</m:t>
                      </m:r>
                      <m:r>
                        <a:rPr lang="en-US" sz="2400" i="1">
                          <a:solidFill>
                            <a:schemeClr val="accent1">
                              <a:lumMod val="60000"/>
                              <a:lumOff val="40000"/>
                            </a:schemeClr>
                          </a:solidFill>
                          <a:latin typeface="Cambria Math" panose="02040503050406030204" pitchFamily="18" charset="0"/>
                          <a:ea typeface="Cambria Math" panose="02040503050406030204" pitchFamily="18" charset="0"/>
                          <a:cs typeface="Consolas" pitchFamily="34" charset="-120"/>
                        </a:rPr>
                        <m:t>)</m:t>
                      </m:r>
                    </m:oMath>
                  </m:oMathPara>
                </a14:m>
                <a:endParaRPr lang="en-US" sz="2200">
                  <a:solidFill>
                    <a:schemeClr val="accent1">
                      <a:lumMod val="60000"/>
                      <a:lumOff val="40000"/>
                    </a:schemeClr>
                  </a:solidFill>
                </a:endParaRPr>
              </a:p>
            </p:txBody>
          </p:sp>
        </mc:Choice>
        <mc:Fallback>
          <p:sp>
            <p:nvSpPr>
              <p:cNvPr id="7" name="Text 5">
                <a:extLst>
                  <a:ext uri="{FF2B5EF4-FFF2-40B4-BE49-F238E27FC236}">
                    <a16:creationId xmlns:a16="http://schemas.microsoft.com/office/drawing/2014/main" id="{6EAA5944-6CF8-D3B1-355D-1F3124C69E68}"/>
                  </a:ext>
                </a:extLst>
              </p:cNvPr>
              <p:cNvSpPr>
                <a:spLocks noRot="1" noChangeAspect="1" noMove="1" noResize="1" noEditPoints="1" noAdjustHandles="1" noChangeArrowheads="1" noChangeShapeType="1" noTextEdit="1"/>
              </p:cNvSpPr>
              <p:nvPr/>
            </p:nvSpPr>
            <p:spPr>
              <a:xfrm>
                <a:off x="548640" y="3517175"/>
                <a:ext cx="3840480" cy="365760"/>
              </a:xfrm>
              <a:prstGeom prst="rect">
                <a:avLst/>
              </a:prstGeom>
              <a:blipFill>
                <a:blip r:embed="rId4"/>
                <a:stretch>
                  <a:fillRect b="-36667"/>
                </a:stretch>
              </a:blipFill>
              <a:ln/>
            </p:spPr>
            <p:txBody>
              <a:bodyPr/>
              <a:lstStyle/>
              <a:p>
                <a:r>
                  <a:rPr lang="en-US">
                    <a:noFill/>
                  </a:rPr>
                  <a:t> </a:t>
                </a:r>
              </a:p>
            </p:txBody>
          </p:sp>
        </mc:Fallback>
      </mc:AlternateContent>
      <p:sp>
        <p:nvSpPr>
          <p:cNvPr id="8" name="Text 6">
            <a:extLst>
              <a:ext uri="{FF2B5EF4-FFF2-40B4-BE49-F238E27FC236}">
                <a16:creationId xmlns:a16="http://schemas.microsoft.com/office/drawing/2014/main" id="{AE69BA57-6602-47C7-4057-E1BC7635D54F}"/>
              </a:ext>
            </a:extLst>
          </p:cNvPr>
          <p:cNvSpPr/>
          <p:nvPr/>
        </p:nvSpPr>
        <p:spPr>
          <a:xfrm>
            <a:off x="731520" y="4274820"/>
            <a:ext cx="3474720" cy="457200"/>
          </a:xfrm>
          <a:prstGeom prst="rect">
            <a:avLst/>
          </a:prstGeom>
          <a:noFill/>
          <a:ln/>
        </p:spPr>
        <p:txBody>
          <a:bodyPr wrap="square" lIns="0" tIns="0" rIns="0" bIns="0" rtlCol="0" anchor="ctr"/>
          <a:lstStyle/>
          <a:p>
            <a:pPr marL="0" indent="0" algn="ctr">
              <a:buNone/>
            </a:pPr>
            <a:r>
              <a:rPr lang="en-US" sz="1200">
                <a:solidFill>
                  <a:srgbClr val="D8D6CE"/>
                </a:solidFill>
                <a:latin typeface="Calibri" pitchFamily="34" charset="0"/>
                <a:ea typeface="Calibri" pitchFamily="34" charset="-122"/>
                <a:cs typeface="Calibri" pitchFamily="34" charset="-120"/>
              </a:rPr>
              <a:t>How much intelligence the agent exhibits</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(Legg-Hutter measure: external, behavioral)</a:t>
            </a:r>
            <a:endParaRPr lang="en-US" sz="1200"/>
          </a:p>
        </p:txBody>
      </p:sp>
      <p:sp>
        <p:nvSpPr>
          <p:cNvPr id="9" name="Shape 7">
            <a:extLst>
              <a:ext uri="{FF2B5EF4-FFF2-40B4-BE49-F238E27FC236}">
                <a16:creationId xmlns:a16="http://schemas.microsoft.com/office/drawing/2014/main" id="{2972C44C-9E23-0C99-32ED-89AA09096404}"/>
              </a:ext>
            </a:extLst>
          </p:cNvPr>
          <p:cNvSpPr/>
          <p:nvPr/>
        </p:nvSpPr>
        <p:spPr>
          <a:xfrm>
            <a:off x="4754880" y="3113314"/>
            <a:ext cx="3840480" cy="1710146"/>
          </a:xfrm>
          <a:prstGeom prst="rect">
            <a:avLst/>
          </a:prstGeom>
          <a:solidFill>
            <a:srgbClr val="222731"/>
          </a:solidFill>
          <a:ln/>
          <a:effectLst/>
        </p:spPr>
        <p:txBody>
          <a:bodyPr/>
          <a:lstStyle/>
          <a:p>
            <a:endParaRPr lang="en-US"/>
          </a:p>
        </p:txBody>
      </p:sp>
      <mc:AlternateContent xmlns:mc="http://schemas.openxmlformats.org/markup-compatibility/2006">
        <mc:Choice xmlns:a14="http://schemas.microsoft.com/office/drawing/2010/main" Requires="a14">
          <p:sp>
            <p:nvSpPr>
              <p:cNvPr id="10" name="Text 8">
                <a:extLst>
                  <a:ext uri="{FF2B5EF4-FFF2-40B4-BE49-F238E27FC236}">
                    <a16:creationId xmlns:a16="http://schemas.microsoft.com/office/drawing/2014/main" id="{2B15866B-8A75-A526-6A25-31E0DC192790}"/>
                  </a:ext>
                </a:extLst>
              </p:cNvPr>
              <p:cNvSpPr/>
              <p:nvPr/>
            </p:nvSpPr>
            <p:spPr>
              <a:xfrm>
                <a:off x="4754880" y="3511187"/>
                <a:ext cx="3840480" cy="3657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2400" i="1" smtClean="0">
                          <a:solidFill>
                            <a:srgbClr val="7FB69E"/>
                          </a:solidFill>
                          <a:latin typeface="Cambria Math" panose="02040503050406030204" pitchFamily="18" charset="0"/>
                          <a:ea typeface="Cambria Math" panose="02040503050406030204" pitchFamily="18" charset="0"/>
                          <a:cs typeface="Consolas" pitchFamily="34" charset="-120"/>
                        </a:rPr>
                        <m:t>𝐶</m:t>
                      </m:r>
                      <m:d>
                        <m:dPr>
                          <m:ctrlPr>
                            <a:rPr lang="en-US" sz="2400" i="1">
                              <a:solidFill>
                                <a:srgbClr val="7FB69E"/>
                              </a:solidFill>
                              <a:latin typeface="Cambria Math" panose="02040503050406030204" pitchFamily="18" charset="0"/>
                              <a:ea typeface="Cambria Math" panose="02040503050406030204" pitchFamily="18" charset="0"/>
                              <a:cs typeface="Consolas" pitchFamily="34" charset="-120"/>
                            </a:rPr>
                          </m:ctrlPr>
                        </m:dPr>
                        <m:e>
                          <m:r>
                            <a:rPr lang="en-US" sz="2400" i="1">
                              <a:solidFill>
                                <a:srgbClr val="7FB69E"/>
                              </a:solidFill>
                              <a:latin typeface="Cambria Math" panose="02040503050406030204" pitchFamily="18" charset="0"/>
                              <a:ea typeface="Cambria Math" panose="02040503050406030204" pitchFamily="18" charset="0"/>
                              <a:cs typeface="Consolas" pitchFamily="34" charset="-120"/>
                            </a:rPr>
                            <m:t>𝜋</m:t>
                          </m:r>
                        </m:e>
                      </m:d>
                    </m:oMath>
                  </m:oMathPara>
                </a14:m>
                <a:endParaRPr lang="en-US" sz="2200">
                  <a:solidFill>
                    <a:srgbClr val="7FB69E"/>
                  </a:solidFill>
                </a:endParaRPr>
              </a:p>
            </p:txBody>
          </p:sp>
        </mc:Choice>
        <mc:Fallback>
          <p:sp>
            <p:nvSpPr>
              <p:cNvPr id="10" name="Text 8">
                <a:extLst>
                  <a:ext uri="{FF2B5EF4-FFF2-40B4-BE49-F238E27FC236}">
                    <a16:creationId xmlns:a16="http://schemas.microsoft.com/office/drawing/2014/main" id="{2B15866B-8A75-A526-6A25-31E0DC192790}"/>
                  </a:ext>
                </a:extLst>
              </p:cNvPr>
              <p:cNvSpPr>
                <a:spLocks noRot="1" noChangeAspect="1" noMove="1" noResize="1" noEditPoints="1" noAdjustHandles="1" noChangeArrowheads="1" noChangeShapeType="1" noTextEdit="1"/>
              </p:cNvSpPr>
              <p:nvPr/>
            </p:nvSpPr>
            <p:spPr>
              <a:xfrm>
                <a:off x="4754880" y="3511187"/>
                <a:ext cx="3840480" cy="365760"/>
              </a:xfrm>
              <a:prstGeom prst="rect">
                <a:avLst/>
              </a:prstGeom>
              <a:blipFill>
                <a:blip r:embed="rId5"/>
                <a:stretch>
                  <a:fillRect b="-6667"/>
                </a:stretch>
              </a:blipFill>
              <a:ln/>
            </p:spPr>
            <p:txBody>
              <a:bodyPr/>
              <a:lstStyle/>
              <a:p>
                <a:r>
                  <a:rPr lang="en-US">
                    <a:noFill/>
                  </a:rPr>
                  <a:t> </a:t>
                </a:r>
              </a:p>
            </p:txBody>
          </p:sp>
        </mc:Fallback>
      </mc:AlternateContent>
      <p:sp>
        <p:nvSpPr>
          <p:cNvPr id="11" name="Text 9">
            <a:extLst>
              <a:ext uri="{FF2B5EF4-FFF2-40B4-BE49-F238E27FC236}">
                <a16:creationId xmlns:a16="http://schemas.microsoft.com/office/drawing/2014/main" id="{AED4C5C3-AE47-D8AC-001E-47546AFDA7D1}"/>
              </a:ext>
            </a:extLst>
          </p:cNvPr>
          <p:cNvSpPr/>
          <p:nvPr/>
        </p:nvSpPr>
        <p:spPr>
          <a:xfrm>
            <a:off x="4937760" y="4274820"/>
            <a:ext cx="3474720" cy="457200"/>
          </a:xfrm>
          <a:prstGeom prst="rect">
            <a:avLst/>
          </a:prstGeom>
          <a:noFill/>
          <a:ln/>
        </p:spPr>
        <p:txBody>
          <a:bodyPr wrap="square" lIns="0" tIns="0" rIns="0" bIns="0" rtlCol="0" anchor="ctr"/>
          <a:lstStyle/>
          <a:p>
            <a:pPr marL="0" indent="0" algn="ctr">
              <a:buNone/>
            </a:pPr>
            <a:r>
              <a:rPr lang="en-US" sz="1200">
                <a:solidFill>
                  <a:srgbClr val="D8D6CE"/>
                </a:solidFill>
                <a:latin typeface="Calibri" pitchFamily="34" charset="0"/>
                <a:ea typeface="Calibri" pitchFamily="34" charset="-122"/>
                <a:cs typeface="Calibri" pitchFamily="34" charset="-120"/>
              </a:rPr>
              <a:t>How complex the agent is internally</a:t>
            </a:r>
            <a:endParaRPr lang="en-US" sz="1200"/>
          </a:p>
          <a:p>
            <a:pPr marL="0" indent="0" algn="ctr">
              <a:buNone/>
            </a:pPr>
            <a:r>
              <a:rPr lang="en-US" sz="1200">
                <a:solidFill>
                  <a:srgbClr val="D8D6CE"/>
                </a:solidFill>
                <a:latin typeface="Calibri" pitchFamily="34" charset="0"/>
                <a:ea typeface="Calibri" pitchFamily="34" charset="-122"/>
                <a:cs typeface="Calibri" pitchFamily="34" charset="-120"/>
              </a:rPr>
              <a:t>(effective bits: K(π), MDL, SLT λ, intrinsic dim)</a:t>
            </a:r>
            <a:endParaRPr lang="en-US" sz="1200"/>
          </a:p>
        </p:txBody>
      </p:sp>
      <p:sp>
        <p:nvSpPr>
          <p:cNvPr id="14" name="Text 0">
            <a:extLst>
              <a:ext uri="{FF2B5EF4-FFF2-40B4-BE49-F238E27FC236}">
                <a16:creationId xmlns:a16="http://schemas.microsoft.com/office/drawing/2014/main" id="{609E9F71-2F63-6555-B154-60870DFDDB72}"/>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dirty="0">
                <a:solidFill>
                  <a:srgbClr val="7FB69E"/>
                </a:solidFill>
                <a:latin typeface="Calibri" pitchFamily="34" charset="0"/>
              </a:rPr>
              <a:t>INTELLIGENCE DENSITY</a:t>
            </a:r>
          </a:p>
        </p:txBody>
      </p:sp>
    </p:spTree>
    <p:extLst>
      <p:ext uri="{BB962C8B-B14F-4D97-AF65-F5344CB8AC3E}">
        <p14:creationId xmlns:p14="http://schemas.microsoft.com/office/powerpoint/2010/main" val="23593380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401AED63-05CA-7F2D-1C0B-78AF7290D7F8}"/>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853524F8-69A3-925E-9A83-23188D650D49}"/>
              </a:ext>
            </a:extLst>
          </p:cNvPr>
          <p:cNvSpPr/>
          <p:nvPr/>
        </p:nvSpPr>
        <p:spPr>
          <a:xfrm>
            <a:off x="548640" y="729343"/>
            <a:ext cx="8046720" cy="1510937"/>
          </a:xfrm>
          <a:prstGeom prst="rect">
            <a:avLst/>
          </a:prstGeom>
          <a:solidFill>
            <a:srgbClr val="222731"/>
          </a:solidFill>
          <a:ln>
            <a:solidFill>
              <a:srgbClr val="A7B5AB"/>
            </a:solidFill>
          </a:ln>
          <a:effectLst/>
        </p:spPr>
        <p:txBody>
          <a:bodyPr/>
          <a:lstStyle/>
          <a:p>
            <a:endParaRPr lang="en-US"/>
          </a:p>
        </p:txBody>
      </p:sp>
      <mc:AlternateContent xmlns:mc="http://schemas.openxmlformats.org/markup-compatibility/2006">
        <mc:Choice xmlns:a14="http://schemas.microsoft.com/office/drawing/2010/main" Requires="a14">
          <p:sp>
            <p:nvSpPr>
              <p:cNvPr id="4" name="Text 2">
                <a:extLst>
                  <a:ext uri="{FF2B5EF4-FFF2-40B4-BE49-F238E27FC236}">
                    <a16:creationId xmlns:a16="http://schemas.microsoft.com/office/drawing/2014/main" id="{A7B96FDF-F757-6A3B-5904-3AEEAFD367F9}"/>
                  </a:ext>
                </a:extLst>
              </p:cNvPr>
              <p:cNvSpPr/>
              <p:nvPr/>
            </p:nvSpPr>
            <p:spPr>
              <a:xfrm>
                <a:off x="731520" y="822960"/>
                <a:ext cx="7680960" cy="128016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r>
                        <a:rPr lang="en-US" sz="4000" i="1" smtClean="0">
                          <a:solidFill>
                            <a:srgbClr val="E0A458"/>
                          </a:solidFill>
                          <a:latin typeface="Cambria Math" panose="02040503050406030204" pitchFamily="18" charset="0"/>
                          <a:ea typeface="Cambria Math" panose="02040503050406030204" pitchFamily="18" charset="0"/>
                          <a:cs typeface="Consolas" pitchFamily="34" charset="-120"/>
                        </a:rPr>
                        <m:t>𝜂</m:t>
                      </m:r>
                      <m:d>
                        <m:dPr>
                          <m:ctrlP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ctrlPr>
                        </m:dPr>
                        <m:e>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𝜋</m:t>
                          </m:r>
                        </m:e>
                      </m:d>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 </m:t>
                      </m:r>
                      <m:f>
                        <m:fPr>
                          <m:ctrlP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ctrlPr>
                        </m:fPr>
                        <m:num>
                          <m:r>
                            <m:rPr>
                              <m:sty m:val="p"/>
                            </m:rPr>
                            <a:rPr lang="el-GR" sz="4000" b="0" i="1" smtClean="0">
                              <a:solidFill>
                                <a:srgbClr val="E0A458"/>
                              </a:solidFill>
                              <a:latin typeface="Cambria Math" panose="02040503050406030204" pitchFamily="18" charset="0"/>
                              <a:ea typeface="Cambria Math" panose="02040503050406030204" pitchFamily="18" charset="0"/>
                              <a:cs typeface="Consolas" pitchFamily="34" charset="-120"/>
                            </a:rPr>
                            <m:t>Υ</m:t>
                          </m:r>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m:t>
                          </m:r>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𝜋</m:t>
                          </m:r>
                          <m:r>
                            <a:rPr lang="en-US" sz="4000" b="0" i="1" smtClean="0">
                              <a:solidFill>
                                <a:srgbClr val="E0A458"/>
                              </a:solidFill>
                              <a:latin typeface="Cambria Math" panose="02040503050406030204" pitchFamily="18" charset="0"/>
                              <a:ea typeface="Cambria Math" panose="02040503050406030204" pitchFamily="18" charset="0"/>
                              <a:cs typeface="Consolas" pitchFamily="34" charset="-120"/>
                            </a:rPr>
                            <m:t>)</m:t>
                          </m:r>
                        </m:num>
                        <m:den>
                          <m:r>
                            <a:rPr lang="en-US" sz="4000" i="1">
                              <a:solidFill>
                                <a:srgbClr val="E0A458"/>
                              </a:solidFill>
                              <a:latin typeface="Cambria Math" panose="02040503050406030204" pitchFamily="18" charset="0"/>
                              <a:ea typeface="Cambria Math" panose="02040503050406030204" pitchFamily="18" charset="0"/>
                              <a:cs typeface="Consolas" pitchFamily="34" charset="-120"/>
                            </a:rPr>
                            <m:t>𝐶</m:t>
                          </m:r>
                          <m:d>
                            <m:dPr>
                              <m:ctrlPr>
                                <a:rPr lang="en-US" sz="4000" i="1">
                                  <a:solidFill>
                                    <a:srgbClr val="E0A458"/>
                                  </a:solidFill>
                                  <a:latin typeface="Cambria Math" panose="02040503050406030204" pitchFamily="18" charset="0"/>
                                  <a:ea typeface="Cambria Math" panose="02040503050406030204" pitchFamily="18" charset="0"/>
                                  <a:cs typeface="Consolas" pitchFamily="34" charset="-120"/>
                                </a:rPr>
                              </m:ctrlPr>
                            </m:dPr>
                            <m:e>
                              <m:r>
                                <a:rPr lang="en-US" sz="4000" i="1">
                                  <a:solidFill>
                                    <a:srgbClr val="E0A458"/>
                                  </a:solidFill>
                                  <a:latin typeface="Cambria Math" panose="02040503050406030204" pitchFamily="18" charset="0"/>
                                  <a:ea typeface="Cambria Math" panose="02040503050406030204" pitchFamily="18" charset="0"/>
                                  <a:cs typeface="Consolas" pitchFamily="34" charset="-120"/>
                                </a:rPr>
                                <m:t>𝜋</m:t>
                              </m:r>
                            </m:e>
                          </m:d>
                        </m:den>
                      </m:f>
                    </m:oMath>
                  </m:oMathPara>
                </a14:m>
                <a:endParaRPr lang="en-US" sz="4000"/>
              </a:p>
            </p:txBody>
          </p:sp>
        </mc:Choice>
        <mc:Fallback>
          <p:sp>
            <p:nvSpPr>
              <p:cNvPr id="4" name="Text 2">
                <a:extLst>
                  <a:ext uri="{FF2B5EF4-FFF2-40B4-BE49-F238E27FC236}">
                    <a16:creationId xmlns:a16="http://schemas.microsoft.com/office/drawing/2014/main" id="{A7B96FDF-F757-6A3B-5904-3AEEAFD367F9}"/>
                  </a:ext>
                </a:extLst>
              </p:cNvPr>
              <p:cNvSpPr>
                <a:spLocks noRot="1" noChangeAspect="1" noMove="1" noResize="1" noEditPoints="1" noAdjustHandles="1" noChangeArrowheads="1" noChangeShapeType="1" noTextEdit="1"/>
              </p:cNvSpPr>
              <p:nvPr/>
            </p:nvSpPr>
            <p:spPr>
              <a:xfrm>
                <a:off x="731520" y="822960"/>
                <a:ext cx="7680960" cy="1280160"/>
              </a:xfrm>
              <a:prstGeom prst="rect">
                <a:avLst/>
              </a:prstGeom>
              <a:blipFill>
                <a:blip r:embed="rId3"/>
                <a:stretch>
                  <a:fillRect t="-1961" b="-6863"/>
                </a:stretch>
              </a:blipFill>
              <a:ln/>
            </p:spPr>
            <p:txBody>
              <a:bodyPr/>
              <a:lstStyle/>
              <a:p>
                <a:r>
                  <a:rPr lang="en-US">
                    <a:noFill/>
                  </a:rPr>
                  <a:t> </a:t>
                </a:r>
              </a:p>
            </p:txBody>
          </p:sp>
        </mc:Fallback>
      </mc:AlternateContent>
      <p:sp>
        <p:nvSpPr>
          <p:cNvPr id="5" name="Text 3">
            <a:extLst>
              <a:ext uri="{FF2B5EF4-FFF2-40B4-BE49-F238E27FC236}">
                <a16:creationId xmlns:a16="http://schemas.microsoft.com/office/drawing/2014/main" id="{AC15CE84-49CE-9DDF-FBF3-9C5938F323F3}"/>
              </a:ext>
            </a:extLst>
          </p:cNvPr>
          <p:cNvSpPr/>
          <p:nvPr/>
        </p:nvSpPr>
        <p:spPr>
          <a:xfrm>
            <a:off x="731520" y="2354580"/>
            <a:ext cx="7680960" cy="365760"/>
          </a:xfrm>
          <a:prstGeom prst="rect">
            <a:avLst/>
          </a:prstGeom>
          <a:noFill/>
          <a:ln/>
        </p:spPr>
        <p:txBody>
          <a:bodyPr wrap="square" lIns="0" tIns="0" rIns="0" bIns="0" rtlCol="0" anchor="ctr"/>
          <a:lstStyle/>
          <a:p>
            <a:pPr marL="0" indent="0" algn="ctr">
              <a:buNone/>
            </a:pPr>
            <a:r>
              <a:rPr lang="en-US" sz="1400" i="1">
                <a:solidFill>
                  <a:srgbClr val="A8CFC0"/>
                </a:solidFill>
                <a:latin typeface="Calibri" pitchFamily="34" charset="0"/>
                <a:ea typeface="Calibri" pitchFamily="34" charset="-122"/>
                <a:cs typeface="Calibri" pitchFamily="34" charset="-120"/>
              </a:rPr>
              <a:t>Intelligence per bit of internal complexity</a:t>
            </a:r>
            <a:endParaRPr lang="en-US" sz="1400"/>
          </a:p>
        </p:txBody>
      </p:sp>
      <p:sp>
        <p:nvSpPr>
          <p:cNvPr id="12" name="Shape 10">
            <a:extLst>
              <a:ext uri="{FF2B5EF4-FFF2-40B4-BE49-F238E27FC236}">
                <a16:creationId xmlns:a16="http://schemas.microsoft.com/office/drawing/2014/main" id="{B5800B90-FC06-6F33-88BB-084B8270B81A}"/>
              </a:ext>
            </a:extLst>
          </p:cNvPr>
          <p:cNvSpPr/>
          <p:nvPr/>
        </p:nvSpPr>
        <p:spPr>
          <a:xfrm>
            <a:off x="548640" y="3037114"/>
            <a:ext cx="8046720" cy="1510936"/>
          </a:xfrm>
          <a:prstGeom prst="rect">
            <a:avLst/>
          </a:prstGeom>
          <a:solidFill>
            <a:srgbClr val="222731"/>
          </a:solidFill>
          <a:ln/>
          <a:effectLst/>
        </p:spPr>
        <p:txBody>
          <a:bodyPr/>
          <a:lstStyle/>
          <a:p>
            <a:endParaRPr lang="en-US"/>
          </a:p>
        </p:txBody>
      </p:sp>
      <p:sp>
        <p:nvSpPr>
          <p:cNvPr id="13" name="Text 11">
            <a:extLst>
              <a:ext uri="{FF2B5EF4-FFF2-40B4-BE49-F238E27FC236}">
                <a16:creationId xmlns:a16="http://schemas.microsoft.com/office/drawing/2014/main" id="{6A7E8CB0-96A1-41BF-8E6A-8F28A0E745F7}"/>
              </a:ext>
            </a:extLst>
          </p:cNvPr>
          <p:cNvSpPr/>
          <p:nvPr/>
        </p:nvSpPr>
        <p:spPr>
          <a:xfrm>
            <a:off x="731520" y="3409406"/>
            <a:ext cx="7680960" cy="685800"/>
          </a:xfrm>
          <a:prstGeom prst="rect">
            <a:avLst/>
          </a:prstGeom>
          <a:noFill/>
          <a:ln/>
        </p:spPr>
        <p:txBody>
          <a:bodyPr wrap="square" lIns="0" tIns="0" rIns="0" bIns="0" rtlCol="0" anchor="ctr"/>
          <a:lstStyle/>
          <a:p>
            <a:pPr marL="0" indent="0" algn="ctr">
              <a:buNone/>
            </a:pPr>
            <a:r>
              <a:rPr lang="en-US" sz="1400" dirty="0">
                <a:solidFill>
                  <a:srgbClr val="D8D6CE"/>
                </a:solidFill>
                <a:latin typeface="Calibri" pitchFamily="34" charset="0"/>
                <a:ea typeface="Calibri" pitchFamily="34" charset="-122"/>
                <a:cs typeface="Calibri" pitchFamily="34" charset="-120"/>
              </a:rPr>
              <a:t>This naturally penalizes memorization: storing raw facts costs bits without proportionally increasing </a:t>
            </a:r>
            <a:r>
              <a:rPr lang="en-US" sz="1400" dirty="0" err="1">
                <a:solidFill>
                  <a:srgbClr val="D8D6CE"/>
                </a:solidFill>
                <a:latin typeface="Calibri" pitchFamily="34" charset="0"/>
                <a:ea typeface="Calibri" pitchFamily="34" charset="-122"/>
                <a:cs typeface="Calibri" pitchFamily="34" charset="-120"/>
              </a:rPr>
              <a:t>Υ</a:t>
            </a:r>
            <a:r>
              <a:rPr lang="en-US" sz="1400" dirty="0">
                <a:solidFill>
                  <a:srgbClr val="D8D6CE"/>
                </a:solidFill>
                <a:latin typeface="Calibri" pitchFamily="34" charset="0"/>
                <a:ea typeface="Calibri" pitchFamily="34" charset="-122"/>
                <a:cs typeface="Calibri" pitchFamily="34" charset="-120"/>
              </a:rPr>
              <a:t>.</a:t>
            </a:r>
            <a:br>
              <a:rPr lang="en-US" sz="1400" dirty="0">
                <a:solidFill>
                  <a:srgbClr val="D8D6CE"/>
                </a:solidFill>
                <a:latin typeface="Calibri" pitchFamily="34" charset="0"/>
                <a:ea typeface="Calibri" pitchFamily="34" charset="-122"/>
                <a:cs typeface="Calibri" pitchFamily="34" charset="-120"/>
              </a:rPr>
            </a:br>
            <a:r>
              <a:rPr lang="en-US" sz="1400" dirty="0">
                <a:solidFill>
                  <a:srgbClr val="D8D6CE"/>
                </a:solidFill>
                <a:latin typeface="Calibri" pitchFamily="34" charset="0"/>
                <a:ea typeface="Calibri" pitchFamily="34" charset="-122"/>
                <a:cs typeface="Calibri" pitchFamily="34" charset="-120"/>
              </a:rPr>
              <a:t>It rewards abstraction: compact rules that generalize earn high </a:t>
            </a:r>
            <a:r>
              <a:rPr lang="en-US" sz="1400" dirty="0" err="1">
                <a:solidFill>
                  <a:srgbClr val="D8D6CE"/>
                </a:solidFill>
                <a:latin typeface="Calibri" pitchFamily="34" charset="0"/>
                <a:ea typeface="Calibri" pitchFamily="34" charset="-122"/>
                <a:cs typeface="Calibri" pitchFamily="34" charset="-120"/>
              </a:rPr>
              <a:t>η</a:t>
            </a:r>
            <a:r>
              <a:rPr lang="en-US" sz="1400" dirty="0">
                <a:solidFill>
                  <a:srgbClr val="D8D6CE"/>
                </a:solidFill>
                <a:latin typeface="Calibri" pitchFamily="34" charset="0"/>
                <a:ea typeface="Calibri" pitchFamily="34" charset="-122"/>
                <a:cs typeface="Calibri" pitchFamily="34" charset="-120"/>
              </a:rPr>
              <a:t>.</a:t>
            </a:r>
            <a:endParaRPr lang="en-US" sz="1400" dirty="0"/>
          </a:p>
        </p:txBody>
      </p:sp>
      <p:sp>
        <p:nvSpPr>
          <p:cNvPr id="14" name="Text 0">
            <a:extLst>
              <a:ext uri="{FF2B5EF4-FFF2-40B4-BE49-F238E27FC236}">
                <a16:creationId xmlns:a16="http://schemas.microsoft.com/office/drawing/2014/main" id="{07D91C43-1C6C-0456-2B31-F7097F757837}"/>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INTELLIGENCE DENSITY</a:t>
            </a:r>
          </a:p>
        </p:txBody>
      </p:sp>
      <p:pic>
        <p:nvPicPr>
          <p:cNvPr id="15" name="Copied Picture 15" descr="A comic book page with a person in a garment&#10;&#10;AI-generated content may be incorrect.">
            <a:extLst>
              <a:ext uri="{FF2B5EF4-FFF2-40B4-BE49-F238E27FC236}">
                <a16:creationId xmlns:a16="http://schemas.microsoft.com/office/drawing/2014/main" id="{83BFBDF5-A672-8BCC-11ED-9B357D4FB799}"/>
              </a:ext>
            </a:extLst>
          </p:cNvPr>
          <p:cNvPicPr>
            <a:picLocks noChangeAspect="1"/>
          </p:cNvPicPr>
          <p:nvPr/>
        </p:nvPicPr>
        <p:blipFill>
          <a:blip r:embed="rId4"/>
          <a:stretch>
            <a:fillRect/>
          </a:stretch>
        </p:blipFill>
        <p:spPr>
          <a:xfrm>
            <a:off x="3657600" y="4572000"/>
            <a:ext cx="1320800" cy="558800"/>
          </a:xfrm>
          <a:prstGeom prst="rect">
            <a:avLst/>
          </a:prstGeom>
        </p:spPr>
      </p:pic>
      <p:sp>
        <p:nvSpPr>
          <p:cNvPr id="2" name="TextBox 1">
            <a:extLst>
              <a:ext uri="{FF2B5EF4-FFF2-40B4-BE49-F238E27FC236}">
                <a16:creationId xmlns:a16="http://schemas.microsoft.com/office/drawing/2014/main" id="{7FEDDFB5-3C0A-F44C-AC00-89551C90D6E4}"/>
              </a:ext>
            </a:extLst>
          </p:cNvPr>
          <p:cNvSpPr txBox="1"/>
          <p:nvPr/>
        </p:nvSpPr>
        <p:spPr>
          <a:xfrm>
            <a:off x="5080000" y="4648200"/>
            <a:ext cx="3225800" cy="4064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Memorize facts? → abstraction!</a:t>
            </a:r>
          </a:p>
        </p:txBody>
      </p:sp>
    </p:spTree>
    <p:extLst>
      <p:ext uri="{BB962C8B-B14F-4D97-AF65-F5344CB8AC3E}">
        <p14:creationId xmlns:p14="http://schemas.microsoft.com/office/powerpoint/2010/main" val="308531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17">
    <p:bg>
      <p:bgPr>
        <a:solidFill>
          <a:srgbClr val="1A1F2A"/>
        </a:solidFill>
        <a:effectLst/>
      </p:bgPr>
    </p:bg>
    <p:spTree>
      <p:nvGrpSpPr>
        <p:cNvPr id="1" name=""/>
        <p:cNvGrpSpPr/>
        <p:nvPr/>
      </p:nvGrpSpPr>
      <p:grpSpPr>
        <a:xfrm>
          <a:off x="0" y="0"/>
          <a:ext cx="0" cy="0"/>
          <a:chOff x="0" y="0"/>
          <a:chExt cx="0" cy="0"/>
        </a:xfrm>
      </p:grpSpPr>
      <p:sp>
        <p:nvSpPr>
          <p:cNvPr id="23" name="Shape 21"/>
          <p:cNvSpPr/>
          <p:nvPr/>
        </p:nvSpPr>
        <p:spPr>
          <a:xfrm>
            <a:off x="548640" y="3726180"/>
            <a:ext cx="8046720" cy="1143000"/>
          </a:xfrm>
          <a:prstGeom prst="rect">
            <a:avLst/>
          </a:prstGeom>
          <a:solidFill>
            <a:srgbClr val="222731"/>
          </a:solidFill>
          <a:ln/>
          <a:effectLst/>
        </p:spPr>
        <p:txBody>
          <a:bodyPr/>
          <a:lstStyle/>
          <a:p>
            <a:endParaRPr lang="en-US"/>
          </a:p>
        </p:txBody>
      </p:sp>
      <p:pic>
        <p:nvPicPr>
          <p:cNvPr id="24" name="Image 0" descr="preencoded.png"/>
          <p:cNvPicPr>
            <a:picLocks noChangeAspect="1"/>
          </p:cNvPicPr>
          <p:nvPr/>
        </p:nvPicPr>
        <p:blipFill>
          <a:blip r:embed="rId3"/>
          <a:stretch>
            <a:fillRect/>
          </a:stretch>
        </p:blipFill>
        <p:spPr>
          <a:xfrm>
            <a:off x="822960" y="3931920"/>
            <a:ext cx="365760" cy="365760"/>
          </a:xfrm>
          <a:prstGeom prst="rect">
            <a:avLst/>
          </a:prstGeom>
        </p:spPr>
      </p:pic>
      <p:sp>
        <p:nvSpPr>
          <p:cNvPr id="25" name="Text 22"/>
          <p:cNvSpPr/>
          <p:nvPr/>
        </p:nvSpPr>
        <p:spPr>
          <a:xfrm>
            <a:off x="1371600" y="3752306"/>
            <a:ext cx="4572000" cy="365760"/>
          </a:xfrm>
          <a:prstGeom prst="rect">
            <a:avLst/>
          </a:prstGeom>
          <a:noFill/>
          <a:ln/>
        </p:spPr>
        <p:txBody>
          <a:bodyPr wrap="square" lIns="0" tIns="0" rIns="0" bIns="0" rtlCol="0" anchor="ctr"/>
          <a:lstStyle/>
          <a:p>
            <a:pPr marL="0" indent="0">
              <a:buNone/>
            </a:pPr>
            <a:r>
              <a:rPr lang="en-US" sz="1600" b="1">
                <a:solidFill>
                  <a:srgbClr val="E0A458"/>
                </a:solidFill>
                <a:latin typeface="Georgia" pitchFamily="34" charset="0"/>
                <a:ea typeface="Georgia" pitchFamily="34" charset="-122"/>
                <a:cs typeface="Georgia" pitchFamily="34" charset="-120"/>
              </a:rPr>
              <a:t>A testable prediction</a:t>
            </a:r>
            <a:endParaRPr lang="en-US" sz="1600"/>
          </a:p>
        </p:txBody>
      </p:sp>
      <p:sp>
        <p:nvSpPr>
          <p:cNvPr id="26" name="Text 23"/>
          <p:cNvSpPr/>
          <p:nvPr/>
        </p:nvSpPr>
        <p:spPr>
          <a:xfrm>
            <a:off x="1371600" y="4114800"/>
            <a:ext cx="7040880" cy="68580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If η is roughly constant along the current LLM scaling frontier, it means we're adding intelligence proportionally to complexity — no free lunch, no efficiency gain.</a:t>
            </a:r>
          </a:p>
          <a:p>
            <a:pPr marL="0" indent="0">
              <a:buNone/>
            </a:pPr>
            <a:r>
              <a:rPr lang="en-US" sz="1300">
                <a:solidFill>
                  <a:srgbClr val="D8D6CE"/>
                </a:solidFill>
                <a:latin typeface="Calibri" pitchFamily="34" charset="0"/>
                <a:ea typeface="Calibri" pitchFamily="34" charset="-122"/>
                <a:cs typeface="Calibri" pitchFamily="34" charset="-120"/>
              </a:rPr>
              <a:t>A breakthrough would show up as an increase in η: more intelligence per bit.</a:t>
            </a:r>
            <a:endParaRPr lang="en-US" sz="1300"/>
          </a:p>
        </p:txBody>
      </p:sp>
      <p:graphicFrame>
        <p:nvGraphicFramePr>
          <p:cNvPr id="27" name="Table 0">
            <a:extLst>
              <a:ext uri="{FF2B5EF4-FFF2-40B4-BE49-F238E27FC236}">
                <a16:creationId xmlns:a16="http://schemas.microsoft.com/office/drawing/2014/main" id="{A15E48EC-22B9-D48E-9B5F-566D09DA4FD3}"/>
              </a:ext>
            </a:extLst>
          </p:cNvPr>
          <p:cNvGraphicFramePr>
            <a:graphicFrameLocks noGrp="1"/>
          </p:cNvGraphicFramePr>
          <p:nvPr/>
        </p:nvGraphicFramePr>
        <p:xfrm>
          <a:off x="548640" y="960120"/>
          <a:ext cx="8046720" cy="2560320"/>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26720">
                <a:tc>
                  <a:txBody>
                    <a:bodyPr/>
                    <a:lstStyle/>
                    <a:p>
                      <a:pPr marL="0" indent="0" algn="l">
                        <a:buNone/>
                      </a:pPr>
                      <a:r>
                        <a:rPr lang="en-US" sz="1300" b="1">
                          <a:solidFill>
                            <a:srgbClr val="7B8FB0"/>
                          </a:solidFill>
                          <a:latin typeface="Calibri" pitchFamily="34" charset="0"/>
                          <a:ea typeface="Calibri" pitchFamily="34" charset="-122"/>
                          <a:cs typeface="Calibri" pitchFamily="34" charset="-120"/>
                        </a:rPr>
                        <a:t>Model</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12700" cap="flat" cmpd="sng" algn="ctr">
                      <a:solidFill>
                        <a:srgbClr val="2A3340"/>
                      </a:solidFill>
                      <a:prstDash val="solid"/>
                    </a:lnB>
                    <a:solidFill>
                      <a:srgbClr val="222731"/>
                    </a:solidFill>
                  </a:tcPr>
                </a:tc>
                <a:tc>
                  <a:txBody>
                    <a:bodyPr/>
                    <a:lstStyle/>
                    <a:p>
                      <a:pPr marL="0" indent="0" algn="ctr">
                        <a:buNone/>
                      </a:pPr>
                      <a:r>
                        <a:rPr lang="en-US" sz="1300" b="1">
                          <a:solidFill>
                            <a:srgbClr val="7B8FB0"/>
                          </a:solidFill>
                          <a:latin typeface="Calibri" pitchFamily="34" charset="0"/>
                          <a:ea typeface="Calibri" pitchFamily="34" charset="-122"/>
                          <a:cs typeface="Calibri" pitchFamily="34" charset="-120"/>
                        </a:rPr>
                        <a:t>Params</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12700" cap="flat" cmpd="sng" algn="ctr">
                      <a:solidFill>
                        <a:srgbClr val="2A3340"/>
                      </a:solidFill>
                      <a:prstDash val="solid"/>
                    </a:lnB>
                    <a:solidFill>
                      <a:srgbClr val="222731"/>
                    </a:solidFill>
                  </a:tcPr>
                </a:tc>
                <a:tc>
                  <a:txBody>
                    <a:bodyPr/>
                    <a:lstStyle/>
                    <a:p>
                      <a:pPr marL="0" indent="0" algn="ctr">
                        <a:buNone/>
                      </a:pPr>
                      <a:r>
                        <a:rPr lang="en-US" sz="1300" b="1">
                          <a:solidFill>
                            <a:srgbClr val="7B8FB0"/>
                          </a:solidFill>
                          <a:latin typeface="Calibri" pitchFamily="34" charset="0"/>
                          <a:ea typeface="Calibri" pitchFamily="34" charset="-122"/>
                          <a:cs typeface="Calibri" pitchFamily="34" charset="-120"/>
                        </a:rPr>
                        <a:t>Weights</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12700" cap="flat" cmpd="sng" algn="ctr">
                      <a:solidFill>
                        <a:srgbClr val="2A3340"/>
                      </a:solidFill>
                      <a:prstDash val="solid"/>
                    </a:lnB>
                    <a:solidFill>
                      <a:srgbClr val="222731"/>
                    </a:solidFill>
                  </a:tcPr>
                </a:tc>
                <a:tc>
                  <a:txBody>
                    <a:bodyPr/>
                    <a:lstStyle/>
                    <a:p>
                      <a:pPr marL="0" indent="0" algn="ctr">
                        <a:buNone/>
                      </a:pPr>
                      <a:r>
                        <a:rPr lang="en-US" sz="1300" b="1">
                          <a:solidFill>
                            <a:srgbClr val="7B8FB0"/>
                          </a:solidFill>
                          <a:latin typeface="Calibri" pitchFamily="34" charset="0"/>
                          <a:ea typeface="Calibri" pitchFamily="34" charset="-122"/>
                          <a:cs typeface="Calibri" pitchFamily="34" charset="-120"/>
                        </a:rPr>
                        <a:t>Training data</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12700" cap="flat" cmpd="sng" algn="ctr">
                      <a:solidFill>
                        <a:srgbClr val="2A3340"/>
                      </a:solidFill>
                      <a:prstDash val="solid"/>
                    </a:lnB>
                    <a:solidFill>
                      <a:srgbClr val="222731"/>
                    </a:solidFill>
                  </a:tcPr>
                </a:tc>
                <a:tc>
                  <a:txBody>
                    <a:bodyPr/>
                    <a:lstStyle/>
                    <a:p>
                      <a:pPr marL="0" indent="0" algn="ctr">
                        <a:buNone/>
                      </a:pPr>
                      <a:r>
                        <a:rPr lang="en-US" sz="1300" b="1">
                          <a:solidFill>
                            <a:srgbClr val="7B8FB0"/>
                          </a:solidFill>
                          <a:latin typeface="Calibri" pitchFamily="34" charset="0"/>
                          <a:ea typeface="Calibri" pitchFamily="34" charset="-122"/>
                          <a:cs typeface="Calibri" pitchFamily="34" charset="-120"/>
                        </a:rPr>
                        <a:t>Ratio</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12700" cap="flat" cmpd="sng" algn="ctr">
                      <a:solidFill>
                        <a:srgbClr val="2A3340"/>
                      </a:solidFill>
                      <a:prstDash val="solid"/>
                    </a:lnB>
                    <a:solidFill>
                      <a:srgbClr val="222731"/>
                    </a:solidFill>
                  </a:tcPr>
                </a:tc>
                <a:extLst>
                  <a:ext uri="{0D108BD9-81ED-4DB2-BD59-A6C34878D82A}">
                    <a16:rowId xmlns:a16="http://schemas.microsoft.com/office/drawing/2014/main" val="10000"/>
                  </a:ext>
                </a:extLst>
              </a:tr>
              <a:tr h="426720">
                <a:tc>
                  <a:txBody>
                    <a:bodyPr/>
                    <a:lstStyle/>
                    <a:p>
                      <a:pPr marL="0" indent="0" algn="l">
                        <a:buNone/>
                      </a:pPr>
                      <a:r>
                        <a:rPr lang="en-US" sz="1300" b="1">
                          <a:solidFill>
                            <a:srgbClr val="FFFFFF"/>
                          </a:solidFill>
                          <a:latin typeface="Calibri" pitchFamily="34" charset="0"/>
                          <a:ea typeface="Calibri" pitchFamily="34" charset="-122"/>
                          <a:cs typeface="Calibri" pitchFamily="34" charset="-120"/>
                        </a:rPr>
                        <a:t>GPT-3</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175B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350 GB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~1.2 TB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b="1">
                          <a:solidFill>
                            <a:srgbClr val="00D4AA"/>
                          </a:solidFill>
                          <a:latin typeface="Calibri" pitchFamily="34" charset="0"/>
                          <a:ea typeface="Calibri" pitchFamily="34" charset="-122"/>
                          <a:cs typeface="Calibri" pitchFamily="34" charset="-120"/>
                        </a:rPr>
                        <a:t>3:1</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12700" cap="flat" cmpd="sng" algn="ctr">
                      <a:solidFill>
                        <a:srgbClr val="2A3340"/>
                      </a:solidFill>
                      <a:prstDash val="solid"/>
                      <a:round/>
                      <a:headEnd type="none" w="med" len="med"/>
                      <a:tailEnd type="none" w="med" len="med"/>
                    </a:lnT>
                    <a:lnB w="6350" cap="flat" cmpd="sng" algn="ctr">
                      <a:solidFill>
                        <a:srgbClr val="2A3340"/>
                      </a:solidFill>
                      <a:prstDash val="solid"/>
                    </a:lnB>
                    <a:noFill/>
                  </a:tcPr>
                </a:tc>
                <a:extLst>
                  <a:ext uri="{0D108BD9-81ED-4DB2-BD59-A6C34878D82A}">
                    <a16:rowId xmlns:a16="http://schemas.microsoft.com/office/drawing/2014/main" val="10001"/>
                  </a:ext>
                </a:extLst>
              </a:tr>
              <a:tr h="426720">
                <a:tc>
                  <a:txBody>
                    <a:bodyPr/>
                    <a:lstStyle/>
                    <a:p>
                      <a:pPr marL="0" indent="0" algn="l">
                        <a:buNone/>
                      </a:pPr>
                      <a:r>
                        <a:rPr lang="en-US" sz="1300" b="1">
                          <a:solidFill>
                            <a:srgbClr val="FFFFFF"/>
                          </a:solidFill>
                          <a:latin typeface="Calibri" pitchFamily="34" charset="0"/>
                          <a:ea typeface="Calibri" pitchFamily="34" charset="-122"/>
                          <a:cs typeface="Calibri" pitchFamily="34" charset="-120"/>
                        </a:rPr>
                        <a:t>Chinchilla</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70B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140 GB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~5.6 TB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b="1">
                          <a:solidFill>
                            <a:srgbClr val="00D4AA"/>
                          </a:solidFill>
                          <a:latin typeface="Calibri" pitchFamily="34" charset="0"/>
                          <a:ea typeface="Calibri" pitchFamily="34" charset="-122"/>
                          <a:cs typeface="Calibri" pitchFamily="34" charset="-120"/>
                        </a:rPr>
                        <a:t>40:1</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extLst>
                  <a:ext uri="{0D108BD9-81ED-4DB2-BD59-A6C34878D82A}">
                    <a16:rowId xmlns:a16="http://schemas.microsoft.com/office/drawing/2014/main" val="10002"/>
                  </a:ext>
                </a:extLst>
              </a:tr>
              <a:tr h="426720">
                <a:tc>
                  <a:txBody>
                    <a:bodyPr/>
                    <a:lstStyle/>
                    <a:p>
                      <a:pPr marL="0" indent="0" algn="l">
                        <a:buNone/>
                      </a:pPr>
                      <a:r>
                        <a:rPr lang="en-US" sz="1300" b="1">
                          <a:solidFill>
                            <a:srgbClr val="FFFFFF"/>
                          </a:solidFill>
                          <a:latin typeface="Calibri" pitchFamily="34" charset="0"/>
                          <a:ea typeface="Calibri" pitchFamily="34" charset="-122"/>
                          <a:cs typeface="Calibri" pitchFamily="34" charset="-120"/>
                        </a:rPr>
                        <a:t>LLaMA 2 70B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70B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140 GB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~8 TB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b="1">
                          <a:solidFill>
                            <a:srgbClr val="00D4AA"/>
                          </a:solidFill>
                          <a:latin typeface="Calibri" pitchFamily="34" charset="0"/>
                          <a:ea typeface="Calibri" pitchFamily="34" charset="-122"/>
                          <a:cs typeface="Calibri" pitchFamily="34" charset="-120"/>
                        </a:rPr>
                        <a:t>57:1</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extLst>
                  <a:ext uri="{0D108BD9-81ED-4DB2-BD59-A6C34878D82A}">
                    <a16:rowId xmlns:a16="http://schemas.microsoft.com/office/drawing/2014/main" val="10003"/>
                  </a:ext>
                </a:extLst>
              </a:tr>
              <a:tr h="426720">
                <a:tc>
                  <a:txBody>
                    <a:bodyPr/>
                    <a:lstStyle/>
                    <a:p>
                      <a:pPr marL="0" indent="0" algn="l">
                        <a:buNone/>
                      </a:pPr>
                      <a:r>
                        <a:rPr lang="en-US" sz="1300" b="1">
                          <a:solidFill>
                            <a:srgbClr val="FFFFFF"/>
                          </a:solidFill>
                          <a:latin typeface="Calibri" pitchFamily="34" charset="0"/>
                          <a:ea typeface="Calibri" pitchFamily="34" charset="-122"/>
                          <a:cs typeface="Calibri" pitchFamily="34" charset="-120"/>
                        </a:rPr>
                        <a:t>LLaMA 3 8B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8B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16 GB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~60 TB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b="1">
                          <a:solidFill>
                            <a:srgbClr val="00D4AA"/>
                          </a:solidFill>
                          <a:latin typeface="Calibri" pitchFamily="34" charset="0"/>
                          <a:ea typeface="Calibri" pitchFamily="34" charset="-122"/>
                          <a:cs typeface="Calibri" pitchFamily="34" charset="-120"/>
                        </a:rPr>
                        <a:t>3,750:1</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extLst>
                  <a:ext uri="{0D108BD9-81ED-4DB2-BD59-A6C34878D82A}">
                    <a16:rowId xmlns:a16="http://schemas.microsoft.com/office/drawing/2014/main" val="10004"/>
                  </a:ext>
                </a:extLst>
              </a:tr>
              <a:tr h="426720">
                <a:tc>
                  <a:txBody>
                    <a:bodyPr/>
                    <a:lstStyle/>
                    <a:p>
                      <a:pPr marL="0" indent="0" algn="l">
                        <a:buNone/>
                      </a:pPr>
                      <a:r>
                        <a:rPr lang="en-US" sz="1300" b="1">
                          <a:solidFill>
                            <a:srgbClr val="FFFFFF"/>
                          </a:solidFill>
                          <a:latin typeface="Calibri" pitchFamily="34" charset="0"/>
                          <a:ea typeface="Calibri" pitchFamily="34" charset="-122"/>
                          <a:cs typeface="Calibri" pitchFamily="34" charset="-120"/>
                        </a:rPr>
                        <a:t>LLaMA 3 70B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70B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140 GB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a:solidFill>
                            <a:srgbClr val="FFFFFF"/>
                          </a:solidFill>
                          <a:latin typeface="Calibri" pitchFamily="34" charset="0"/>
                          <a:ea typeface="Calibri" pitchFamily="34" charset="-122"/>
                          <a:cs typeface="Calibri" pitchFamily="34" charset="-120"/>
                        </a:rPr>
                        <a:t>~60 TB</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tc>
                  <a:txBody>
                    <a:bodyPr/>
                    <a:lstStyle/>
                    <a:p>
                      <a:pPr marL="0" indent="0" algn="ctr">
                        <a:buNone/>
                      </a:pPr>
                      <a:r>
                        <a:rPr lang="en-US" sz="1300" b="1">
                          <a:solidFill>
                            <a:srgbClr val="00D4AA"/>
                          </a:solidFill>
                          <a:latin typeface="Calibri" pitchFamily="34" charset="0"/>
                          <a:ea typeface="Calibri" pitchFamily="34" charset="-122"/>
                          <a:cs typeface="Calibri" pitchFamily="34" charset="-120"/>
                        </a:rPr>
                        <a:t>429:1</a:t>
                      </a:r>
                      <a:endParaRPr lang="en-US" sz="1300">
                        <a:latin typeface="Calibri" charset="0"/>
                        <a:ea typeface="Calibri" charset="0"/>
                        <a:cs typeface="Calibri" charset="0"/>
                      </a:endParaRPr>
                    </a:p>
                  </a:txBody>
                  <a:tcPr marL="101600" marR="101600" marT="50800" marB="50800" anchor="ctr">
                    <a:lnL w="0" cap="flat" cmpd="sng" algn="ctr">
                      <a:noFill/>
                      <a:prstDash val="solid"/>
                      <a:round/>
                      <a:headEnd type="none" w="med" len="med"/>
                      <a:tailEnd type="none" w="med" len="med"/>
                    </a:lnL>
                    <a:lnR w="0" cap="flat" cmpd="sng" algn="ctr">
                      <a:noFill/>
                      <a:prstDash val="solid"/>
                      <a:round/>
                      <a:headEnd type="none" w="med" len="med"/>
                      <a:tailEnd type="none" w="med" len="med"/>
                    </a:lnR>
                    <a:lnT w="6350" cap="flat" cmpd="sng" algn="ctr">
                      <a:solidFill>
                        <a:srgbClr val="2A3340"/>
                      </a:solidFill>
                      <a:prstDash val="solid"/>
                      <a:round/>
                      <a:headEnd type="none" w="med" len="med"/>
                      <a:tailEnd type="none" w="med" len="med"/>
                    </a:lnT>
                    <a:lnB w="6350" cap="flat" cmpd="sng" algn="ctr">
                      <a:solidFill>
                        <a:srgbClr val="2A3340"/>
                      </a:solidFill>
                      <a:prstDash val="solid"/>
                    </a:lnB>
                    <a:noFill/>
                  </a:tcPr>
                </a:tc>
                <a:extLst>
                  <a:ext uri="{0D108BD9-81ED-4DB2-BD59-A6C34878D82A}">
                    <a16:rowId xmlns:a16="http://schemas.microsoft.com/office/drawing/2014/main" val="10005"/>
                  </a:ext>
                </a:extLst>
              </a:tr>
            </a:tbl>
          </a:graphicData>
        </a:graphic>
      </p:graphicFrame>
      <p:sp>
        <p:nvSpPr>
          <p:cNvPr id="3" name="Text 0">
            <a:extLst>
              <a:ext uri="{FF2B5EF4-FFF2-40B4-BE49-F238E27FC236}">
                <a16:creationId xmlns:a16="http://schemas.microsoft.com/office/drawing/2014/main" id="{4F5719D0-6971-CAB5-DE88-8DC556B21FD5}"/>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INTELLIGENCE DENSITY</a:t>
            </a:r>
          </a:p>
        </p:txBody>
      </p:sp>
    </p:spTree>
    <p:extLst>
      <p:ext uri="{BB962C8B-B14F-4D97-AF65-F5344CB8AC3E}">
        <p14:creationId xmlns:p14="http://schemas.microsoft.com/office/powerpoint/2010/main" val="28935545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5A43A38-051E-2F88-7D69-74664163789A}"/>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INTELLIGENCE DENSITY</a:t>
            </a:r>
          </a:p>
        </p:txBody>
      </p:sp>
      <p:sp>
        <p:nvSpPr>
          <p:cNvPr id="3" name="Text 1">
            <a:extLst>
              <a:ext uri="{FF2B5EF4-FFF2-40B4-BE49-F238E27FC236}">
                <a16:creationId xmlns:a16="http://schemas.microsoft.com/office/drawing/2014/main" id="{29B04E6C-44CE-5D77-BBEF-EC03433D29F1}"/>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a:solidFill>
                  <a:srgbClr val="F1F0EA"/>
                </a:solidFill>
                <a:latin typeface="Georgia" pitchFamily="34" charset="0"/>
                <a:ea typeface="Georgia" pitchFamily="34" charset="-122"/>
                <a:cs typeface="Georgia" pitchFamily="34" charset="-120"/>
              </a:rPr>
              <a:t>Current trend</a:t>
            </a:r>
            <a:endParaRPr lang="en-US" sz="3400"/>
          </a:p>
        </p:txBody>
      </p:sp>
      <p:sp>
        <p:nvSpPr>
          <p:cNvPr id="60" name="Lead"/>
          <p:cNvSpPr txBox="1"/>
          <p:nvPr/>
        </p:nvSpPr>
        <p:spPr>
          <a:xfrm>
            <a:off x="546100" y="1219200"/>
            <a:ext cx="8128000" cy="660400"/>
          </a:xfrm>
          <a:prstGeom prst="rect">
            <a:avLst/>
          </a:prstGeom>
          <a:noFill/>
        </p:spPr>
        <p:txBody>
          <a:bodyPr wrap="square" lIns="0" tIns="0" rIns="0" bIns="0">
            <a:normAutofit/>
          </a:bodyPr>
          <a:lstStyle/>
          <a:p>
            <a:pPr marL="0" indent="0">
              <a:lnSpc>
                <a:spcPts val="2300"/>
              </a:lnSpc>
              <a:buNone/>
            </a:pPr>
            <a:r>
              <a:rPr lang="en-US" sz="1800" dirty="0">
                <a:solidFill>
                  <a:srgbClr val="C7CDD6"/>
                </a:solidFill>
              </a:rPr>
              <a:t>If benchmarks are a fair proxy for intelligence, the newest models are far more </a:t>
            </a:r>
            <a:r>
              <a:rPr lang="en-US" sz="1800" b="1" dirty="0">
                <a:solidFill>
                  <a:srgbClr val="7FB69E"/>
                </a:solidFill>
              </a:rPr>
              <a:t>intelligence-dense</a:t>
            </a:r>
            <a:r>
              <a:rPr lang="en-US" sz="1800" dirty="0">
                <a:solidFill>
                  <a:srgbClr val="C7CDD6"/>
                </a:solidFill>
              </a:rPr>
              <a:t>.</a:t>
            </a:r>
          </a:p>
        </p:txBody>
      </p:sp>
      <p:sp>
        <p:nvSpPr>
          <p:cNvPr id="61" name="Point A"/>
          <p:cNvSpPr txBox="1"/>
          <p:nvPr/>
        </p:nvSpPr>
        <p:spPr>
          <a:xfrm>
            <a:off x="546100" y="2159000"/>
            <a:ext cx="3810000" cy="1778000"/>
          </a:xfrm>
          <a:prstGeom prst="rect">
            <a:avLst/>
          </a:prstGeom>
          <a:noFill/>
        </p:spPr>
        <p:txBody>
          <a:bodyPr wrap="square" lIns="0" tIns="0" rIns="0" bIns="0">
            <a:normAutofit/>
          </a:bodyPr>
          <a:lstStyle/>
          <a:p>
            <a:pPr marL="0" indent="0">
              <a:buNone/>
            </a:pPr>
            <a:r>
              <a:rPr lang="en-US" sz="1400" b="1" spc="200" dirty="0">
                <a:solidFill>
                  <a:srgbClr val="7FB69E"/>
                </a:solidFill>
              </a:rPr>
              <a:t>01</a:t>
            </a:r>
          </a:p>
          <a:p>
            <a:pPr marL="0" indent="0">
              <a:spcBef>
                <a:spcPts val="600"/>
              </a:spcBef>
              <a:buNone/>
            </a:pPr>
            <a:r>
              <a:rPr lang="en-US" sz="1500" b="1" dirty="0">
                <a:solidFill>
                  <a:srgbClr val="F1F0EA"/>
                </a:solidFill>
              </a:rPr>
              <a:t>The entropy gap is closing</a:t>
            </a:r>
          </a:p>
          <a:p>
            <a:pPr marL="0" indent="0">
              <a:lnSpc>
                <a:spcPts val="1750"/>
              </a:lnSpc>
              <a:spcBef>
                <a:spcPts val="500"/>
              </a:spcBef>
              <a:buNone/>
            </a:pPr>
            <a:r>
              <a:rPr lang="en-US" sz="1400" dirty="0">
                <a:solidFill>
                  <a:srgbClr val="AEB6C2"/>
                </a:solidFill>
              </a:rPr>
              <a:t>Weights now pack information close to the limit of their available bits — up from ~2-of-16 a few years ago.</a:t>
            </a:r>
          </a:p>
        </p:txBody>
      </p:sp>
      <p:sp>
        <p:nvSpPr>
          <p:cNvPr id="62" name="Point B"/>
          <p:cNvSpPr txBox="1"/>
          <p:nvPr/>
        </p:nvSpPr>
        <p:spPr>
          <a:xfrm>
            <a:off x="4699000" y="2159000"/>
            <a:ext cx="3975100" cy="1778000"/>
          </a:xfrm>
          <a:prstGeom prst="rect">
            <a:avLst/>
          </a:prstGeom>
          <a:noFill/>
        </p:spPr>
        <p:txBody>
          <a:bodyPr wrap="square" lIns="0" tIns="0" rIns="0" bIns="0">
            <a:normAutofit/>
          </a:bodyPr>
          <a:lstStyle/>
          <a:p>
            <a:pPr marL="0" indent="0">
              <a:buNone/>
            </a:pPr>
            <a:r>
              <a:rPr lang="en-US" sz="1400" b="1" spc="200" dirty="0">
                <a:solidFill>
                  <a:srgbClr val="7FB69E"/>
                </a:solidFill>
              </a:rPr>
              <a:t>02</a:t>
            </a:r>
          </a:p>
          <a:p>
            <a:pPr marL="0" indent="0">
              <a:spcBef>
                <a:spcPts val="600"/>
              </a:spcBef>
              <a:buNone/>
            </a:pPr>
            <a:r>
              <a:rPr lang="en-US" sz="1500" b="1" dirty="0">
                <a:solidFill>
                  <a:srgbClr val="F1F0EA"/>
                </a:solidFill>
              </a:rPr>
              <a:t>Density, not intelligence</a:t>
            </a:r>
          </a:p>
          <a:p>
            <a:pPr marL="0" indent="0">
              <a:lnSpc>
                <a:spcPts val="1750"/>
              </a:lnSpc>
              <a:spcBef>
                <a:spcPts val="500"/>
              </a:spcBef>
              <a:buNone/>
            </a:pPr>
            <a:r>
              <a:rPr lang="en-US" sz="1400" dirty="0">
                <a:solidFill>
                  <a:srgbClr val="AEB6C2"/>
                </a:solidFill>
              </a:rPr>
              <a:t>RL rewards more capability per parameter — maximizing intelligence density, which isn't the same as intelligence.</a:t>
            </a:r>
          </a:p>
        </p:txBody>
      </p:sp>
      <p:sp>
        <p:nvSpPr>
          <p:cNvPr id="63" name="Callout BG"/>
          <p:cNvSpPr/>
          <p:nvPr/>
        </p:nvSpPr>
        <p:spPr>
          <a:xfrm>
            <a:off x="546100" y="4089400"/>
            <a:ext cx="8128000" cy="787400"/>
          </a:xfrm>
          <a:prstGeom prst="roundRect">
            <a:avLst/>
          </a:prstGeom>
          <a:solidFill>
            <a:srgbClr val="28324A"/>
          </a:solidFill>
          <a:ln>
            <a:noFill/>
          </a:ln>
        </p:spPr>
        <p:txBody>
          <a:bodyPr/>
          <a:lstStyle/>
          <a:p>
            <a:endParaRPr/>
          </a:p>
        </p:txBody>
      </p:sp>
      <p:sp>
        <p:nvSpPr>
          <p:cNvPr id="64" name="Accent bar"/>
          <p:cNvSpPr/>
          <p:nvPr/>
        </p:nvSpPr>
        <p:spPr>
          <a:xfrm>
            <a:off x="546100" y="4089400"/>
            <a:ext cx="63500" cy="787400"/>
          </a:xfrm>
          <a:prstGeom prst="rect">
            <a:avLst/>
          </a:prstGeom>
          <a:solidFill>
            <a:srgbClr val="7FB69E"/>
          </a:solidFill>
          <a:ln>
            <a:noFill/>
          </a:ln>
        </p:spPr>
        <p:txBody>
          <a:bodyPr/>
          <a:lstStyle/>
          <a:p>
            <a:endParaRPr/>
          </a:p>
        </p:txBody>
      </p:sp>
      <p:sp>
        <p:nvSpPr>
          <p:cNvPr id="65" name="Callout Text"/>
          <p:cNvSpPr txBox="1"/>
          <p:nvPr/>
        </p:nvSpPr>
        <p:spPr>
          <a:xfrm>
            <a:off x="812800" y="4089400"/>
            <a:ext cx="7620000" cy="787400"/>
          </a:xfrm>
          <a:prstGeom prst="rect">
            <a:avLst/>
          </a:prstGeom>
          <a:noFill/>
        </p:spPr>
        <p:txBody>
          <a:bodyPr wrap="square" lIns="0" tIns="0" rIns="0" bIns="0" anchor="ctr">
            <a:normAutofit/>
          </a:bodyPr>
          <a:lstStyle/>
          <a:p>
            <a:pPr marL="0" indent="0">
              <a:buNone/>
            </a:pPr>
            <a:r>
              <a:rPr lang="en-US" sz="1600" i="1" dirty="0">
                <a:solidFill>
                  <a:srgbClr val="F1F0EA"/>
                </a:solidFill>
              </a:rPr>
              <a:t>So — what are we actually compressing when we RL these models?</a:t>
            </a:r>
          </a:p>
        </p:txBody>
      </p:sp>
    </p:spTree>
    <p:extLst>
      <p:ext uri="{BB962C8B-B14F-4D97-AF65-F5344CB8AC3E}">
        <p14:creationId xmlns:p14="http://schemas.microsoft.com/office/powerpoint/2010/main" val="4172586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A1F2A"/>
        </a:solidFill>
        <a:effectLst/>
      </p:bgPr>
    </p:bg>
    <p:spTree>
      <p:nvGrpSpPr>
        <p:cNvPr id="1" name="">
          <a:extLst>
            <a:ext uri="{FF2B5EF4-FFF2-40B4-BE49-F238E27FC236}">
              <a16:creationId xmlns:a16="http://schemas.microsoft.com/office/drawing/2014/main" id="{1210E313-1F9A-D21E-FF52-E7F731ADEF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C8F8BF0-A96F-7683-E68F-62B55D75ADC7}"/>
              </a:ext>
            </a:extLst>
          </p:cNvPr>
          <p:cNvSpPr/>
          <p:nvPr/>
        </p:nvSpPr>
        <p:spPr>
          <a:xfrm>
            <a:off x="548640" y="274320"/>
            <a:ext cx="2743200" cy="274320"/>
          </a:xfrm>
          <a:prstGeom prst="rect">
            <a:avLst/>
          </a:prstGeom>
          <a:noFill/>
          <a:ln/>
        </p:spPr>
        <p:txBody>
          <a:bodyPr wrap="square" lIns="0" tIns="0" rIns="0" bIns="0" rtlCol="0" anchor="ctr"/>
          <a:lstStyle/>
          <a:p>
            <a:r>
              <a:rPr lang="en-US" sz="900" b="1" kern="0" spc="400">
                <a:solidFill>
                  <a:srgbClr val="7FB69E"/>
                </a:solidFill>
                <a:latin typeface="Calibri" pitchFamily="34" charset="0"/>
              </a:rPr>
              <a:t>INTELLIGENCE DENSITY</a:t>
            </a:r>
          </a:p>
        </p:txBody>
      </p:sp>
      <p:sp>
        <p:nvSpPr>
          <p:cNvPr id="3" name="Text 1">
            <a:extLst>
              <a:ext uri="{FF2B5EF4-FFF2-40B4-BE49-F238E27FC236}">
                <a16:creationId xmlns:a16="http://schemas.microsoft.com/office/drawing/2014/main" id="{59F9DBDA-CFF2-DD92-8A5C-51D956FBD124}"/>
              </a:ext>
            </a:extLst>
          </p:cNvPr>
          <p:cNvSpPr/>
          <p:nvPr/>
        </p:nvSpPr>
        <p:spPr>
          <a:xfrm>
            <a:off x="548640" y="640080"/>
            <a:ext cx="8229600" cy="640080"/>
          </a:xfrm>
          <a:prstGeom prst="rect">
            <a:avLst/>
          </a:prstGeom>
          <a:noFill/>
          <a:ln/>
        </p:spPr>
        <p:txBody>
          <a:bodyPr wrap="square" lIns="0" tIns="0" rIns="0" bIns="0" rtlCol="0" anchor="ctr"/>
          <a:lstStyle/>
          <a:p>
            <a:pPr marL="0" indent="0">
              <a:buNone/>
            </a:pPr>
            <a:r>
              <a:rPr lang="en-US" sz="3400" b="1" dirty="0">
                <a:solidFill>
                  <a:srgbClr val="F1F0EA"/>
                </a:solidFill>
                <a:latin typeface="Georgia" pitchFamily="34" charset="0"/>
                <a:ea typeface="Georgia" pitchFamily="34" charset="-122"/>
                <a:cs typeface="Georgia" pitchFamily="34" charset="-120"/>
              </a:rPr>
              <a:t>Personal observation</a:t>
            </a:r>
            <a:endParaRPr lang="en-US" sz="3400" dirty="0"/>
          </a:p>
        </p:txBody>
      </p:sp>
      <p:sp>
        <p:nvSpPr>
          <p:cNvPr id="4" name="TextBox 3">
            <a:extLst>
              <a:ext uri="{FF2B5EF4-FFF2-40B4-BE49-F238E27FC236}">
                <a16:creationId xmlns:a16="http://schemas.microsoft.com/office/drawing/2014/main" id="{29CA1E31-8CDE-67DC-C96B-FC15B8BE16B0}"/>
              </a:ext>
            </a:extLst>
          </p:cNvPr>
          <p:cNvSpPr txBox="1"/>
          <p:nvPr/>
        </p:nvSpPr>
        <p:spPr>
          <a:xfrm>
            <a:off x="548640" y="1494263"/>
            <a:ext cx="8138160" cy="923330"/>
          </a:xfrm>
          <a:prstGeom prst="rect">
            <a:avLst/>
          </a:prstGeom>
          <a:noFill/>
        </p:spPr>
        <p:txBody>
          <a:bodyPr wrap="square" rtlCol="0">
            <a:spAutoFit/>
          </a:bodyPr>
          <a:lstStyle/>
          <a:p>
            <a:r>
              <a:rPr lang="en-US" dirty="0">
                <a:solidFill>
                  <a:schemeClr val="bg1"/>
                </a:solidFill>
              </a:rPr>
              <a:t>Since compression and intelligence are mathematically correlated, and such a link is observed empirically in LLMs, should we train agents to forget easily retrievable facts, so that parameters encode abstract reasoning ability rather than historical data?</a:t>
            </a:r>
          </a:p>
        </p:txBody>
      </p:sp>
      <p:sp>
        <p:nvSpPr>
          <p:cNvPr id="5" name="TextBox 4">
            <a:extLst>
              <a:ext uri="{FF2B5EF4-FFF2-40B4-BE49-F238E27FC236}">
                <a16:creationId xmlns:a16="http://schemas.microsoft.com/office/drawing/2014/main" id="{396270FE-A002-5650-AF9C-257CCAEAD5B8}"/>
              </a:ext>
            </a:extLst>
          </p:cNvPr>
          <p:cNvSpPr txBox="1"/>
          <p:nvPr/>
        </p:nvSpPr>
        <p:spPr>
          <a:xfrm>
            <a:off x="502920" y="3468858"/>
            <a:ext cx="8138160" cy="369332"/>
          </a:xfrm>
          <a:prstGeom prst="rect">
            <a:avLst/>
          </a:prstGeom>
          <a:noFill/>
        </p:spPr>
        <p:txBody>
          <a:bodyPr wrap="square" rtlCol="0">
            <a:spAutoFit/>
          </a:bodyPr>
          <a:lstStyle/>
          <a:p>
            <a:pPr algn="ctr"/>
            <a:r>
              <a:rPr lang="en-US" b="1" dirty="0">
                <a:solidFill>
                  <a:srgbClr val="3BFDB2"/>
                </a:solidFill>
              </a:rPr>
              <a:t>OF COURSE!</a:t>
            </a:r>
          </a:p>
        </p:txBody>
      </p:sp>
      <p:sp>
        <p:nvSpPr>
          <p:cNvPr id="6" name="TextBox 5">
            <a:extLst>
              <a:ext uri="{FF2B5EF4-FFF2-40B4-BE49-F238E27FC236}">
                <a16:creationId xmlns:a16="http://schemas.microsoft.com/office/drawing/2014/main" id="{BE9EA3E5-11D5-4987-CF5F-C5AEB05FFB63}"/>
              </a:ext>
            </a:extLst>
          </p:cNvPr>
          <p:cNvSpPr txBox="1"/>
          <p:nvPr/>
        </p:nvSpPr>
        <p:spPr>
          <a:xfrm>
            <a:off x="502920" y="3866727"/>
            <a:ext cx="8138160" cy="369332"/>
          </a:xfrm>
          <a:prstGeom prst="rect">
            <a:avLst/>
          </a:prstGeom>
          <a:noFill/>
        </p:spPr>
        <p:txBody>
          <a:bodyPr wrap="square" rtlCol="0">
            <a:spAutoFit/>
          </a:bodyPr>
          <a:lstStyle/>
          <a:p>
            <a:pPr algn="ctr"/>
            <a:r>
              <a:rPr lang="en-US" dirty="0">
                <a:solidFill>
                  <a:srgbClr val="3BFDB2"/>
                </a:solidFill>
              </a:rPr>
              <a:t>(otherwise, they’ll never learn to draw pelicans)</a:t>
            </a:r>
          </a:p>
        </p:txBody>
      </p:sp>
      <p:sp>
        <p:nvSpPr>
          <p:cNvPr id="7" name="TextBox 6">
            <a:extLst>
              <a:ext uri="{FF2B5EF4-FFF2-40B4-BE49-F238E27FC236}">
                <a16:creationId xmlns:a16="http://schemas.microsoft.com/office/drawing/2014/main" id="{7148FE0D-38D4-1479-0597-B1E4E2C84844}"/>
              </a:ext>
            </a:extLst>
          </p:cNvPr>
          <p:cNvSpPr txBox="1"/>
          <p:nvPr/>
        </p:nvSpPr>
        <p:spPr>
          <a:xfrm>
            <a:off x="502920" y="4200378"/>
            <a:ext cx="8138160" cy="369332"/>
          </a:xfrm>
          <a:prstGeom prst="rect">
            <a:avLst/>
          </a:prstGeom>
          <a:noFill/>
        </p:spPr>
        <p:txBody>
          <a:bodyPr wrap="square" rtlCol="0">
            <a:spAutoFit/>
          </a:bodyPr>
          <a:lstStyle/>
          <a:p>
            <a:pPr algn="ctr"/>
            <a:r>
              <a:rPr lang="en-US" dirty="0">
                <a:solidFill>
                  <a:srgbClr val="3BFDB2"/>
                </a:solidFill>
              </a:rPr>
              <a:t>(or presentation slides)</a:t>
            </a:r>
          </a:p>
        </p:txBody>
      </p:sp>
      <p:pic>
        <p:nvPicPr>
          <p:cNvPr id="8" name="Copied Picture 8" descr="A green puppet with a black hood&#10;&#10;AI-generated content may be incorrect.">
            <a:extLst>
              <a:ext uri="{FF2B5EF4-FFF2-40B4-BE49-F238E27FC236}">
                <a16:creationId xmlns:a16="http://schemas.microsoft.com/office/drawing/2014/main" id="{EF670BA1-F204-FD1C-C325-6D331DA6C95D}"/>
              </a:ext>
            </a:extLst>
          </p:cNvPr>
          <p:cNvPicPr>
            <a:picLocks noChangeAspect="1"/>
          </p:cNvPicPr>
          <p:nvPr/>
        </p:nvPicPr>
        <p:blipFill>
          <a:blip r:embed="rId3"/>
          <a:stretch>
            <a:fillRect/>
          </a:stretch>
        </p:blipFill>
        <p:spPr>
          <a:xfrm>
            <a:off x="3581400" y="2463800"/>
            <a:ext cx="1320800" cy="965200"/>
          </a:xfrm>
          <a:prstGeom prst="rect">
            <a:avLst/>
          </a:prstGeom>
        </p:spPr>
      </p:pic>
      <p:sp>
        <p:nvSpPr>
          <p:cNvPr id="9" name="TextBox 8">
            <a:extLst>
              <a:ext uri="{FF2B5EF4-FFF2-40B4-BE49-F238E27FC236}">
                <a16:creationId xmlns:a16="http://schemas.microsoft.com/office/drawing/2014/main" id="{EA6AE76B-0D56-3647-BFAA-E09CA3F5B60D}"/>
              </a:ext>
            </a:extLst>
          </p:cNvPr>
          <p:cNvSpPr txBox="1"/>
          <p:nvPr/>
        </p:nvSpPr>
        <p:spPr>
          <a:xfrm>
            <a:off x="5054600" y="2717800"/>
            <a:ext cx="3632200" cy="5588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train it to forget easily-Googled facts</a:t>
            </a:r>
          </a:p>
        </p:txBody>
      </p:sp>
    </p:spTree>
    <p:extLst>
      <p:ext uri="{BB962C8B-B14F-4D97-AF65-F5344CB8AC3E}">
        <p14:creationId xmlns:p14="http://schemas.microsoft.com/office/powerpoint/2010/main" val="42554740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19">
    <p:bg>
      <p:bgPr>
        <a:solidFill>
          <a:srgbClr val="0D141F"/>
        </a:solidFill>
        <a:effectLst/>
      </p:bgPr>
    </p:bg>
    <p:spTree>
      <p:nvGrpSpPr>
        <p:cNvPr id="1" name=""/>
        <p:cNvGrpSpPr/>
        <p:nvPr/>
      </p:nvGrpSpPr>
      <p:grpSpPr>
        <a:xfrm>
          <a:off x="0" y="0"/>
          <a:ext cx="0" cy="0"/>
          <a:chOff x="0" y="0"/>
          <a:chExt cx="0" cy="0"/>
        </a:xfrm>
      </p:grpSpPr>
      <p:sp>
        <p:nvSpPr>
          <p:cNvPr id="3" name="Text 1"/>
          <p:cNvSpPr/>
          <p:nvPr/>
        </p:nvSpPr>
        <p:spPr>
          <a:xfrm>
            <a:off x="548640" y="274320"/>
            <a:ext cx="8229600" cy="548640"/>
          </a:xfrm>
          <a:prstGeom prst="rect">
            <a:avLst/>
          </a:prstGeom>
          <a:noFill/>
          <a:ln/>
        </p:spPr>
        <p:txBody>
          <a:bodyPr wrap="square" lIns="0" tIns="0" rIns="0" bIns="0" rtlCol="0" anchor="ctr"/>
          <a:lstStyle/>
          <a:p>
            <a:pPr marL="0" indent="0">
              <a:buNone/>
            </a:pPr>
            <a:r>
              <a:rPr lang="en-US" sz="2800" b="1">
                <a:solidFill>
                  <a:srgbClr val="F1F0EA"/>
                </a:solidFill>
                <a:latin typeface="Georgia" pitchFamily="34" charset="0"/>
                <a:ea typeface="Georgia" pitchFamily="34" charset="-122"/>
                <a:cs typeface="Georgia" pitchFamily="34" charset="-120"/>
              </a:rPr>
              <a:t>The arc of the argument</a:t>
            </a:r>
            <a:endParaRPr lang="en-US" sz="2800"/>
          </a:p>
        </p:txBody>
      </p:sp>
      <p:sp>
        <p:nvSpPr>
          <p:cNvPr id="4" name="Shape 2"/>
          <p:cNvSpPr/>
          <p:nvPr/>
        </p:nvSpPr>
        <p:spPr>
          <a:xfrm>
            <a:off x="548640" y="1051560"/>
            <a:ext cx="457200" cy="457200"/>
          </a:xfrm>
          <a:prstGeom prst="ellipse">
            <a:avLst/>
          </a:prstGeom>
          <a:solidFill>
            <a:srgbClr val="7FB69E"/>
          </a:solidFill>
          <a:ln/>
        </p:spPr>
        <p:txBody>
          <a:bodyPr/>
          <a:lstStyle/>
          <a:p>
            <a:endParaRPr lang="en-US"/>
          </a:p>
        </p:txBody>
      </p:sp>
      <p:sp>
        <p:nvSpPr>
          <p:cNvPr id="5" name="Text 3"/>
          <p:cNvSpPr/>
          <p:nvPr/>
        </p:nvSpPr>
        <p:spPr>
          <a:xfrm>
            <a:off x="548640" y="1051560"/>
            <a:ext cx="457200" cy="457200"/>
          </a:xfrm>
          <a:prstGeom prst="rect">
            <a:avLst/>
          </a:prstGeom>
          <a:noFill/>
          <a:ln/>
        </p:spPr>
        <p:txBody>
          <a:bodyPr wrap="square" lIns="0" tIns="0" rIns="0" bIns="0" rtlCol="0" anchor="ctr"/>
          <a:lstStyle/>
          <a:p>
            <a:pPr marL="0" indent="0" algn="ctr">
              <a:buNone/>
            </a:pPr>
            <a:r>
              <a:rPr lang="en-US" sz="1800" b="1">
                <a:solidFill>
                  <a:srgbClr val="0A1220"/>
                </a:solidFill>
                <a:latin typeface="Georgia" pitchFamily="34" charset="0"/>
                <a:ea typeface="Georgia" pitchFamily="34" charset="-122"/>
                <a:cs typeface="Georgia" pitchFamily="34" charset="-120"/>
              </a:rPr>
              <a:t>1</a:t>
            </a:r>
            <a:endParaRPr lang="en-US" sz="1800"/>
          </a:p>
        </p:txBody>
      </p:sp>
      <p:sp>
        <p:nvSpPr>
          <p:cNvPr id="6" name="Text 4"/>
          <p:cNvSpPr/>
          <p:nvPr/>
        </p:nvSpPr>
        <p:spPr>
          <a:xfrm>
            <a:off x="1188720" y="1005840"/>
            <a:ext cx="7498080" cy="548640"/>
          </a:xfrm>
          <a:prstGeom prst="rect">
            <a:avLst/>
          </a:prstGeom>
          <a:noFill/>
          <a:ln/>
        </p:spPr>
        <p:txBody>
          <a:bodyPr wrap="square" lIns="0" tIns="0" rIns="0" bIns="0" rtlCol="0" anchor="ctr"/>
          <a:lstStyle/>
          <a:p>
            <a:pPr marL="0" indent="0">
              <a:buNone/>
            </a:pPr>
            <a:r>
              <a:rPr lang="en-US" sz="1500">
                <a:solidFill>
                  <a:srgbClr val="F1F0EA"/>
                </a:solidFill>
                <a:latin typeface="Calibri" pitchFamily="34" charset="0"/>
                <a:ea typeface="Calibri" pitchFamily="34" charset="-122"/>
                <a:cs typeface="Calibri" pitchFamily="34" charset="-120"/>
              </a:rPr>
              <a:t>Information is measurable in bits (Shannon, 1948)</a:t>
            </a:r>
            <a:endParaRPr lang="en-US" sz="1500"/>
          </a:p>
        </p:txBody>
      </p:sp>
      <p:sp>
        <p:nvSpPr>
          <p:cNvPr id="7" name="Shape 5"/>
          <p:cNvSpPr/>
          <p:nvPr/>
        </p:nvSpPr>
        <p:spPr>
          <a:xfrm>
            <a:off x="548640" y="1618488"/>
            <a:ext cx="457200" cy="457200"/>
          </a:xfrm>
          <a:prstGeom prst="ellipse">
            <a:avLst/>
          </a:prstGeom>
          <a:solidFill>
            <a:srgbClr val="A8CFC0"/>
          </a:solidFill>
          <a:ln/>
        </p:spPr>
        <p:txBody>
          <a:bodyPr/>
          <a:lstStyle/>
          <a:p>
            <a:endParaRPr lang="en-US"/>
          </a:p>
        </p:txBody>
      </p:sp>
      <p:sp>
        <p:nvSpPr>
          <p:cNvPr id="8" name="Text 6"/>
          <p:cNvSpPr/>
          <p:nvPr/>
        </p:nvSpPr>
        <p:spPr>
          <a:xfrm>
            <a:off x="548640" y="1618488"/>
            <a:ext cx="457200" cy="457200"/>
          </a:xfrm>
          <a:prstGeom prst="rect">
            <a:avLst/>
          </a:prstGeom>
          <a:noFill/>
          <a:ln/>
        </p:spPr>
        <p:txBody>
          <a:bodyPr wrap="square" lIns="0" tIns="0" rIns="0" bIns="0" rtlCol="0" anchor="ctr"/>
          <a:lstStyle/>
          <a:p>
            <a:pPr marL="0" indent="0" algn="ctr">
              <a:buNone/>
            </a:pPr>
            <a:r>
              <a:rPr lang="en-US" sz="1800" b="1">
                <a:solidFill>
                  <a:srgbClr val="0A1220"/>
                </a:solidFill>
                <a:latin typeface="Georgia" pitchFamily="34" charset="0"/>
                <a:ea typeface="Georgia" pitchFamily="34" charset="-122"/>
                <a:cs typeface="Georgia" pitchFamily="34" charset="-120"/>
              </a:rPr>
              <a:t>2</a:t>
            </a:r>
            <a:endParaRPr lang="en-US" sz="1800"/>
          </a:p>
        </p:txBody>
      </p:sp>
      <p:sp>
        <p:nvSpPr>
          <p:cNvPr id="9" name="Text 7"/>
          <p:cNvSpPr/>
          <p:nvPr/>
        </p:nvSpPr>
        <p:spPr>
          <a:xfrm>
            <a:off x="1188720" y="1572768"/>
            <a:ext cx="7498080" cy="548640"/>
          </a:xfrm>
          <a:prstGeom prst="rect">
            <a:avLst/>
          </a:prstGeom>
          <a:noFill/>
          <a:ln/>
        </p:spPr>
        <p:txBody>
          <a:bodyPr wrap="square" lIns="0" tIns="0" rIns="0" bIns="0" rtlCol="0" anchor="ctr"/>
          <a:lstStyle/>
          <a:p>
            <a:pPr marL="0" indent="0">
              <a:buNone/>
            </a:pPr>
            <a:r>
              <a:rPr lang="en-US" sz="1500">
                <a:solidFill>
                  <a:srgbClr val="F1F0EA"/>
                </a:solidFill>
                <a:latin typeface="Calibri" pitchFamily="34" charset="0"/>
                <a:ea typeface="Calibri" pitchFamily="34" charset="-122"/>
                <a:cs typeface="Calibri" pitchFamily="34" charset="-120"/>
              </a:rPr>
              <a:t>Prediction and compression are mathematically identical</a:t>
            </a:r>
            <a:endParaRPr lang="en-US" sz="1500"/>
          </a:p>
        </p:txBody>
      </p:sp>
      <p:sp>
        <p:nvSpPr>
          <p:cNvPr id="10" name="Shape 8"/>
          <p:cNvSpPr/>
          <p:nvPr/>
        </p:nvSpPr>
        <p:spPr>
          <a:xfrm>
            <a:off x="548640" y="2185416"/>
            <a:ext cx="457200" cy="457200"/>
          </a:xfrm>
          <a:prstGeom prst="ellipse">
            <a:avLst/>
          </a:prstGeom>
          <a:solidFill>
            <a:srgbClr val="7FB69E"/>
          </a:solidFill>
          <a:ln/>
        </p:spPr>
        <p:txBody>
          <a:bodyPr/>
          <a:lstStyle/>
          <a:p>
            <a:endParaRPr lang="en-US"/>
          </a:p>
        </p:txBody>
      </p:sp>
      <p:sp>
        <p:nvSpPr>
          <p:cNvPr id="11" name="Text 9"/>
          <p:cNvSpPr/>
          <p:nvPr/>
        </p:nvSpPr>
        <p:spPr>
          <a:xfrm>
            <a:off x="548640" y="2185416"/>
            <a:ext cx="457200" cy="457200"/>
          </a:xfrm>
          <a:prstGeom prst="rect">
            <a:avLst/>
          </a:prstGeom>
          <a:noFill/>
          <a:ln/>
        </p:spPr>
        <p:txBody>
          <a:bodyPr wrap="square" lIns="0" tIns="0" rIns="0" bIns="0" rtlCol="0" anchor="ctr"/>
          <a:lstStyle/>
          <a:p>
            <a:pPr marL="0" indent="0" algn="ctr">
              <a:buNone/>
            </a:pPr>
            <a:r>
              <a:rPr lang="en-US" sz="1800" b="1">
                <a:solidFill>
                  <a:srgbClr val="0A1220"/>
                </a:solidFill>
                <a:latin typeface="Georgia" pitchFamily="34" charset="0"/>
                <a:ea typeface="Georgia" pitchFamily="34" charset="-122"/>
                <a:cs typeface="Georgia" pitchFamily="34" charset="-120"/>
              </a:rPr>
              <a:t>3</a:t>
            </a:r>
            <a:endParaRPr lang="en-US" sz="1800"/>
          </a:p>
        </p:txBody>
      </p:sp>
      <p:sp>
        <p:nvSpPr>
          <p:cNvPr id="12" name="Text 10"/>
          <p:cNvSpPr/>
          <p:nvPr/>
        </p:nvSpPr>
        <p:spPr>
          <a:xfrm>
            <a:off x="1188720" y="2139696"/>
            <a:ext cx="7498080" cy="548640"/>
          </a:xfrm>
          <a:prstGeom prst="rect">
            <a:avLst/>
          </a:prstGeom>
          <a:noFill/>
          <a:ln/>
        </p:spPr>
        <p:txBody>
          <a:bodyPr wrap="square" lIns="0" tIns="0" rIns="0" bIns="0" rtlCol="0" anchor="ctr"/>
          <a:lstStyle/>
          <a:p>
            <a:pPr marL="0" indent="0">
              <a:buNone/>
            </a:pPr>
            <a:r>
              <a:rPr lang="en-US" sz="1500">
                <a:solidFill>
                  <a:srgbClr val="F1F0EA"/>
                </a:solidFill>
                <a:latin typeface="Calibri" pitchFamily="34" charset="0"/>
                <a:ea typeface="Calibri" pitchFamily="34" charset="-122"/>
                <a:cs typeface="Calibri" pitchFamily="34" charset="-120"/>
              </a:rPr>
              <a:t>LLMs compress 60 TB → 2 GB of effective information at ~2 bits/parameter</a:t>
            </a:r>
            <a:endParaRPr lang="en-US" sz="1500"/>
          </a:p>
        </p:txBody>
      </p:sp>
      <p:sp>
        <p:nvSpPr>
          <p:cNvPr id="13" name="Shape 11"/>
          <p:cNvSpPr/>
          <p:nvPr/>
        </p:nvSpPr>
        <p:spPr>
          <a:xfrm>
            <a:off x="548640" y="2752344"/>
            <a:ext cx="457200" cy="457200"/>
          </a:xfrm>
          <a:prstGeom prst="ellipse">
            <a:avLst/>
          </a:prstGeom>
          <a:solidFill>
            <a:srgbClr val="E0A458"/>
          </a:solidFill>
          <a:ln/>
        </p:spPr>
        <p:txBody>
          <a:bodyPr/>
          <a:lstStyle/>
          <a:p>
            <a:endParaRPr lang="en-US"/>
          </a:p>
        </p:txBody>
      </p:sp>
      <p:sp>
        <p:nvSpPr>
          <p:cNvPr id="14" name="Text 12"/>
          <p:cNvSpPr/>
          <p:nvPr/>
        </p:nvSpPr>
        <p:spPr>
          <a:xfrm>
            <a:off x="548640" y="2752344"/>
            <a:ext cx="457200" cy="457200"/>
          </a:xfrm>
          <a:prstGeom prst="rect">
            <a:avLst/>
          </a:prstGeom>
          <a:noFill/>
          <a:ln/>
        </p:spPr>
        <p:txBody>
          <a:bodyPr wrap="square" lIns="0" tIns="0" rIns="0" bIns="0" rtlCol="0" anchor="ctr"/>
          <a:lstStyle/>
          <a:p>
            <a:pPr marL="0" indent="0" algn="ctr">
              <a:buNone/>
            </a:pPr>
            <a:r>
              <a:rPr lang="en-US" sz="1800" b="1">
                <a:solidFill>
                  <a:srgbClr val="0A1220"/>
                </a:solidFill>
                <a:latin typeface="Georgia" pitchFamily="34" charset="0"/>
                <a:ea typeface="Georgia" pitchFamily="34" charset="-122"/>
                <a:cs typeface="Georgia" pitchFamily="34" charset="-120"/>
              </a:rPr>
              <a:t>4</a:t>
            </a:r>
            <a:endParaRPr lang="en-US" sz="1800"/>
          </a:p>
        </p:txBody>
      </p:sp>
      <p:sp>
        <p:nvSpPr>
          <p:cNvPr id="15" name="Text 13"/>
          <p:cNvSpPr/>
          <p:nvPr/>
        </p:nvSpPr>
        <p:spPr>
          <a:xfrm>
            <a:off x="1188720" y="2706624"/>
            <a:ext cx="7498080" cy="548640"/>
          </a:xfrm>
          <a:prstGeom prst="rect">
            <a:avLst/>
          </a:prstGeom>
          <a:noFill/>
          <a:ln/>
        </p:spPr>
        <p:txBody>
          <a:bodyPr wrap="square" lIns="0" tIns="0" rIns="0" bIns="0" rtlCol="0" anchor="ctr"/>
          <a:lstStyle/>
          <a:p>
            <a:pPr marL="0" indent="0">
              <a:buNone/>
            </a:pPr>
            <a:r>
              <a:rPr lang="en-US" sz="1500">
                <a:solidFill>
                  <a:srgbClr val="F1F0EA"/>
                </a:solidFill>
                <a:latin typeface="Calibri" pitchFamily="34" charset="0"/>
                <a:ea typeface="Calibri" pitchFamily="34" charset="-122"/>
                <a:cs typeface="Calibri" pitchFamily="34" charset="-120"/>
              </a:rPr>
              <a:t>Compression efficiency correlates almost linearly with intelligence (ρ ≈ −0.95)</a:t>
            </a:r>
            <a:endParaRPr lang="en-US" sz="1500"/>
          </a:p>
        </p:txBody>
      </p:sp>
      <p:sp>
        <p:nvSpPr>
          <p:cNvPr id="16" name="Shape 14"/>
          <p:cNvSpPr/>
          <p:nvPr/>
        </p:nvSpPr>
        <p:spPr>
          <a:xfrm>
            <a:off x="548640" y="3319272"/>
            <a:ext cx="457200" cy="457200"/>
          </a:xfrm>
          <a:prstGeom prst="ellipse">
            <a:avLst/>
          </a:prstGeom>
          <a:solidFill>
            <a:srgbClr val="E0A458"/>
          </a:solidFill>
          <a:ln/>
        </p:spPr>
        <p:txBody>
          <a:bodyPr/>
          <a:lstStyle/>
          <a:p>
            <a:endParaRPr lang="en-US"/>
          </a:p>
        </p:txBody>
      </p:sp>
      <p:sp>
        <p:nvSpPr>
          <p:cNvPr id="17" name="Text 15"/>
          <p:cNvSpPr/>
          <p:nvPr/>
        </p:nvSpPr>
        <p:spPr>
          <a:xfrm>
            <a:off x="548640" y="3319272"/>
            <a:ext cx="457200" cy="457200"/>
          </a:xfrm>
          <a:prstGeom prst="rect">
            <a:avLst/>
          </a:prstGeom>
          <a:noFill/>
          <a:ln/>
        </p:spPr>
        <p:txBody>
          <a:bodyPr wrap="square" lIns="0" tIns="0" rIns="0" bIns="0" rtlCol="0" anchor="ctr"/>
          <a:lstStyle/>
          <a:p>
            <a:pPr marL="0" indent="0" algn="ctr">
              <a:buNone/>
            </a:pPr>
            <a:r>
              <a:rPr lang="en-US" sz="1800" b="1">
                <a:solidFill>
                  <a:srgbClr val="0A1220"/>
                </a:solidFill>
                <a:latin typeface="Georgia" pitchFamily="34" charset="0"/>
                <a:ea typeface="Georgia" pitchFamily="34" charset="-122"/>
                <a:cs typeface="Georgia" pitchFamily="34" charset="-120"/>
              </a:rPr>
              <a:t>5</a:t>
            </a:r>
            <a:endParaRPr lang="en-US" sz="1800"/>
          </a:p>
        </p:txBody>
      </p:sp>
      <p:sp>
        <p:nvSpPr>
          <p:cNvPr id="18" name="Text 16"/>
          <p:cNvSpPr/>
          <p:nvPr/>
        </p:nvSpPr>
        <p:spPr>
          <a:xfrm>
            <a:off x="1188720" y="3273552"/>
            <a:ext cx="7498080" cy="548640"/>
          </a:xfrm>
          <a:prstGeom prst="rect">
            <a:avLst/>
          </a:prstGeom>
          <a:noFill/>
          <a:ln/>
        </p:spPr>
        <p:txBody>
          <a:bodyPr wrap="square" lIns="0" tIns="0" rIns="0" bIns="0" rtlCol="0" anchor="ctr"/>
          <a:lstStyle/>
          <a:p>
            <a:pPr marL="0" indent="0">
              <a:buNone/>
            </a:pPr>
            <a:r>
              <a:rPr lang="en-US" sz="1500">
                <a:solidFill>
                  <a:srgbClr val="F1F0EA"/>
                </a:solidFill>
                <a:latin typeface="Calibri" pitchFamily="34" charset="0"/>
                <a:ea typeface="Calibri" pitchFamily="34" charset="-122"/>
                <a:cs typeface="Calibri" pitchFamily="34" charset="-120"/>
              </a:rPr>
              <a:t>Intelligence can be defined as goal-achievement weighted by Occam's razor  (Υ)</a:t>
            </a:r>
            <a:endParaRPr lang="en-US" sz="1500"/>
          </a:p>
        </p:txBody>
      </p:sp>
      <p:sp>
        <p:nvSpPr>
          <p:cNvPr id="19" name="Shape 17"/>
          <p:cNvSpPr/>
          <p:nvPr/>
        </p:nvSpPr>
        <p:spPr>
          <a:xfrm>
            <a:off x="548640" y="3886200"/>
            <a:ext cx="457200" cy="457200"/>
          </a:xfrm>
          <a:prstGeom prst="ellipse">
            <a:avLst/>
          </a:prstGeom>
          <a:solidFill>
            <a:srgbClr val="FB8500"/>
          </a:solidFill>
          <a:ln/>
        </p:spPr>
        <p:txBody>
          <a:bodyPr/>
          <a:lstStyle/>
          <a:p>
            <a:endParaRPr lang="en-US"/>
          </a:p>
        </p:txBody>
      </p:sp>
      <p:sp>
        <p:nvSpPr>
          <p:cNvPr id="20" name="Text 18"/>
          <p:cNvSpPr/>
          <p:nvPr/>
        </p:nvSpPr>
        <p:spPr>
          <a:xfrm>
            <a:off x="548640" y="3886200"/>
            <a:ext cx="457200" cy="457200"/>
          </a:xfrm>
          <a:prstGeom prst="rect">
            <a:avLst/>
          </a:prstGeom>
          <a:noFill/>
          <a:ln/>
        </p:spPr>
        <p:txBody>
          <a:bodyPr wrap="square" lIns="0" tIns="0" rIns="0" bIns="0" rtlCol="0" anchor="ctr"/>
          <a:lstStyle/>
          <a:p>
            <a:pPr marL="0" indent="0" algn="ctr">
              <a:buNone/>
            </a:pPr>
            <a:r>
              <a:rPr lang="en-US" sz="1800" b="1">
                <a:solidFill>
                  <a:srgbClr val="0A1220"/>
                </a:solidFill>
                <a:latin typeface="Georgia" pitchFamily="34" charset="0"/>
                <a:ea typeface="Georgia" pitchFamily="34" charset="-122"/>
                <a:cs typeface="Georgia" pitchFamily="34" charset="-120"/>
              </a:rPr>
              <a:t>6</a:t>
            </a:r>
            <a:endParaRPr lang="en-US" sz="1800"/>
          </a:p>
        </p:txBody>
      </p:sp>
      <p:sp>
        <p:nvSpPr>
          <p:cNvPr id="21" name="Text 19"/>
          <p:cNvSpPr/>
          <p:nvPr/>
        </p:nvSpPr>
        <p:spPr>
          <a:xfrm>
            <a:off x="1188720" y="3840480"/>
            <a:ext cx="7498080" cy="548640"/>
          </a:xfrm>
          <a:prstGeom prst="rect">
            <a:avLst/>
          </a:prstGeom>
          <a:noFill/>
          <a:ln/>
        </p:spPr>
        <p:txBody>
          <a:bodyPr wrap="square" lIns="0" tIns="0" rIns="0" bIns="0" rtlCol="0" anchor="ctr"/>
          <a:lstStyle/>
          <a:p>
            <a:pPr marL="0" indent="0">
              <a:buNone/>
            </a:pPr>
            <a:r>
              <a:rPr lang="en-US" sz="1500">
                <a:solidFill>
                  <a:srgbClr val="F1F0EA"/>
                </a:solidFill>
                <a:latin typeface="Calibri" pitchFamily="34" charset="0"/>
                <a:ea typeface="Calibri" pitchFamily="34" charset="-122"/>
                <a:cs typeface="Calibri" pitchFamily="34" charset="-120"/>
              </a:rPr>
              <a:t>But Υ ignores the agent's own complexity — we need intelligence density  η = Υ / C</a:t>
            </a:r>
            <a:endParaRPr lang="en-US" sz="1500"/>
          </a:p>
        </p:txBody>
      </p:sp>
      <p:sp>
        <p:nvSpPr>
          <p:cNvPr id="22" name="Text 20"/>
          <p:cNvSpPr/>
          <p:nvPr/>
        </p:nvSpPr>
        <p:spPr>
          <a:xfrm>
            <a:off x="548640" y="4617720"/>
            <a:ext cx="8229600" cy="320040"/>
          </a:xfrm>
          <a:prstGeom prst="rect">
            <a:avLst/>
          </a:prstGeom>
          <a:noFill/>
          <a:ln/>
        </p:spPr>
        <p:txBody>
          <a:bodyPr wrap="square" lIns="0" tIns="0" rIns="0" bIns="0" rtlCol="0" anchor="ctr"/>
          <a:lstStyle/>
          <a:p>
            <a:pPr marL="0" indent="0">
              <a:buNone/>
            </a:pPr>
            <a:r>
              <a:rPr lang="en-US" sz="1300" i="1">
                <a:solidFill>
                  <a:srgbClr val="A8CFC0"/>
                </a:solidFill>
                <a:latin typeface="Georgia" pitchFamily="34" charset="0"/>
                <a:ea typeface="Georgia" pitchFamily="34" charset="-122"/>
                <a:cs typeface="Georgia" pitchFamily="34" charset="-120"/>
              </a:rPr>
              <a:t>The next breakthrough may come from maximizing intelligence per bit, not just total intelligence.</a:t>
            </a:r>
            <a:endParaRPr lang="en-US" sz="1300"/>
          </a:p>
        </p:txBody>
      </p:sp>
      <p:sp>
        <p:nvSpPr>
          <p:cNvPr id="23" name="TitleUnderline">
            <a:extLst>
              <a:ext uri="{FF2B5EF4-FFF2-40B4-BE49-F238E27FC236}">
                <a16:creationId xmlns:a16="http://schemas.microsoft.com/office/drawing/2014/main" id="{8BAFE758-17D7-294E-BB46-17CA01F84615}"/>
              </a:ext>
            </a:extLst>
          </p:cNvPr>
          <p:cNvSpPr/>
          <p:nvPr/>
        </p:nvSpPr>
        <p:spPr>
          <a:xfrm>
            <a:off x="546100" y="863600"/>
            <a:ext cx="4064000" cy="19050"/>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8040967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18">
    <p:bg>
      <p:bgPr>
        <a:solidFill>
          <a:srgbClr val="1A1F2A"/>
        </a:solidFill>
        <a:effectLst/>
      </p:bgPr>
    </p:bg>
    <p:spTree>
      <p:nvGrpSpPr>
        <p:cNvPr id="1" name=""/>
        <p:cNvGrpSpPr/>
        <p:nvPr/>
      </p:nvGrpSpPr>
      <p:grpSpPr>
        <a:xfrm>
          <a:off x="0" y="0"/>
          <a:ext cx="0" cy="0"/>
          <a:chOff x="0" y="0"/>
          <a:chExt cx="0" cy="0"/>
        </a:xfrm>
      </p:grpSpPr>
      <p:sp>
        <p:nvSpPr>
          <p:cNvPr id="3" name="Shape 1"/>
          <p:cNvSpPr/>
          <p:nvPr/>
        </p:nvSpPr>
        <p:spPr>
          <a:xfrm>
            <a:off x="512337" y="1211580"/>
            <a:ext cx="73152" cy="777240"/>
          </a:xfrm>
          <a:prstGeom prst="rect">
            <a:avLst/>
          </a:prstGeom>
          <a:solidFill>
            <a:srgbClr val="E0A458"/>
          </a:solidFill>
          <a:ln/>
        </p:spPr>
        <p:txBody>
          <a:bodyPr/>
          <a:lstStyle/>
          <a:p>
            <a:endParaRPr lang="en-US"/>
          </a:p>
        </p:txBody>
      </p:sp>
      <p:sp>
        <p:nvSpPr>
          <p:cNvPr id="4" name="Text 2"/>
          <p:cNvSpPr/>
          <p:nvPr/>
        </p:nvSpPr>
        <p:spPr>
          <a:xfrm>
            <a:off x="786657" y="1211580"/>
            <a:ext cx="7772400" cy="320040"/>
          </a:xfrm>
          <a:prstGeom prst="rect">
            <a:avLst/>
          </a:prstGeom>
          <a:noFill/>
          <a:ln/>
        </p:spPr>
        <p:txBody>
          <a:bodyPr wrap="square" lIns="0" tIns="0" rIns="0" bIns="0" rtlCol="0" anchor="ctr"/>
          <a:lstStyle/>
          <a:p>
            <a:pPr marL="0" indent="0">
              <a:buNone/>
            </a:pPr>
            <a:r>
              <a:rPr lang="en-US" sz="1600" b="1">
                <a:solidFill>
                  <a:srgbClr val="E0A458"/>
                </a:solidFill>
                <a:latin typeface="Georgia" pitchFamily="34" charset="0"/>
                <a:ea typeface="Georgia" pitchFamily="34" charset="-122"/>
                <a:cs typeface="Georgia" pitchFamily="34" charset="-120"/>
              </a:rPr>
              <a:t>Is η the right measure?</a:t>
            </a:r>
            <a:endParaRPr lang="en-US" sz="1600"/>
          </a:p>
        </p:txBody>
      </p:sp>
      <p:sp>
        <p:nvSpPr>
          <p:cNvPr id="5" name="Text 3"/>
          <p:cNvSpPr/>
          <p:nvPr/>
        </p:nvSpPr>
        <p:spPr>
          <a:xfrm>
            <a:off x="786657" y="1531620"/>
            <a:ext cx="7772400" cy="45720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Dividing two incomputable quantities is bold. Can the practical proxies (MDL, SLT λ, intrinsic dimensionality) be made rigorous enough?</a:t>
            </a:r>
            <a:endParaRPr lang="en-US" sz="1300"/>
          </a:p>
        </p:txBody>
      </p:sp>
      <p:sp>
        <p:nvSpPr>
          <p:cNvPr id="6" name="Shape 4"/>
          <p:cNvSpPr/>
          <p:nvPr/>
        </p:nvSpPr>
        <p:spPr>
          <a:xfrm>
            <a:off x="512337" y="2171700"/>
            <a:ext cx="73152" cy="777240"/>
          </a:xfrm>
          <a:prstGeom prst="rect">
            <a:avLst/>
          </a:prstGeom>
          <a:solidFill>
            <a:srgbClr val="E0A458"/>
          </a:solidFill>
          <a:ln/>
        </p:spPr>
        <p:txBody>
          <a:bodyPr/>
          <a:lstStyle/>
          <a:p>
            <a:endParaRPr lang="en-US">
              <a:solidFill>
                <a:schemeClr val="accent4">
                  <a:lumMod val="60000"/>
                  <a:lumOff val="40000"/>
                </a:schemeClr>
              </a:solidFill>
            </a:endParaRPr>
          </a:p>
        </p:txBody>
      </p:sp>
      <p:sp>
        <p:nvSpPr>
          <p:cNvPr id="7" name="Text 5"/>
          <p:cNvSpPr/>
          <p:nvPr/>
        </p:nvSpPr>
        <p:spPr>
          <a:xfrm>
            <a:off x="786657" y="2171700"/>
            <a:ext cx="7772400" cy="320040"/>
          </a:xfrm>
          <a:prstGeom prst="rect">
            <a:avLst/>
          </a:prstGeom>
          <a:noFill/>
          <a:ln/>
        </p:spPr>
        <p:txBody>
          <a:bodyPr wrap="square" lIns="0" tIns="0" rIns="0" bIns="0" rtlCol="0" anchor="ctr"/>
          <a:lstStyle/>
          <a:p>
            <a:pPr marL="0" indent="0">
              <a:buNone/>
            </a:pPr>
            <a:r>
              <a:rPr lang="en-US" sz="1600" b="1">
                <a:solidFill>
                  <a:srgbClr val="E1A457"/>
                </a:solidFill>
                <a:latin typeface="Georgia" pitchFamily="34" charset="0"/>
                <a:ea typeface="Georgia" pitchFamily="34" charset="-122"/>
                <a:cs typeface="Georgia" pitchFamily="34" charset="-120"/>
              </a:rPr>
              <a:t>Is current scaling constant-η?</a:t>
            </a:r>
            <a:endParaRPr lang="en-US" sz="1600">
              <a:solidFill>
                <a:srgbClr val="E1A457"/>
              </a:solidFill>
            </a:endParaRPr>
          </a:p>
        </p:txBody>
      </p:sp>
      <p:sp>
        <p:nvSpPr>
          <p:cNvPr id="8" name="Text 6"/>
          <p:cNvSpPr/>
          <p:nvPr/>
        </p:nvSpPr>
        <p:spPr>
          <a:xfrm>
            <a:off x="786657" y="2491740"/>
            <a:ext cx="7772400" cy="45720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An empirical question: measure C(θ) for all models in the Huang et al. dataset and check if η varies or stays flat.</a:t>
            </a:r>
            <a:endParaRPr lang="en-US" sz="1300"/>
          </a:p>
        </p:txBody>
      </p:sp>
      <p:sp>
        <p:nvSpPr>
          <p:cNvPr id="9" name="Shape 7"/>
          <p:cNvSpPr/>
          <p:nvPr/>
        </p:nvSpPr>
        <p:spPr>
          <a:xfrm>
            <a:off x="512337" y="3131820"/>
            <a:ext cx="73152" cy="777240"/>
          </a:xfrm>
          <a:prstGeom prst="rect">
            <a:avLst/>
          </a:prstGeom>
          <a:solidFill>
            <a:srgbClr val="E0A458"/>
          </a:solidFill>
          <a:ln/>
        </p:spPr>
        <p:txBody>
          <a:bodyPr/>
          <a:lstStyle/>
          <a:p>
            <a:endParaRPr lang="en-US"/>
          </a:p>
        </p:txBody>
      </p:sp>
      <p:sp>
        <p:nvSpPr>
          <p:cNvPr id="10" name="Text 8"/>
          <p:cNvSpPr/>
          <p:nvPr/>
        </p:nvSpPr>
        <p:spPr>
          <a:xfrm>
            <a:off x="786657" y="3131820"/>
            <a:ext cx="7772400" cy="320040"/>
          </a:xfrm>
          <a:prstGeom prst="rect">
            <a:avLst/>
          </a:prstGeom>
          <a:noFill/>
          <a:ln/>
        </p:spPr>
        <p:txBody>
          <a:bodyPr wrap="square" lIns="0" tIns="0" rIns="0" bIns="0" rtlCol="0" anchor="ctr"/>
          <a:lstStyle/>
          <a:p>
            <a:pPr marL="0" indent="0">
              <a:buNone/>
            </a:pPr>
            <a:r>
              <a:rPr lang="en-US" sz="1600" b="1">
                <a:solidFill>
                  <a:srgbClr val="E0A458"/>
                </a:solidFill>
                <a:latin typeface="Georgia" pitchFamily="34" charset="0"/>
                <a:ea typeface="Georgia" pitchFamily="34" charset="-122"/>
                <a:cs typeface="Georgia" pitchFamily="34" charset="-120"/>
              </a:rPr>
              <a:t>Can we build high-η systems directly?</a:t>
            </a:r>
            <a:endParaRPr lang="en-US" sz="1600"/>
          </a:p>
        </p:txBody>
      </p:sp>
      <p:sp>
        <p:nvSpPr>
          <p:cNvPr id="11" name="Text 9"/>
          <p:cNvSpPr/>
          <p:nvPr/>
        </p:nvSpPr>
        <p:spPr>
          <a:xfrm>
            <a:off x="786657" y="3451860"/>
            <a:ext cx="7772400" cy="45720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Instead of scaling parameters, optimize for intelligence density — compress more capability into fewer effective bits.</a:t>
            </a:r>
            <a:endParaRPr lang="en-US" sz="1300"/>
          </a:p>
        </p:txBody>
      </p:sp>
      <p:sp>
        <p:nvSpPr>
          <p:cNvPr id="12" name="Shape 10"/>
          <p:cNvSpPr/>
          <p:nvPr/>
        </p:nvSpPr>
        <p:spPr>
          <a:xfrm>
            <a:off x="512337" y="4091940"/>
            <a:ext cx="73152" cy="777240"/>
          </a:xfrm>
          <a:prstGeom prst="rect">
            <a:avLst/>
          </a:prstGeom>
          <a:solidFill>
            <a:srgbClr val="E0A458"/>
          </a:solidFill>
          <a:ln/>
        </p:spPr>
        <p:txBody>
          <a:bodyPr/>
          <a:lstStyle/>
          <a:p>
            <a:endParaRPr lang="en-US"/>
          </a:p>
        </p:txBody>
      </p:sp>
      <p:sp>
        <p:nvSpPr>
          <p:cNvPr id="13" name="Text 11"/>
          <p:cNvSpPr/>
          <p:nvPr/>
        </p:nvSpPr>
        <p:spPr>
          <a:xfrm>
            <a:off x="786657" y="4091940"/>
            <a:ext cx="7772400" cy="320040"/>
          </a:xfrm>
          <a:prstGeom prst="rect">
            <a:avLst/>
          </a:prstGeom>
          <a:noFill/>
          <a:ln/>
        </p:spPr>
        <p:txBody>
          <a:bodyPr wrap="square" lIns="0" tIns="0" rIns="0" bIns="0" rtlCol="0" anchor="ctr"/>
          <a:lstStyle/>
          <a:p>
            <a:pPr marL="0" indent="0">
              <a:buNone/>
            </a:pPr>
            <a:r>
              <a:rPr lang="en-US" sz="1600" b="1">
                <a:solidFill>
                  <a:srgbClr val="E0A458"/>
                </a:solidFill>
                <a:latin typeface="Georgia" pitchFamily="34" charset="0"/>
                <a:ea typeface="Georgia" pitchFamily="34" charset="-122"/>
                <a:cs typeface="Georgia" pitchFamily="34" charset="-120"/>
              </a:rPr>
              <a:t>Where does biological intelligence sit?</a:t>
            </a:r>
            <a:endParaRPr lang="en-US" sz="1600"/>
          </a:p>
        </p:txBody>
      </p:sp>
      <p:sp>
        <p:nvSpPr>
          <p:cNvPr id="14" name="Text 12"/>
          <p:cNvSpPr/>
          <p:nvPr/>
        </p:nvSpPr>
        <p:spPr>
          <a:xfrm>
            <a:off x="786657" y="4411980"/>
            <a:ext cx="7772400" cy="457200"/>
          </a:xfrm>
          <a:prstGeom prst="rect">
            <a:avLst/>
          </a:prstGeom>
          <a:noFill/>
          <a:ln/>
        </p:spPr>
        <p:txBody>
          <a:bodyPr wrap="square" lIns="0" tIns="0" rIns="0" bIns="0" rtlCol="0" anchor="ctr"/>
          <a:lstStyle/>
          <a:p>
            <a:pPr marL="0" indent="0">
              <a:buNone/>
            </a:pPr>
            <a:r>
              <a:rPr lang="en-US" sz="1300">
                <a:solidFill>
                  <a:srgbClr val="D8D6CE"/>
                </a:solidFill>
                <a:latin typeface="Calibri" pitchFamily="34" charset="0"/>
                <a:ea typeface="Calibri" pitchFamily="34" charset="-122"/>
                <a:cs typeface="Calibri" pitchFamily="34" charset="-120"/>
              </a:rPr>
              <a:t>The human brain: ~86 billion neurons, ~100 trillion synapses. What is its C? What is its η? Is it the Pareto frontier?</a:t>
            </a:r>
            <a:endParaRPr lang="en-US" sz="1300"/>
          </a:p>
        </p:txBody>
      </p:sp>
      <p:sp>
        <p:nvSpPr>
          <p:cNvPr id="15" name="Text 1">
            <a:extLst>
              <a:ext uri="{FF2B5EF4-FFF2-40B4-BE49-F238E27FC236}">
                <a16:creationId xmlns:a16="http://schemas.microsoft.com/office/drawing/2014/main" id="{B5EB7432-6AB0-0DDD-9605-0C3BACB6FAB5}"/>
              </a:ext>
            </a:extLst>
          </p:cNvPr>
          <p:cNvSpPr/>
          <p:nvPr/>
        </p:nvSpPr>
        <p:spPr>
          <a:xfrm>
            <a:off x="548640" y="274320"/>
            <a:ext cx="8229600" cy="548640"/>
          </a:xfrm>
          <a:prstGeom prst="rect">
            <a:avLst/>
          </a:prstGeom>
          <a:noFill/>
          <a:ln/>
        </p:spPr>
        <p:txBody>
          <a:bodyPr wrap="square" lIns="0" tIns="0" rIns="0" bIns="0" rtlCol="0" anchor="ctr"/>
          <a:lstStyle/>
          <a:p>
            <a:r>
              <a:rPr lang="en-US" sz="2800" b="1">
                <a:solidFill>
                  <a:srgbClr val="F1F0EA"/>
                </a:solidFill>
                <a:latin typeface="Georgia" pitchFamily="34" charset="0"/>
                <a:ea typeface="Georgia" pitchFamily="34" charset="-122"/>
                <a:cs typeface="Georgia" pitchFamily="34" charset="-120"/>
              </a:rPr>
              <a:t>Open questions</a:t>
            </a:r>
            <a:endParaRPr lang="en-US" sz="2800"/>
          </a:p>
        </p:txBody>
      </p:sp>
      <p:sp>
        <p:nvSpPr>
          <p:cNvPr id="16" name="TitleUnderline">
            <a:extLst>
              <a:ext uri="{FF2B5EF4-FFF2-40B4-BE49-F238E27FC236}">
                <a16:creationId xmlns:a16="http://schemas.microsoft.com/office/drawing/2014/main" id="{5FE716B9-456C-C097-9EE9-C9FB2E7D77AF}"/>
              </a:ext>
            </a:extLst>
          </p:cNvPr>
          <p:cNvSpPr/>
          <p:nvPr/>
        </p:nvSpPr>
        <p:spPr>
          <a:xfrm>
            <a:off x="546100" y="863600"/>
            <a:ext cx="4064000" cy="19050"/>
          </a:xfrm>
          <a:prstGeom prst="rect">
            <a:avLst/>
          </a:prstGeom>
          <a:solidFill>
            <a:srgbClr val="E1A457"/>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Tree>
    <p:extLst>
      <p:ext uri="{BB962C8B-B14F-4D97-AF65-F5344CB8AC3E}">
        <p14:creationId xmlns:p14="http://schemas.microsoft.com/office/powerpoint/2010/main" val="7001251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F178A635-1BA0-B462-9F8E-D9121725707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C36E35C8-2569-2AEA-9CC0-9ED5B3598759}"/>
              </a:ext>
            </a:extLst>
          </p:cNvPr>
          <p:cNvSpPr txBox="1"/>
          <p:nvPr/>
        </p:nvSpPr>
        <p:spPr>
          <a:xfrm>
            <a:off x="1651000" y="4495800"/>
            <a:ext cx="3394956" cy="355600"/>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log₂6 ≈ 2.58 bits? Best I can do is round to 3.</a:t>
            </a:r>
          </a:p>
        </p:txBody>
      </p:sp>
      <p:grpSp>
        <p:nvGrpSpPr>
          <p:cNvPr id="21" name="Group 20">
            <a:extLst>
              <a:ext uri="{FF2B5EF4-FFF2-40B4-BE49-F238E27FC236}">
                <a16:creationId xmlns:a16="http://schemas.microsoft.com/office/drawing/2014/main" id="{983043FF-F874-0C04-5361-23F9213AEF1E}"/>
              </a:ext>
            </a:extLst>
          </p:cNvPr>
          <p:cNvGrpSpPr/>
          <p:nvPr/>
        </p:nvGrpSpPr>
        <p:grpSpPr>
          <a:xfrm rot="236902">
            <a:off x="5250786" y="2390970"/>
            <a:ext cx="1955800" cy="2645234"/>
            <a:chOff x="4985759" y="2448031"/>
            <a:chExt cx="1955800" cy="2645234"/>
          </a:xfrm>
        </p:grpSpPr>
        <p:pic>
          <p:nvPicPr>
            <p:cNvPr id="19" name="Copied Picture 7" descr="A person washing a glass with a sponge&#10;&#10;AI-generated content may be incorrect.">
              <a:extLst>
                <a:ext uri="{FF2B5EF4-FFF2-40B4-BE49-F238E27FC236}">
                  <a16:creationId xmlns:a16="http://schemas.microsoft.com/office/drawing/2014/main" id="{218D6E1F-0255-2D0A-0E48-4713E548DEC3}"/>
                </a:ext>
              </a:extLst>
            </p:cNvPr>
            <p:cNvPicPr>
              <a:picLocks noChangeAspect="1"/>
            </p:cNvPicPr>
            <p:nvPr/>
          </p:nvPicPr>
          <p:blipFill>
            <a:blip r:embed="rId3"/>
            <a:stretch>
              <a:fillRect/>
            </a:stretch>
          </p:blipFill>
          <p:spPr>
            <a:xfrm>
              <a:off x="5011159" y="2448031"/>
              <a:ext cx="1905000" cy="2133600"/>
            </a:xfrm>
            <a:prstGeom prst="rect">
              <a:avLst/>
            </a:prstGeom>
          </p:spPr>
        </p:pic>
        <p:sp>
          <p:nvSpPr>
            <p:cNvPr id="20" name="TextBox 19">
              <a:extLst>
                <a:ext uri="{FF2B5EF4-FFF2-40B4-BE49-F238E27FC236}">
                  <a16:creationId xmlns:a16="http://schemas.microsoft.com/office/drawing/2014/main" id="{4329921D-6CA3-43AE-5929-9ECF429977DF}"/>
                </a:ext>
              </a:extLst>
            </p:cNvPr>
            <p:cNvSpPr txBox="1"/>
            <p:nvPr/>
          </p:nvSpPr>
          <p:spPr>
            <a:xfrm>
              <a:off x="4985759" y="4607031"/>
              <a:ext cx="1955800" cy="486234"/>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Compressing the whole talk in real time.</a:t>
              </a:r>
            </a:p>
          </p:txBody>
        </p:sp>
      </p:grpSp>
      <p:sp>
        <p:nvSpPr>
          <p:cNvPr id="2" name="Text 2">
            <a:extLst>
              <a:ext uri="{FF2B5EF4-FFF2-40B4-BE49-F238E27FC236}">
                <a16:creationId xmlns:a16="http://schemas.microsoft.com/office/drawing/2014/main" id="{679BE134-3728-0D1E-D663-8B9322D01805}"/>
              </a:ext>
            </a:extLst>
          </p:cNvPr>
          <p:cNvSpPr/>
          <p:nvPr/>
        </p:nvSpPr>
        <p:spPr>
          <a:xfrm>
            <a:off x="685800" y="2050047"/>
            <a:ext cx="7772400" cy="553453"/>
          </a:xfrm>
          <a:prstGeom prst="rect">
            <a:avLst/>
          </a:prstGeom>
          <a:noFill/>
          <a:ln/>
        </p:spPr>
        <p:txBody>
          <a:bodyPr wrap="square" lIns="0" tIns="0" rIns="0" bIns="0" rtlCol="0" anchor="ct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1F0EA"/>
                </a:solidFill>
                <a:effectLst/>
                <a:uLnTx/>
                <a:uFillTx/>
                <a:latin typeface="Georgia" pitchFamily="34" charset="0"/>
                <a:ea typeface="Georgia" pitchFamily="34" charset="-122"/>
                <a:cs typeface="Georgia" pitchFamily="34" charset="-120"/>
              </a:rPr>
              <a:t>The meme graveyard</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Copied Picture 20" descr="A couple of men in a store&#10;&#10;AI-generated content may be incorrect.">
            <a:extLst>
              <a:ext uri="{FF2B5EF4-FFF2-40B4-BE49-F238E27FC236}">
                <a16:creationId xmlns:a16="http://schemas.microsoft.com/office/drawing/2014/main" id="{1CAF29FC-5EB9-CDBB-4EC1-A7DE415A1E7B}"/>
              </a:ext>
            </a:extLst>
          </p:cNvPr>
          <p:cNvPicPr>
            <a:picLocks noChangeAspect="1"/>
          </p:cNvPicPr>
          <p:nvPr/>
        </p:nvPicPr>
        <p:blipFill>
          <a:blip r:embed="rId4"/>
          <a:stretch>
            <a:fillRect/>
          </a:stretch>
        </p:blipFill>
        <p:spPr>
          <a:xfrm>
            <a:off x="546100" y="4406900"/>
            <a:ext cx="990600" cy="711200"/>
          </a:xfrm>
          <a:prstGeom prst="rect">
            <a:avLst/>
          </a:prstGeom>
        </p:spPr>
      </p:pic>
      <p:grpSp>
        <p:nvGrpSpPr>
          <p:cNvPr id="14" name="Group 13">
            <a:extLst>
              <a:ext uri="{FF2B5EF4-FFF2-40B4-BE49-F238E27FC236}">
                <a16:creationId xmlns:a16="http://schemas.microsoft.com/office/drawing/2014/main" id="{1C78D508-6D80-B473-8C6C-9FABE965EC0A}"/>
              </a:ext>
            </a:extLst>
          </p:cNvPr>
          <p:cNvGrpSpPr/>
          <p:nvPr/>
        </p:nvGrpSpPr>
        <p:grpSpPr>
          <a:xfrm rot="21385971">
            <a:off x="6901860" y="2475503"/>
            <a:ext cx="2212978" cy="1006277"/>
            <a:chOff x="7046911" y="1358900"/>
            <a:chExt cx="2212978" cy="1006277"/>
          </a:xfrm>
        </p:grpSpPr>
        <p:pic>
          <p:nvPicPr>
            <p:cNvPr id="10" name="Copied Picture 15" descr="A person with a mustache holding his hand to his face&#10;&#10;AI-generated content may be incorrect.">
              <a:extLst>
                <a:ext uri="{FF2B5EF4-FFF2-40B4-BE49-F238E27FC236}">
                  <a16:creationId xmlns:a16="http://schemas.microsoft.com/office/drawing/2014/main" id="{C6DCFE17-62D9-03B1-4C83-C82CAF7F04A8}"/>
                </a:ext>
              </a:extLst>
            </p:cNvPr>
            <p:cNvPicPr>
              <a:picLocks noChangeAspect="1"/>
            </p:cNvPicPr>
            <p:nvPr/>
          </p:nvPicPr>
          <p:blipFill>
            <a:blip r:embed="rId5"/>
            <a:stretch>
              <a:fillRect/>
            </a:stretch>
          </p:blipFill>
          <p:spPr>
            <a:xfrm>
              <a:off x="7696200" y="1358900"/>
              <a:ext cx="914400" cy="698500"/>
            </a:xfrm>
            <a:prstGeom prst="rect">
              <a:avLst/>
            </a:prstGeom>
          </p:spPr>
        </p:pic>
        <p:sp>
          <p:nvSpPr>
            <p:cNvPr id="11" name="TextBox 10">
              <a:extLst>
                <a:ext uri="{FF2B5EF4-FFF2-40B4-BE49-F238E27FC236}">
                  <a16:creationId xmlns:a16="http://schemas.microsoft.com/office/drawing/2014/main" id="{3E105610-9565-9B98-7512-D36A8A47A003}"/>
                </a:ext>
              </a:extLst>
            </p:cNvPr>
            <p:cNvSpPr txBox="1"/>
            <p:nvPr/>
          </p:nvSpPr>
          <p:spPr>
            <a:xfrm>
              <a:off x="7046911" y="2057400"/>
              <a:ext cx="2212978" cy="307777"/>
            </a:xfrm>
            <a:prstGeom prst="rect">
              <a:avLst/>
            </a:prstGeom>
            <a:solidFill>
              <a:srgbClr val="000000"/>
            </a:solidFill>
          </p:spPr>
          <p:txBody>
            <a:bodyPr vertOverflow="overflow" vert="horz" wrap="none" rtlCol="0" anchor="ctr" anchorCtr="0">
              <a:spAutoFit/>
            </a:bodyPr>
            <a:lstStyle/>
            <a:p>
              <a:pPr algn="l"/>
              <a:r>
                <a:rPr lang="en-US" sz="1400" b="1" dirty="0">
                  <a:solidFill>
                    <a:srgbClr val="FFFFFF"/>
                  </a:solidFill>
                  <a:latin typeface="Impact"/>
                </a:rPr>
                <a:t>intelligence per bit, you say</a:t>
              </a:r>
            </a:p>
          </p:txBody>
        </p:sp>
      </p:grpSp>
      <p:pic>
        <p:nvPicPr>
          <p:cNvPr id="12" name="Copied Picture 20" descr="A person with nice hair&#10;&#10;AI-generated content may be incorrect.">
            <a:extLst>
              <a:ext uri="{FF2B5EF4-FFF2-40B4-BE49-F238E27FC236}">
                <a16:creationId xmlns:a16="http://schemas.microsoft.com/office/drawing/2014/main" id="{1E01CEB3-C1E2-434C-3B7F-63706FCDB017}"/>
              </a:ext>
            </a:extLst>
          </p:cNvPr>
          <p:cNvPicPr>
            <a:picLocks noChangeAspect="1"/>
          </p:cNvPicPr>
          <p:nvPr/>
        </p:nvPicPr>
        <p:blipFill>
          <a:blip r:embed="rId6"/>
          <a:stretch>
            <a:fillRect/>
          </a:stretch>
        </p:blipFill>
        <p:spPr>
          <a:xfrm>
            <a:off x="546100" y="292100"/>
            <a:ext cx="1320800" cy="939800"/>
          </a:xfrm>
          <a:prstGeom prst="rect">
            <a:avLst/>
          </a:prstGeom>
        </p:spPr>
      </p:pic>
      <p:sp>
        <p:nvSpPr>
          <p:cNvPr id="13" name="TextBox 12">
            <a:extLst>
              <a:ext uri="{FF2B5EF4-FFF2-40B4-BE49-F238E27FC236}">
                <a16:creationId xmlns:a16="http://schemas.microsoft.com/office/drawing/2014/main" id="{C09BB2A8-5D00-FD09-6F54-4D6E4F178C45}"/>
              </a:ext>
            </a:extLst>
          </p:cNvPr>
          <p:cNvSpPr txBox="1"/>
          <p:nvPr/>
        </p:nvSpPr>
        <p:spPr>
          <a:xfrm>
            <a:off x="190500" y="1231900"/>
            <a:ext cx="2133600" cy="457200"/>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a formal definition of intelligence</a:t>
            </a:r>
          </a:p>
        </p:txBody>
      </p:sp>
      <p:pic>
        <p:nvPicPr>
          <p:cNvPr id="15" name="Copied Picture 28" descr="A person in a coat&#10;&#10;AI-generated content may be incorrect.">
            <a:extLst>
              <a:ext uri="{FF2B5EF4-FFF2-40B4-BE49-F238E27FC236}">
                <a16:creationId xmlns:a16="http://schemas.microsoft.com/office/drawing/2014/main" id="{0EE78B93-B1D9-97DF-DE42-D2E879B4989C}"/>
              </a:ext>
            </a:extLst>
          </p:cNvPr>
          <p:cNvPicPr>
            <a:picLocks noChangeAspect="1"/>
          </p:cNvPicPr>
          <p:nvPr/>
        </p:nvPicPr>
        <p:blipFill>
          <a:blip r:embed="rId7"/>
          <a:stretch>
            <a:fillRect/>
          </a:stretch>
        </p:blipFill>
        <p:spPr>
          <a:xfrm>
            <a:off x="7620000" y="254000"/>
            <a:ext cx="939800" cy="685800"/>
          </a:xfrm>
          <a:prstGeom prst="rect">
            <a:avLst/>
          </a:prstGeom>
        </p:spPr>
      </p:pic>
      <p:sp>
        <p:nvSpPr>
          <p:cNvPr id="16" name="TextBox 15">
            <a:extLst>
              <a:ext uri="{FF2B5EF4-FFF2-40B4-BE49-F238E27FC236}">
                <a16:creationId xmlns:a16="http://schemas.microsoft.com/office/drawing/2014/main" id="{F3EE2AE2-0FBD-049B-BD80-BC455E51F919}"/>
              </a:ext>
            </a:extLst>
          </p:cNvPr>
          <p:cNvSpPr txBox="1"/>
          <p:nvPr/>
        </p:nvSpPr>
        <p:spPr>
          <a:xfrm>
            <a:off x="4470400" y="457200"/>
            <a:ext cx="3098800" cy="3556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once again asking for </a:t>
            </a:r>
            <a:r>
              <a:rPr lang="el-GR" sz="1400" b="1">
                <a:solidFill>
                  <a:srgbClr val="FFFFFF"/>
                </a:solidFill>
                <a:latin typeface="Impact"/>
              </a:rPr>
              <a:t>η </a:t>
            </a:r>
            <a:r>
              <a:rPr lang="en-US" sz="1400" b="1">
                <a:solidFill>
                  <a:srgbClr val="FFFFFF"/>
                </a:solidFill>
                <a:latin typeface="Impact"/>
              </a:rPr>
              <a:t>to be measured</a:t>
            </a:r>
          </a:p>
        </p:txBody>
      </p:sp>
      <p:pic>
        <p:nvPicPr>
          <p:cNvPr id="17" name="Copied Picture 16" descr="Two men arm wrestling&#10;&#10;AI-generated content may be incorrect.">
            <a:extLst>
              <a:ext uri="{FF2B5EF4-FFF2-40B4-BE49-F238E27FC236}">
                <a16:creationId xmlns:a16="http://schemas.microsoft.com/office/drawing/2014/main" id="{A01AECBB-7233-B296-B90E-D4E17C17611F}"/>
              </a:ext>
            </a:extLst>
          </p:cNvPr>
          <p:cNvPicPr>
            <a:picLocks noChangeAspect="1"/>
          </p:cNvPicPr>
          <p:nvPr/>
        </p:nvPicPr>
        <p:blipFill>
          <a:blip r:embed="rId8"/>
          <a:stretch>
            <a:fillRect/>
          </a:stretch>
        </p:blipFill>
        <p:spPr>
          <a:xfrm>
            <a:off x="2035741" y="3002547"/>
            <a:ext cx="838200" cy="838200"/>
          </a:xfrm>
          <a:prstGeom prst="rect">
            <a:avLst/>
          </a:prstGeom>
        </p:spPr>
      </p:pic>
      <p:sp>
        <p:nvSpPr>
          <p:cNvPr id="18" name="TextBox 17">
            <a:extLst>
              <a:ext uri="{FF2B5EF4-FFF2-40B4-BE49-F238E27FC236}">
                <a16:creationId xmlns:a16="http://schemas.microsoft.com/office/drawing/2014/main" id="{FC9BDCB5-9B90-E74A-8884-2F96C9BCE83B}"/>
              </a:ext>
            </a:extLst>
          </p:cNvPr>
          <p:cNvSpPr txBox="1"/>
          <p:nvPr/>
        </p:nvSpPr>
        <p:spPr>
          <a:xfrm>
            <a:off x="1463268" y="3856622"/>
            <a:ext cx="2133600" cy="311149"/>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Prediction ≡ Compression.</a:t>
            </a:r>
          </a:p>
        </p:txBody>
      </p:sp>
      <p:pic>
        <p:nvPicPr>
          <p:cNvPr id="22" name="Copied Picture 34" descr="A person sleeping with his eyes closed&#10;&#10;AI-generated content may be incorrect.">
            <a:extLst>
              <a:ext uri="{FF2B5EF4-FFF2-40B4-BE49-F238E27FC236}">
                <a16:creationId xmlns:a16="http://schemas.microsoft.com/office/drawing/2014/main" id="{DCF92C3F-6C19-E610-70CC-2C730401BADD}"/>
              </a:ext>
            </a:extLst>
          </p:cNvPr>
          <p:cNvPicPr>
            <a:picLocks noChangeAspect="1"/>
          </p:cNvPicPr>
          <p:nvPr/>
        </p:nvPicPr>
        <p:blipFill>
          <a:blip r:embed="rId9"/>
          <a:stretch>
            <a:fillRect/>
          </a:stretch>
        </p:blipFill>
        <p:spPr>
          <a:xfrm>
            <a:off x="2051050" y="576845"/>
            <a:ext cx="965200" cy="965200"/>
          </a:xfrm>
          <a:prstGeom prst="rect">
            <a:avLst/>
          </a:prstGeom>
        </p:spPr>
      </p:pic>
      <p:sp>
        <p:nvSpPr>
          <p:cNvPr id="23" name="TextBox 22">
            <a:extLst>
              <a:ext uri="{FF2B5EF4-FFF2-40B4-BE49-F238E27FC236}">
                <a16:creationId xmlns:a16="http://schemas.microsoft.com/office/drawing/2014/main" id="{D8CA76D8-FBD4-8390-F0A4-D2E3B6EB2357}"/>
              </a:ext>
            </a:extLst>
          </p:cNvPr>
          <p:cNvSpPr txBox="1"/>
          <p:nvPr/>
        </p:nvSpPr>
        <p:spPr>
          <a:xfrm>
            <a:off x="2863850" y="589545"/>
            <a:ext cx="1473200" cy="584200"/>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AAAA: I sleep. jK8#mQ2: real surprise.</a:t>
            </a:r>
          </a:p>
        </p:txBody>
      </p:sp>
      <p:grpSp>
        <p:nvGrpSpPr>
          <p:cNvPr id="26" name="Group 25">
            <a:extLst>
              <a:ext uri="{FF2B5EF4-FFF2-40B4-BE49-F238E27FC236}">
                <a16:creationId xmlns:a16="http://schemas.microsoft.com/office/drawing/2014/main" id="{05EEF414-C413-D751-BD3B-1E80C506D9AE}"/>
              </a:ext>
            </a:extLst>
          </p:cNvPr>
          <p:cNvGrpSpPr/>
          <p:nvPr/>
        </p:nvGrpSpPr>
        <p:grpSpPr>
          <a:xfrm rot="21348305">
            <a:off x="3851004" y="3033925"/>
            <a:ext cx="1066800" cy="1104900"/>
            <a:chOff x="3851004" y="3033925"/>
            <a:chExt cx="1066800" cy="1104900"/>
          </a:xfrm>
        </p:grpSpPr>
        <p:pic>
          <p:nvPicPr>
            <p:cNvPr id="24" name="Copied Picture 20" descr="A cartoon of a turtle&#10;&#10;AI-generated content may be incorrect.">
              <a:extLst>
                <a:ext uri="{FF2B5EF4-FFF2-40B4-BE49-F238E27FC236}">
                  <a16:creationId xmlns:a16="http://schemas.microsoft.com/office/drawing/2014/main" id="{55F92D04-181C-5A17-5753-CD72E9975581}"/>
                </a:ext>
              </a:extLst>
            </p:cNvPr>
            <p:cNvPicPr>
              <a:picLocks noChangeAspect="1"/>
            </p:cNvPicPr>
            <p:nvPr/>
          </p:nvPicPr>
          <p:blipFill>
            <a:blip r:embed="rId10"/>
            <a:stretch>
              <a:fillRect/>
            </a:stretch>
          </p:blipFill>
          <p:spPr>
            <a:xfrm>
              <a:off x="3901804" y="3033925"/>
              <a:ext cx="965200" cy="939800"/>
            </a:xfrm>
            <a:prstGeom prst="rect">
              <a:avLst/>
            </a:prstGeom>
          </p:spPr>
        </p:pic>
        <p:sp>
          <p:nvSpPr>
            <p:cNvPr id="25" name="TextBox 24">
              <a:extLst>
                <a:ext uri="{FF2B5EF4-FFF2-40B4-BE49-F238E27FC236}">
                  <a16:creationId xmlns:a16="http://schemas.microsoft.com/office/drawing/2014/main" id="{6081258D-5D7F-B52E-1860-C3F8E890C91D}"/>
                </a:ext>
              </a:extLst>
            </p:cNvPr>
            <p:cNvSpPr txBox="1"/>
            <p:nvPr/>
          </p:nvSpPr>
          <p:spPr>
            <a:xfrm>
              <a:off x="3851004" y="3757825"/>
              <a:ext cx="1066800" cy="3810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language is 80% redundant</a:t>
              </a:r>
            </a:p>
          </p:txBody>
        </p:sp>
      </p:grpSp>
      <p:pic>
        <p:nvPicPr>
          <p:cNvPr id="27" name="Copied Picture 20" descr="A child in a striped shirt&#10;&#10;AI-generated content may be incorrect.">
            <a:extLst>
              <a:ext uri="{FF2B5EF4-FFF2-40B4-BE49-F238E27FC236}">
                <a16:creationId xmlns:a16="http://schemas.microsoft.com/office/drawing/2014/main" id="{CD39B3EE-BF85-270E-2A2D-A09E09D3208D}"/>
              </a:ext>
            </a:extLst>
          </p:cNvPr>
          <p:cNvPicPr>
            <a:picLocks noChangeAspect="1"/>
          </p:cNvPicPr>
          <p:nvPr/>
        </p:nvPicPr>
        <p:blipFill>
          <a:blip r:embed="rId11"/>
          <a:stretch>
            <a:fillRect/>
          </a:stretch>
        </p:blipFill>
        <p:spPr>
          <a:xfrm>
            <a:off x="7308418" y="1243596"/>
            <a:ext cx="1168400" cy="762000"/>
          </a:xfrm>
          <a:prstGeom prst="rect">
            <a:avLst/>
          </a:prstGeom>
        </p:spPr>
      </p:pic>
      <p:sp>
        <p:nvSpPr>
          <p:cNvPr id="28" name="TextBox 27">
            <a:extLst>
              <a:ext uri="{FF2B5EF4-FFF2-40B4-BE49-F238E27FC236}">
                <a16:creationId xmlns:a16="http://schemas.microsoft.com/office/drawing/2014/main" id="{DF27EAD6-EDD1-9D8F-9091-37C8D5302399}"/>
              </a:ext>
            </a:extLst>
          </p:cNvPr>
          <p:cNvSpPr txBox="1"/>
          <p:nvPr/>
        </p:nvSpPr>
        <p:spPr>
          <a:xfrm>
            <a:off x="3930218" y="1421396"/>
            <a:ext cx="3200400" cy="355600"/>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High entropy? You sure about that?</a:t>
            </a:r>
          </a:p>
        </p:txBody>
      </p:sp>
      <p:grpSp>
        <p:nvGrpSpPr>
          <p:cNvPr id="31" name="Group 30">
            <a:extLst>
              <a:ext uri="{FF2B5EF4-FFF2-40B4-BE49-F238E27FC236}">
                <a16:creationId xmlns:a16="http://schemas.microsoft.com/office/drawing/2014/main" id="{15818545-21D4-C38F-1CE5-E50391D450AA}"/>
              </a:ext>
            </a:extLst>
          </p:cNvPr>
          <p:cNvGrpSpPr/>
          <p:nvPr/>
        </p:nvGrpSpPr>
        <p:grpSpPr>
          <a:xfrm>
            <a:off x="190500" y="2115928"/>
            <a:ext cx="1694698" cy="1338473"/>
            <a:chOff x="4101578" y="5100401"/>
            <a:chExt cx="2540000" cy="2108200"/>
          </a:xfrm>
        </p:grpSpPr>
        <p:pic>
          <p:nvPicPr>
            <p:cNvPr id="29" name="Copied Picture 7" descr="A toy character next to another toy&#10;&#10;AI-generated content may be incorrect.">
              <a:extLst>
                <a:ext uri="{FF2B5EF4-FFF2-40B4-BE49-F238E27FC236}">
                  <a16:creationId xmlns:a16="http://schemas.microsoft.com/office/drawing/2014/main" id="{35785A4F-5B5E-4543-8808-56161DB1DE21}"/>
                </a:ext>
              </a:extLst>
            </p:cNvPr>
            <p:cNvPicPr>
              <a:picLocks noChangeAspect="1"/>
            </p:cNvPicPr>
            <p:nvPr/>
          </p:nvPicPr>
          <p:blipFill>
            <a:blip r:embed="rId12"/>
            <a:stretch>
              <a:fillRect/>
            </a:stretch>
          </p:blipFill>
          <p:spPr>
            <a:xfrm>
              <a:off x="4101578" y="5100401"/>
              <a:ext cx="2540000" cy="1727200"/>
            </a:xfrm>
            <a:prstGeom prst="rect">
              <a:avLst/>
            </a:prstGeom>
          </p:spPr>
        </p:pic>
        <p:sp>
          <p:nvSpPr>
            <p:cNvPr id="30" name="TextBox 29">
              <a:extLst>
                <a:ext uri="{FF2B5EF4-FFF2-40B4-BE49-F238E27FC236}">
                  <a16:creationId xmlns:a16="http://schemas.microsoft.com/office/drawing/2014/main" id="{4E4023C5-A595-C09E-18C7-4E309070A968}"/>
                </a:ext>
              </a:extLst>
            </p:cNvPr>
            <p:cNvSpPr txBox="1"/>
            <p:nvPr/>
          </p:nvSpPr>
          <p:spPr>
            <a:xfrm>
              <a:off x="4101578" y="6878401"/>
              <a:ext cx="2540000" cy="330200"/>
            </a:xfrm>
            <a:prstGeom prst="rect">
              <a:avLst/>
            </a:prstGeom>
            <a:solidFill>
              <a:srgbClr val="000000"/>
            </a:solidFill>
          </p:spPr>
          <p:txBody>
            <a:bodyPr vertOverflow="overflow" vert="horz" wrap="square" rtlCol="0" anchor="ctr" anchorCtr="0">
              <a:noAutofit/>
            </a:bodyPr>
            <a:lstStyle/>
            <a:p>
              <a:pPr algn="l"/>
              <a:r>
                <a:rPr lang="en-US" sz="1400" b="1">
                  <a:solidFill>
                    <a:srgbClr val="FFFFFF"/>
                  </a:solidFill>
                  <a:latin typeface="Impact"/>
                </a:rPr>
                <a:t>Density. Density everywhere.</a:t>
              </a:r>
            </a:p>
          </p:txBody>
        </p:sp>
      </p:grpSp>
    </p:spTree>
    <p:extLst>
      <p:ext uri="{BB962C8B-B14F-4D97-AF65-F5344CB8AC3E}">
        <p14:creationId xmlns:p14="http://schemas.microsoft.com/office/powerpoint/2010/main" val="11141354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7C1FA2"/>
        </a:solidFill>
        <a:effectLst/>
      </p:bgPr>
    </p:bg>
    <p:spTree>
      <p:nvGrpSpPr>
        <p:cNvPr id="1" name=""/>
        <p:cNvGrpSpPr/>
        <p:nvPr/>
      </p:nvGrpSpPr>
      <p:grpSpPr>
        <a:xfrm>
          <a:off x="0" y="0"/>
          <a:ext cx="0" cy="0"/>
          <a:chOff x="0" y="0"/>
          <a:chExt cx="0" cy="0"/>
        </a:xfrm>
      </p:grpSpPr>
      <p:sp>
        <p:nvSpPr>
          <p:cNvPr id="900" name="st0"/>
          <p:cNvSpPr/>
          <p:nvPr/>
        </p:nvSpPr>
        <p:spPr>
          <a:xfrm rot="-1080000">
            <a:off x="-1524000" y="-400000"/>
            <a:ext cx="653142" cy="5943500"/>
          </a:xfrm>
          <a:prstGeom prst="rect">
            <a:avLst/>
          </a:prstGeom>
          <a:solidFill>
            <a:srgbClr val="FFFFFF">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1" name="st1"/>
          <p:cNvSpPr/>
          <p:nvPr/>
        </p:nvSpPr>
        <p:spPr>
          <a:xfrm rot="-1080000">
            <a:off x="-217715" y="-400000"/>
            <a:ext cx="653142" cy="5943500"/>
          </a:xfrm>
          <a:prstGeom prst="rect">
            <a:avLst/>
          </a:prstGeom>
          <a:solidFill>
            <a:srgbClr val="FDE047">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2" name="st2"/>
          <p:cNvSpPr/>
          <p:nvPr/>
        </p:nvSpPr>
        <p:spPr>
          <a:xfrm rot="-1080000">
            <a:off x="1088570" y="-400000"/>
            <a:ext cx="653142" cy="5943500"/>
          </a:xfrm>
          <a:prstGeom prst="rect">
            <a:avLst/>
          </a:prstGeom>
          <a:solidFill>
            <a:srgbClr val="FFFFFF">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3" name="st3"/>
          <p:cNvSpPr/>
          <p:nvPr/>
        </p:nvSpPr>
        <p:spPr>
          <a:xfrm rot="-1080000">
            <a:off x="2394855" y="-400000"/>
            <a:ext cx="653142" cy="5943500"/>
          </a:xfrm>
          <a:prstGeom prst="rect">
            <a:avLst/>
          </a:prstGeom>
          <a:solidFill>
            <a:srgbClr val="FDE047">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4" name="st4"/>
          <p:cNvSpPr/>
          <p:nvPr/>
        </p:nvSpPr>
        <p:spPr>
          <a:xfrm rot="-1080000">
            <a:off x="3701140" y="-400000"/>
            <a:ext cx="653142" cy="5943500"/>
          </a:xfrm>
          <a:prstGeom prst="rect">
            <a:avLst/>
          </a:prstGeom>
          <a:solidFill>
            <a:srgbClr val="FFFFFF">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5" name="st5"/>
          <p:cNvSpPr/>
          <p:nvPr/>
        </p:nvSpPr>
        <p:spPr>
          <a:xfrm rot="-1080000">
            <a:off x="5007425" y="-400000"/>
            <a:ext cx="653142" cy="5943500"/>
          </a:xfrm>
          <a:prstGeom prst="rect">
            <a:avLst/>
          </a:prstGeom>
          <a:solidFill>
            <a:srgbClr val="FDE047">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6" name="st6"/>
          <p:cNvSpPr/>
          <p:nvPr/>
        </p:nvSpPr>
        <p:spPr>
          <a:xfrm rot="-1080000">
            <a:off x="6313710" y="-400000"/>
            <a:ext cx="653142" cy="5943500"/>
          </a:xfrm>
          <a:prstGeom prst="rect">
            <a:avLst/>
          </a:prstGeom>
          <a:solidFill>
            <a:srgbClr val="FFFFFF">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7" name="st7"/>
          <p:cNvSpPr/>
          <p:nvPr/>
        </p:nvSpPr>
        <p:spPr>
          <a:xfrm rot="-1080000">
            <a:off x="7619995" y="-400000"/>
            <a:ext cx="653142" cy="5943500"/>
          </a:xfrm>
          <a:prstGeom prst="rect">
            <a:avLst/>
          </a:prstGeom>
          <a:solidFill>
            <a:srgbClr val="FDE047">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8" name="st8"/>
          <p:cNvSpPr/>
          <p:nvPr/>
        </p:nvSpPr>
        <p:spPr>
          <a:xfrm rot="-1080000">
            <a:off x="8926280" y="-400000"/>
            <a:ext cx="653142" cy="5943500"/>
          </a:xfrm>
          <a:prstGeom prst="rect">
            <a:avLst/>
          </a:prstGeom>
          <a:solidFill>
            <a:srgbClr val="FFFFFF">
              <a:alpha val="22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20"/>
          <p:cNvSpPr txBox="1"/>
          <p:nvPr/>
        </p:nvSpPr>
        <p:spPr>
          <a:xfrm rot="-240000">
            <a:off x="182880" y="1851660"/>
            <a:ext cx="7132320" cy="1131570"/>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w="30480">
                  <a:solidFill>
                    <a:srgbClr val="000000"/>
                  </a:solidFill>
                </a:ln>
                <a:solidFill>
                  <a:srgbClr val="FDE047"/>
                </a:solidFill>
                <a:effectLst/>
                <a:uLnTx/>
                <a:uFillTx/>
                <a:latin typeface="Arial Black"/>
                <a:ea typeface="+mn-ea"/>
                <a:cs typeface="+mn-cs"/>
              </a:rPr>
              <a:t>INTERMISSION</a:t>
            </a:r>
          </a:p>
        </p:txBody>
      </p:sp>
      <p:sp>
        <p:nvSpPr>
          <p:cNvPr id="21" name="t21"/>
          <p:cNvSpPr txBox="1"/>
          <p:nvPr/>
        </p:nvSpPr>
        <p:spPr>
          <a:xfrm>
            <a:off x="365760" y="3188970"/>
            <a:ext cx="5669280" cy="51435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w="15240">
                  <a:solidFill>
                    <a:srgbClr val="000000"/>
                  </a:solidFill>
                </a:ln>
                <a:solidFill>
                  <a:srgbClr val="FFFFFF"/>
                </a:solidFill>
                <a:effectLst/>
                <a:uLnTx/>
                <a:uFillTx/>
                <a:latin typeface="Arial Black"/>
                <a:ea typeface="+mn-ea"/>
                <a:cs typeface="+mn-cs"/>
              </a:rPr>
              <a:t>the model needed a moment</a:t>
            </a:r>
          </a:p>
        </p:txBody>
      </p:sp>
      <p:pic>
        <p:nvPicPr>
          <p:cNvPr id="10" name="m_deepfried"/>
          <p:cNvPicPr>
            <a:picLocks noChangeAspect="1"/>
          </p:cNvPicPr>
          <p:nvPr/>
        </p:nvPicPr>
        <p:blipFill>
          <a:blip r:embed="rId2"/>
          <a:stretch>
            <a:fillRect/>
          </a:stretch>
        </p:blipFill>
        <p:spPr>
          <a:xfrm rot="-720000">
            <a:off x="274320" y="251460"/>
            <a:ext cx="2377440" cy="2377440"/>
          </a:xfrm>
          <a:prstGeom prst="rect">
            <a:avLst/>
          </a:prstGeom>
          <a:ln w="38100">
            <a:solidFill>
              <a:srgbClr val="FFFFFF"/>
            </a:solidFill>
          </a:ln>
        </p:spPr>
      </p:pic>
      <p:pic>
        <p:nvPicPr>
          <p:cNvPr id="11" name="m_frog"/>
          <p:cNvPicPr>
            <a:picLocks noChangeAspect="1"/>
          </p:cNvPicPr>
          <p:nvPr/>
        </p:nvPicPr>
        <p:blipFill>
          <a:blip r:embed="rId3"/>
          <a:stretch>
            <a:fillRect/>
          </a:stretch>
        </p:blipFill>
        <p:spPr>
          <a:xfrm rot="840000">
            <a:off x="6720840" y="285750"/>
            <a:ext cx="2103120" cy="2103120"/>
          </a:xfrm>
          <a:prstGeom prst="rect">
            <a:avLst/>
          </a:prstGeom>
          <a:ln w="38100">
            <a:solidFill>
              <a:srgbClr val="FFFFFF"/>
            </a:solidFill>
          </a:ln>
        </p:spPr>
      </p:pic>
      <p:pic>
        <p:nvPicPr>
          <p:cNvPr id="12" name="m_stonks"/>
          <p:cNvPicPr>
            <a:picLocks noChangeAspect="1"/>
          </p:cNvPicPr>
          <p:nvPr/>
        </p:nvPicPr>
        <p:blipFill>
          <a:blip r:embed="rId4"/>
          <a:stretch>
            <a:fillRect/>
          </a:stretch>
        </p:blipFill>
        <p:spPr>
          <a:xfrm rot="-480000">
            <a:off x="6492240" y="2903220"/>
            <a:ext cx="2011680" cy="2011680"/>
          </a:xfrm>
          <a:prstGeom prst="rect">
            <a:avLst/>
          </a:prstGeom>
          <a:ln w="38100">
            <a:solidFill>
              <a:srgbClr val="FFFFFF"/>
            </a:solid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5803D"/>
        </a:solidFill>
        <a:effectLst/>
      </p:bgPr>
    </p:bg>
    <p:spTree>
      <p:nvGrpSpPr>
        <p:cNvPr id="1" name=""/>
        <p:cNvGrpSpPr/>
        <p:nvPr/>
      </p:nvGrpSpPr>
      <p:grpSpPr>
        <a:xfrm>
          <a:off x="0" y="0"/>
          <a:ext cx="0" cy="0"/>
          <a:chOff x="0" y="0"/>
          <a:chExt cx="0" cy="0"/>
        </a:xfrm>
      </p:grpSpPr>
      <p:sp>
        <p:nvSpPr>
          <p:cNvPr id="20" name="t20"/>
          <p:cNvSpPr txBox="1"/>
          <p:nvPr/>
        </p:nvSpPr>
        <p:spPr>
          <a:xfrm rot="-180000">
            <a:off x="274320" y="154305"/>
            <a:ext cx="4114800" cy="6172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w="20320">
                  <a:solidFill>
                    <a:srgbClr val="000000"/>
                  </a:solidFill>
                </a:ln>
                <a:solidFill>
                  <a:srgbClr val="FFFFFF"/>
                </a:solidFill>
                <a:effectLst/>
                <a:uLnTx/>
                <a:uFillTx/>
                <a:latin typeface="Arial Black"/>
                <a:ea typeface="+mn-ea"/>
                <a:cs typeface="+mn-cs"/>
              </a:rPr>
              <a:t>EXHIBIT A</a:t>
            </a:r>
          </a:p>
        </p:txBody>
      </p:sp>
      <p:pic>
        <p:nvPicPr>
          <p:cNvPr id="10" name="m_brain"/>
          <p:cNvPicPr>
            <a:picLocks noChangeAspect="1"/>
          </p:cNvPicPr>
          <p:nvPr/>
        </p:nvPicPr>
        <p:blipFill>
          <a:blip r:embed="rId2"/>
          <a:stretch>
            <a:fillRect/>
          </a:stretch>
        </p:blipFill>
        <p:spPr>
          <a:xfrm rot="-600000">
            <a:off x="457200" y="1259499"/>
            <a:ext cx="1828800" cy="2110153"/>
          </a:xfrm>
          <a:prstGeom prst="rect">
            <a:avLst/>
          </a:prstGeom>
          <a:ln w="38100">
            <a:solidFill>
              <a:srgbClr val="FFFFFF"/>
            </a:solidFill>
          </a:ln>
        </p:spPr>
      </p:pic>
      <p:pic>
        <p:nvPicPr>
          <p:cNvPr id="11" name="m_buttons"/>
          <p:cNvPicPr>
            <a:picLocks noChangeAspect="1"/>
          </p:cNvPicPr>
          <p:nvPr/>
        </p:nvPicPr>
        <p:blipFill>
          <a:blip r:embed="rId3"/>
          <a:stretch>
            <a:fillRect/>
          </a:stretch>
        </p:blipFill>
        <p:spPr>
          <a:xfrm rot="480000">
            <a:off x="2743200" y="2323556"/>
            <a:ext cx="1828800" cy="2142308"/>
          </a:xfrm>
          <a:prstGeom prst="rect">
            <a:avLst/>
          </a:prstGeom>
          <a:ln w="38100">
            <a:solidFill>
              <a:srgbClr val="FFFFFF"/>
            </a:solidFill>
          </a:ln>
        </p:spPr>
      </p:pic>
      <p:pic>
        <p:nvPicPr>
          <p:cNvPr id="12" name="m_butterfly"/>
          <p:cNvPicPr>
            <a:picLocks noChangeAspect="1"/>
          </p:cNvPicPr>
          <p:nvPr/>
        </p:nvPicPr>
        <p:blipFill>
          <a:blip r:embed="rId4"/>
          <a:stretch>
            <a:fillRect/>
          </a:stretch>
        </p:blipFill>
        <p:spPr>
          <a:xfrm rot="-360000">
            <a:off x="5029200" y="338719"/>
            <a:ext cx="2743200" cy="2408663"/>
          </a:xfrm>
          <a:prstGeom prst="rect">
            <a:avLst/>
          </a:prstGeom>
          <a:ln w="38100">
            <a:solidFill>
              <a:srgbClr val="FFFFFF"/>
            </a:solidFill>
          </a:ln>
        </p:spPr>
      </p:pic>
      <p:pic>
        <p:nvPicPr>
          <p:cNvPr id="13" name="m_nobody"/>
          <p:cNvPicPr>
            <a:picLocks noChangeAspect="1"/>
          </p:cNvPicPr>
          <p:nvPr/>
        </p:nvPicPr>
        <p:blipFill>
          <a:blip r:embed="rId5"/>
          <a:stretch>
            <a:fillRect/>
          </a:stretch>
        </p:blipFill>
        <p:spPr>
          <a:xfrm rot="300000">
            <a:off x="3977640" y="3099657"/>
            <a:ext cx="3017520" cy="1824546"/>
          </a:xfrm>
          <a:prstGeom prst="rect">
            <a:avLst/>
          </a:prstGeom>
          <a:ln w="38100">
            <a:solidFill>
              <a:srgbClr val="FFFFFF"/>
            </a:solidFill>
          </a:ln>
        </p:spPr>
      </p:pic>
      <p:pic>
        <p:nvPicPr>
          <p:cNvPr id="14" name="m_cat"/>
          <p:cNvPicPr>
            <a:picLocks noChangeAspect="1"/>
          </p:cNvPicPr>
          <p:nvPr/>
        </p:nvPicPr>
        <p:blipFill>
          <a:blip r:embed="rId6"/>
          <a:stretch>
            <a:fillRect/>
          </a:stretch>
        </p:blipFill>
        <p:spPr>
          <a:xfrm rot="720000">
            <a:off x="7178040" y="2114550"/>
            <a:ext cx="1737360" cy="1737360"/>
          </a:xfrm>
          <a:prstGeom prst="rect">
            <a:avLst/>
          </a:prstGeom>
          <a:ln w="38100">
            <a:solidFill>
              <a:srgbClr val="FFFFFF"/>
            </a:solid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C2410C"/>
        </a:solidFill>
        <a:effectLst/>
      </p:bgPr>
    </p:bg>
    <p:spTree>
      <p:nvGrpSpPr>
        <p:cNvPr id="1" name=""/>
        <p:cNvGrpSpPr/>
        <p:nvPr/>
      </p:nvGrpSpPr>
      <p:grpSpPr>
        <a:xfrm>
          <a:off x="0" y="0"/>
          <a:ext cx="0" cy="0"/>
          <a:chOff x="0" y="0"/>
          <a:chExt cx="0" cy="0"/>
        </a:xfrm>
      </p:grpSpPr>
      <p:sp>
        <p:nvSpPr>
          <p:cNvPr id="20" name="t20"/>
          <p:cNvSpPr txBox="1"/>
          <p:nvPr/>
        </p:nvSpPr>
        <p:spPr>
          <a:xfrm rot="-180000">
            <a:off x="274320" y="102870"/>
            <a:ext cx="4114800" cy="617220"/>
          </a:xfrm>
          <a:prstGeom prst="rect">
            <a:avLst/>
          </a:prstGeom>
          <a:noFill/>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w="20320">
                  <a:solidFill>
                    <a:srgbClr val="000000"/>
                  </a:solidFill>
                </a:ln>
                <a:solidFill>
                  <a:srgbClr val="FFFFFF"/>
                </a:solidFill>
                <a:effectLst/>
                <a:uLnTx/>
                <a:uFillTx/>
                <a:latin typeface="Arial Black"/>
                <a:ea typeface="+mn-ea"/>
                <a:cs typeface="+mn-cs"/>
              </a:rPr>
              <a:t>EXHIBIT B</a:t>
            </a:r>
          </a:p>
        </p:txBody>
      </p:sp>
      <p:pic>
        <p:nvPicPr>
          <p:cNvPr id="10" name="m_drakeblob"/>
          <p:cNvPicPr>
            <a:picLocks noChangeAspect="1"/>
          </p:cNvPicPr>
          <p:nvPr/>
        </p:nvPicPr>
        <p:blipFill>
          <a:blip r:embed="rId2"/>
          <a:stretch>
            <a:fillRect/>
          </a:stretch>
        </p:blipFill>
        <p:spPr>
          <a:xfrm rot="540000">
            <a:off x="502920" y="800100"/>
            <a:ext cx="2103120" cy="2103120"/>
          </a:xfrm>
          <a:prstGeom prst="rect">
            <a:avLst/>
          </a:prstGeom>
          <a:ln w="38100">
            <a:solidFill>
              <a:srgbClr val="FFFFFF"/>
            </a:solidFill>
          </a:ln>
        </p:spPr>
      </p:pic>
      <p:pic>
        <p:nvPicPr>
          <p:cNvPr id="11" name="m_pie"/>
          <p:cNvPicPr>
            <a:picLocks noChangeAspect="1"/>
          </p:cNvPicPr>
          <p:nvPr/>
        </p:nvPicPr>
        <p:blipFill>
          <a:blip r:embed="rId3"/>
          <a:stretch>
            <a:fillRect/>
          </a:stretch>
        </p:blipFill>
        <p:spPr>
          <a:xfrm rot="-420000">
            <a:off x="3291840" y="962527"/>
            <a:ext cx="2377440" cy="2189747"/>
          </a:xfrm>
          <a:prstGeom prst="rect">
            <a:avLst/>
          </a:prstGeom>
          <a:ln w="38100">
            <a:solidFill>
              <a:srgbClr val="FFFFFF"/>
            </a:solidFill>
          </a:ln>
        </p:spPr>
      </p:pic>
      <p:pic>
        <p:nvPicPr>
          <p:cNvPr id="12" name="m_wordart"/>
          <p:cNvPicPr>
            <a:picLocks noChangeAspect="1"/>
          </p:cNvPicPr>
          <p:nvPr/>
        </p:nvPicPr>
        <p:blipFill>
          <a:blip r:embed="rId4"/>
          <a:stretch>
            <a:fillRect/>
          </a:stretch>
        </p:blipFill>
        <p:spPr>
          <a:xfrm rot="360000">
            <a:off x="5120640" y="212120"/>
            <a:ext cx="2926080" cy="1633160"/>
          </a:xfrm>
          <a:prstGeom prst="rect">
            <a:avLst/>
          </a:prstGeom>
          <a:ln w="38100">
            <a:solidFill>
              <a:srgbClr val="FFFFFF"/>
            </a:solidFill>
          </a:ln>
        </p:spPr>
      </p:pic>
      <p:pic>
        <p:nvPicPr>
          <p:cNvPr id="13" name="m_monday"/>
          <p:cNvPicPr>
            <a:picLocks noChangeAspect="1"/>
          </p:cNvPicPr>
          <p:nvPr/>
        </p:nvPicPr>
        <p:blipFill>
          <a:blip r:embed="rId5"/>
          <a:stretch>
            <a:fillRect/>
          </a:stretch>
        </p:blipFill>
        <p:spPr>
          <a:xfrm rot="-660000">
            <a:off x="1600200" y="2857500"/>
            <a:ext cx="2103120" cy="2103120"/>
          </a:xfrm>
          <a:prstGeom prst="rect">
            <a:avLst/>
          </a:prstGeom>
          <a:ln w="38100">
            <a:solidFill>
              <a:srgbClr val="FFFFFF"/>
            </a:solidFill>
          </a:ln>
        </p:spPr>
      </p:pic>
      <p:pic>
        <p:nvPicPr>
          <p:cNvPr id="14" name="m_fine"/>
          <p:cNvPicPr>
            <a:picLocks noChangeAspect="1"/>
          </p:cNvPicPr>
          <p:nvPr/>
        </p:nvPicPr>
        <p:blipFill>
          <a:blip r:embed="rId6"/>
          <a:stretch>
            <a:fillRect/>
          </a:stretch>
        </p:blipFill>
        <p:spPr>
          <a:xfrm rot="480000">
            <a:off x="5257800" y="2769127"/>
            <a:ext cx="2834640" cy="2074126"/>
          </a:xfrm>
          <a:prstGeom prst="rect">
            <a:avLst/>
          </a:prstGeom>
          <a:ln w="38100">
            <a:solidFill>
              <a:srgbClr val="FFFFFF"/>
            </a:solid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20">
    <p:bg>
      <p:bgPr>
        <a:solidFill>
          <a:srgbClr val="0D141F"/>
        </a:solidFill>
        <a:effectLst/>
      </p:bgPr>
    </p:bg>
    <p:spTree>
      <p:nvGrpSpPr>
        <p:cNvPr id="1" name=""/>
        <p:cNvGrpSpPr/>
        <p:nvPr/>
      </p:nvGrpSpPr>
      <p:grpSpPr>
        <a:xfrm>
          <a:off x="0" y="0"/>
          <a:ext cx="0" cy="0"/>
          <a:chOff x="0" y="0"/>
          <a:chExt cx="0" cy="0"/>
        </a:xfrm>
      </p:grpSpPr>
      <p:sp>
        <p:nvSpPr>
          <p:cNvPr id="3" name="Shape 1"/>
          <p:cNvSpPr/>
          <p:nvPr/>
        </p:nvSpPr>
        <p:spPr>
          <a:xfrm>
            <a:off x="0" y="4389120"/>
            <a:ext cx="9144000" cy="36576"/>
          </a:xfrm>
          <a:prstGeom prst="rect">
            <a:avLst/>
          </a:prstGeom>
          <a:solidFill>
            <a:srgbClr val="7FB69E">
              <a:alpha val="60000"/>
            </a:srgbClr>
          </a:solidFill>
          <a:ln/>
        </p:spPr>
        <p:txBody>
          <a:bodyPr/>
          <a:lstStyle/>
          <a:p>
            <a:endParaRPr lang="en-US"/>
          </a:p>
        </p:txBody>
      </p:sp>
      <p:sp>
        <p:nvSpPr>
          <p:cNvPr id="4" name="Text 2"/>
          <p:cNvSpPr/>
          <p:nvPr/>
        </p:nvSpPr>
        <p:spPr>
          <a:xfrm>
            <a:off x="548640" y="274320"/>
            <a:ext cx="3657600" cy="640080"/>
          </a:xfrm>
          <a:prstGeom prst="rect">
            <a:avLst/>
          </a:prstGeom>
          <a:noFill/>
          <a:ln/>
        </p:spPr>
        <p:txBody>
          <a:bodyPr wrap="square" lIns="0" tIns="0" rIns="0" bIns="0" rtlCol="0" anchor="ctr"/>
          <a:lstStyle/>
          <a:p>
            <a:pPr marL="0" indent="0">
              <a:buNone/>
            </a:pPr>
            <a:r>
              <a:rPr lang="en-US" sz="3600" b="1">
                <a:solidFill>
                  <a:srgbClr val="F1F0EA"/>
                </a:solidFill>
                <a:latin typeface="Georgia" pitchFamily="34" charset="0"/>
                <a:ea typeface="Georgia" pitchFamily="34" charset="-122"/>
                <a:cs typeface="Georgia" pitchFamily="34" charset="-120"/>
              </a:rPr>
              <a:t>Thank you</a:t>
            </a:r>
            <a:endParaRPr lang="en-US" sz="3600"/>
          </a:p>
        </p:txBody>
      </p:sp>
      <p:sp>
        <p:nvSpPr>
          <p:cNvPr id="5" name="Text 3"/>
          <p:cNvSpPr/>
          <p:nvPr/>
        </p:nvSpPr>
        <p:spPr>
          <a:xfrm>
            <a:off x="548640" y="1005840"/>
            <a:ext cx="3657600" cy="365760"/>
          </a:xfrm>
          <a:prstGeom prst="rect">
            <a:avLst/>
          </a:prstGeom>
          <a:noFill/>
          <a:ln/>
        </p:spPr>
        <p:txBody>
          <a:bodyPr wrap="square" lIns="0" tIns="0" rIns="0" bIns="0" rtlCol="0" anchor="ctr"/>
          <a:lstStyle/>
          <a:p>
            <a:pPr marL="0" indent="0">
              <a:buNone/>
            </a:pPr>
            <a:r>
              <a:rPr lang="en-US" sz="1600" b="1">
                <a:solidFill>
                  <a:srgbClr val="6FA08A"/>
                </a:solidFill>
                <a:latin typeface="Georgia" pitchFamily="34" charset="0"/>
                <a:ea typeface="Georgia" pitchFamily="34" charset="-122"/>
                <a:cs typeface="Georgia" pitchFamily="34" charset="-120"/>
              </a:rPr>
              <a:t>Key references</a:t>
            </a:r>
            <a:endParaRPr lang="en-US" sz="1600">
              <a:solidFill>
                <a:srgbClr val="6FA08A"/>
              </a:solidFill>
            </a:endParaRPr>
          </a:p>
        </p:txBody>
      </p:sp>
      <p:sp>
        <p:nvSpPr>
          <p:cNvPr id="6" name="Text 4"/>
          <p:cNvSpPr/>
          <p:nvPr/>
        </p:nvSpPr>
        <p:spPr>
          <a:xfrm>
            <a:off x="548640" y="1371600"/>
            <a:ext cx="8046720" cy="2926080"/>
          </a:xfrm>
          <a:prstGeom prst="rect">
            <a:avLst/>
          </a:prstGeom>
          <a:noFill/>
          <a:ln/>
        </p:spPr>
        <p:txBody>
          <a:bodyPr wrap="square" lIns="0" tIns="0" rIns="0" bIns="0" rtlCol="0" anchor="ctr"/>
          <a:lstStyle/>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Shannon (1948) A Mathematical Theory of Communication</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Shannon (1951) Prediction and Entropy of Printed English</a:t>
            </a:r>
            <a:endParaRPr lang="en-US" sz="1100" dirty="0"/>
          </a:p>
          <a:p>
            <a:pPr marL="0" indent="0">
              <a:lnSpc>
                <a:spcPct val="145000"/>
              </a:lnSpc>
              <a:buNone/>
            </a:pPr>
            <a:r>
              <a:rPr lang="en-US" sz="1100" dirty="0" err="1">
                <a:solidFill>
                  <a:srgbClr val="D8D6CE"/>
                </a:solidFill>
                <a:latin typeface="Calibri" pitchFamily="34" charset="0"/>
                <a:ea typeface="Calibri" pitchFamily="34" charset="-122"/>
                <a:cs typeface="Calibri" pitchFamily="34" charset="-120"/>
              </a:rPr>
              <a:t>Solomonoff</a:t>
            </a:r>
            <a:r>
              <a:rPr lang="en-US" sz="1100" dirty="0">
                <a:solidFill>
                  <a:srgbClr val="D8D6CE"/>
                </a:solidFill>
                <a:latin typeface="Calibri" pitchFamily="34" charset="0"/>
                <a:ea typeface="Calibri" pitchFamily="34" charset="-122"/>
                <a:cs typeface="Calibri" pitchFamily="34" charset="-120"/>
              </a:rPr>
              <a:t> (1964) A Formal Theory of Inductive Inference</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Hutter (2005) Universal Artificial Intelligence (book)</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Legg &amp; Hutter (2007) Universal Intelligence: A Definition of Machine Intelligence</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Chollet (2019) On the Measure of Intelligence</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Dettmers &amp; Zettlemoyer (2023) The Case for 4-bit Precision (ICML)</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Delétang et al. (2024) Language Modeling Is Compression (ICLR)</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Allen-Zhu &amp; Li (2024) Physics of Language Models: Part 3.3 (ICLR 2025)</a:t>
            </a:r>
            <a:endParaRPr lang="en-US" sz="1100" dirty="0"/>
          </a:p>
          <a:p>
            <a:pPr marL="0" indent="0">
              <a:lnSpc>
                <a:spcPct val="145000"/>
              </a:lnSpc>
              <a:buNone/>
            </a:pPr>
            <a:r>
              <a:rPr lang="en-US" sz="1100" dirty="0">
                <a:solidFill>
                  <a:srgbClr val="D8D6CE"/>
                </a:solidFill>
                <a:latin typeface="Calibri" pitchFamily="34" charset="0"/>
                <a:ea typeface="Calibri" pitchFamily="34" charset="-122"/>
                <a:cs typeface="Calibri" pitchFamily="34" charset="-120"/>
              </a:rPr>
              <a:t>Huang et al. (2024) Compression Represents Intelligence Linearly (COLM)</a:t>
            </a:r>
          </a:p>
          <a:p>
            <a:pPr marL="0" indent="0">
              <a:lnSpc>
                <a:spcPct val="145000"/>
              </a:lnSpc>
              <a:buNone/>
            </a:pPr>
            <a:endParaRPr lang="en-US" sz="1100" dirty="0">
              <a:solidFill>
                <a:srgbClr val="D8D6CE"/>
              </a:solidFill>
              <a:latin typeface="Calibri" pitchFamily="34" charset="0"/>
              <a:cs typeface="Calibri" pitchFamily="34" charset="-120"/>
            </a:endParaRPr>
          </a:p>
          <a:p>
            <a:pPr marL="0" indent="0">
              <a:lnSpc>
                <a:spcPct val="145000"/>
              </a:lnSpc>
              <a:buNone/>
            </a:pPr>
            <a:r>
              <a:rPr lang="en-US" sz="1100" dirty="0">
                <a:solidFill>
                  <a:srgbClr val="D8D6CE"/>
                </a:solidFill>
                <a:latin typeface="Calibri" pitchFamily="34" charset="0"/>
                <a:cs typeface="Calibri" pitchFamily="34" charset="-120"/>
              </a:rPr>
              <a:t>Suggested read: </a:t>
            </a:r>
            <a:r>
              <a:rPr lang="en-US" sz="1100" b="1" dirty="0">
                <a:solidFill>
                  <a:srgbClr val="D8D6CE"/>
                </a:solidFill>
                <a:latin typeface="Calibri" pitchFamily="34" charset="0"/>
                <a:cs typeface="Calibri" pitchFamily="34" charset="-120"/>
              </a:rPr>
              <a:t>Elements of Information Theory</a:t>
            </a:r>
            <a:r>
              <a:rPr lang="en-US" sz="1100" dirty="0">
                <a:solidFill>
                  <a:srgbClr val="D8D6CE"/>
                </a:solidFill>
                <a:latin typeface="Calibri" pitchFamily="34" charset="0"/>
                <a:cs typeface="Calibri" pitchFamily="34" charset="-120"/>
              </a:rPr>
              <a:t>, Cover &amp; Thomas (2005)</a:t>
            </a:r>
            <a:endParaRPr lang="en-US" sz="1100" dirty="0"/>
          </a:p>
        </p:txBody>
      </p:sp>
      <p:sp>
        <p:nvSpPr>
          <p:cNvPr id="7" name="Text 5"/>
          <p:cNvSpPr/>
          <p:nvPr/>
        </p:nvSpPr>
        <p:spPr>
          <a:xfrm>
            <a:off x="548640" y="4480560"/>
            <a:ext cx="3657600" cy="457200"/>
          </a:xfrm>
          <a:prstGeom prst="rect">
            <a:avLst/>
          </a:prstGeom>
          <a:noFill/>
          <a:ln/>
        </p:spPr>
        <p:txBody>
          <a:bodyPr wrap="square" lIns="0" tIns="0" rIns="0" bIns="0" rtlCol="0" anchor="ctr"/>
          <a:lstStyle/>
          <a:p>
            <a:pPr marL="0" indent="0">
              <a:buNone/>
            </a:pPr>
            <a:r>
              <a:rPr lang="en-US" sz="1800">
                <a:solidFill>
                  <a:srgbClr val="7FB69E"/>
                </a:solidFill>
                <a:latin typeface="Georgia" pitchFamily="34" charset="0"/>
                <a:ea typeface="Georgia" pitchFamily="34" charset="-122"/>
                <a:cs typeface="Georgia" pitchFamily="34" charset="-120"/>
              </a:rPr>
              <a:t>Questions?</a:t>
            </a:r>
            <a:endParaRPr lang="en-US" sz="1800"/>
          </a:p>
        </p:txBody>
      </p:sp>
      <p:sp>
        <p:nvSpPr>
          <p:cNvPr id="8" name="TitleUnderline">
            <a:extLst>
              <a:ext uri="{FF2B5EF4-FFF2-40B4-BE49-F238E27FC236}">
                <a16:creationId xmlns:a16="http://schemas.microsoft.com/office/drawing/2014/main" id="{6FCD1D4A-6126-FC46-9D16-87F0E7B92BCC}"/>
              </a:ext>
            </a:extLst>
          </p:cNvPr>
          <p:cNvSpPr/>
          <p:nvPr/>
        </p:nvSpPr>
        <p:spPr>
          <a:xfrm>
            <a:off x="546100" y="965200"/>
            <a:ext cx="3657600" cy="19050"/>
          </a:xfrm>
          <a:prstGeom prst="rect">
            <a:avLst/>
          </a:prstGeom>
          <a:solidFill>
            <a:srgbClr val="7FB69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9" name="Copied Picture 9" descr="A person holding a glass of wine&#10;&#10;AI-generated content may be incorrect.">
            <a:extLst>
              <a:ext uri="{FF2B5EF4-FFF2-40B4-BE49-F238E27FC236}">
                <a16:creationId xmlns:a16="http://schemas.microsoft.com/office/drawing/2014/main" id="{D3A3218C-F3A4-15B9-F807-A5DA14AE43EB}"/>
              </a:ext>
            </a:extLst>
          </p:cNvPr>
          <p:cNvPicPr>
            <a:picLocks noChangeAspect="1"/>
          </p:cNvPicPr>
          <p:nvPr/>
        </p:nvPicPr>
        <p:blipFill>
          <a:blip r:embed="rId3"/>
          <a:stretch>
            <a:fillRect/>
          </a:stretch>
        </p:blipFill>
        <p:spPr>
          <a:xfrm>
            <a:off x="5964996" y="755904"/>
            <a:ext cx="2514248" cy="1815846"/>
          </a:xfrm>
          <a:prstGeom prst="rect">
            <a:avLst/>
          </a:prstGeom>
        </p:spPr>
      </p:pic>
      <p:sp>
        <p:nvSpPr>
          <p:cNvPr id="2" name="TextBox 1">
            <a:extLst>
              <a:ext uri="{FF2B5EF4-FFF2-40B4-BE49-F238E27FC236}">
                <a16:creationId xmlns:a16="http://schemas.microsoft.com/office/drawing/2014/main" id="{60CD92E7-7D90-C941-B764-85AA21B35B27}"/>
              </a:ext>
            </a:extLst>
          </p:cNvPr>
          <p:cNvSpPr txBox="1"/>
          <p:nvPr/>
        </p:nvSpPr>
        <p:spPr>
          <a:xfrm>
            <a:off x="5964996" y="2536190"/>
            <a:ext cx="2514248" cy="254000"/>
          </a:xfrm>
          <a:prstGeom prst="rect">
            <a:avLst/>
          </a:prstGeom>
          <a:solidFill>
            <a:srgbClr val="000000"/>
          </a:solidFill>
        </p:spPr>
        <p:txBody>
          <a:bodyPr vertOverflow="overflow" vert="horz" wrap="square" rtlCol="0" anchor="ctr" anchorCtr="0">
            <a:noAutofit/>
          </a:bodyPr>
          <a:lstStyle/>
          <a:p>
            <a:pPr algn="l"/>
            <a:r>
              <a:rPr lang="en-US" sz="1400" b="1" dirty="0">
                <a:solidFill>
                  <a:srgbClr val="FFFFFF"/>
                </a:solidFill>
                <a:latin typeface="Impact"/>
              </a:rPr>
              <a:t>Cheers </a:t>
            </a:r>
            <a:r>
              <a:rPr lang="en-US" sz="1400" b="1" dirty="0">
                <a:solidFill>
                  <a:srgbClr val="3BFDB2"/>
                </a:solidFill>
                <a:latin typeface="Impact"/>
              </a:rPr>
              <a:t>—</a:t>
            </a:r>
            <a:r>
              <a:rPr lang="en-US" sz="1400" b="1" dirty="0">
                <a:solidFill>
                  <a:srgbClr val="FFFFFF"/>
                </a:solidFill>
                <a:latin typeface="Impact"/>
              </a:rPr>
              <a:t> thanks for watching!</a:t>
            </a:r>
          </a:p>
        </p:txBody>
      </p:sp>
    </p:spTree>
    <p:extLst>
      <p:ext uri="{BB962C8B-B14F-4D97-AF65-F5344CB8AC3E}">
        <p14:creationId xmlns:p14="http://schemas.microsoft.com/office/powerpoint/2010/main" val="323749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E0A458"/>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E8C547"/>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BBF24"/>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2A5868E-9199-1046-A8A1-ACE8DAD29760}">
  <we:reference id="WA200010001" version="1.0.0.1" store="Omex" storeType="OMEX"/>
  <we:alternateReferences>
    <we:reference id="WA200010001" version="1.0.0.1" store="WA200010001" storeType="OMEX"/>
  </we:alternateReferences>
  <we:properties>
    <we:property name="claude.fileId" value="&quot;e40f1656-59d6-49b6-858b-fce94edaed1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5955</TotalTime>
  <Words>6881</Words>
  <Application>Microsoft Macintosh PowerPoint</Application>
  <PresentationFormat>On-screen Show (16:9)</PresentationFormat>
  <Paragraphs>656</Paragraphs>
  <Slides>67</Slides>
  <Notes>64</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67</vt:i4>
      </vt:variant>
    </vt:vector>
  </HeadingPairs>
  <TitlesOfParts>
    <vt:vector size="79" baseType="lpstr">
      <vt:lpstr>Aptos</vt:lpstr>
      <vt:lpstr>Arial</vt:lpstr>
      <vt:lpstr>Arial Black</vt:lpstr>
      <vt:lpstr>Calibri</vt:lpstr>
      <vt:lpstr>Cambria Math</vt:lpstr>
      <vt:lpstr>Consolas</vt:lpstr>
      <vt:lpstr>Georgia</vt:lpstr>
      <vt:lpstr>Impact</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Intelligence, and What Weights Really Know</dc:title>
  <dc:subject>PptxGenJS Presentation</dc:subject>
  <dc:creator>Carlo</dc:creator>
  <cp:lastModifiedBy>Carlo Venditti</cp:lastModifiedBy>
  <cp:revision>121</cp:revision>
  <dcterms:created xsi:type="dcterms:W3CDTF">2026-05-12T07:05:09Z</dcterms:created>
  <dcterms:modified xsi:type="dcterms:W3CDTF">2026-06-15T07:52:59Z</dcterms:modified>
</cp:coreProperties>
</file>